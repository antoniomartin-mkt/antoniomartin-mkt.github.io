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C8102E"/>
        </a:solidFill>
        <a:effectLst/>
      </p:bgPr>
    </p:bg>
    <p:spTree>
      <p:nvGrpSpPr>
        <p:cNvPr id="1" name=""/>
        <p:cNvGrpSpPr/>
        <p:nvPr/>
      </p:nvGrpSpPr>
      <p:grpSpPr/>
      <p:sp>
        <p:nvSpPr>
          <p:cNvPr id="2" name="Rectangle 1"/>
          <p:cNvSpPr/>
          <p:nvPr/>
        </p:nvSpPr>
        <p:spPr>
          <a:xfrm>
            <a:off x="7863840" y="0"/>
            <a:ext cx="4327855" cy="6858000"/>
          </a:xfrm>
          <a:prstGeom prst="rect">
            <a:avLst/>
          </a:prstGeom>
          <a:solidFill>
            <a:srgbClr val="7A0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49640" y="1463040"/>
            <a:ext cx="2926080" cy="2926080"/>
          </a:xfrm>
          <a:prstGeom prst="rect">
            <a:avLst/>
          </a:prstGeom>
          <a:solidFill>
            <a:srgbClr val="7A0E1E"/>
          </a:solidFill>
          <a:ln w="15875">
            <a:solidFill>
              <a:srgbClr val="F7F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7F0E3"/>
                </a:solidFill>
                <a:latin typeface="Calibri"/>
              </a:rPr>
              <a:t>INSERTAR</a:t>
            </a:r>
          </a:p>
          <a:p>
            <a:pPr algn="ctr"/>
            <a:r>
              <a:rPr sz="1100" b="0">
                <a:solidFill>
                  <a:srgbClr val="F7F0E3"/>
                </a:solidFill>
                <a:latin typeface="Calibri"/>
              </a:rPr>
              <a:t>Logotipo oficial de Cruzcampo</a:t>
            </a:r>
          </a:p>
          <a:p>
            <a:pPr algn="ctr"/>
            <a:r>
              <a:rPr sz="1100" b="0">
                <a:solidFill>
                  <a:srgbClr val="F7F0E3"/>
                </a:solidFill>
                <a:latin typeface="Calibri"/>
              </a:rPr>
              <a:t>(Gambrinus + logotipo)</a:t>
            </a:r>
          </a:p>
          <a:p>
            <a:pPr algn="ctr"/>
            <a:r>
              <a:rPr sz="1100" b="0">
                <a:solidFill>
                  <a:srgbClr val="F7F0E3"/>
                </a:solidFill>
                <a:latin typeface="Calibri"/>
              </a:rPr>
              <a:t>Descárgalo de cruzcampo.es</a:t>
            </a:r>
          </a:p>
          <a:p>
            <a:pPr algn="ctr"/>
            <a:r>
              <a:rPr sz="1100" b="0">
                <a:solidFill>
                  <a:srgbClr val="F7F0E3"/>
                </a:solidFill>
                <a:latin typeface="Calibri"/>
              </a:rPr>
              <a:t>o del kit de prensa de Heineken</a:t>
            </a:r>
          </a:p>
        </p:txBody>
      </p:sp>
      <p:sp>
        <p:nvSpPr>
          <p:cNvPr id="4" name="TextBox 3"/>
          <p:cNvSpPr txBox="1"/>
          <p:nvPr/>
        </p:nvSpPr>
        <p:spPr>
          <a:xfrm>
            <a:off x="731520" y="914400"/>
            <a:ext cx="6858000" cy="365760"/>
          </a:xfrm>
          <a:prstGeom prst="rect">
            <a:avLst/>
          </a:prstGeom>
          <a:noFill/>
        </p:spPr>
        <p:txBody>
          <a:bodyPr wrap="square" anchor="t" lIns="0" rIns="0" tIns="0" bIns="0">
            <a:spAutoFit/>
          </a:bodyPr>
          <a:lstStyle/>
          <a:p>
            <a:pPr algn="l">
              <a:lnSpc>
                <a:spcPct val="110000"/>
              </a:lnSpc>
            </a:pPr>
            <a:r>
              <a:rPr sz="1400" b="1" i="0">
                <a:solidFill>
                  <a:srgbClr val="ECDFC6"/>
                </a:solidFill>
                <a:latin typeface="Calibri"/>
              </a:rPr>
              <a:t>DOSSIER DE MARCA · 2026</a:t>
            </a:r>
          </a:p>
        </p:txBody>
      </p:sp>
      <p:sp>
        <p:nvSpPr>
          <p:cNvPr id="5" name="TextBox 4"/>
          <p:cNvSpPr txBox="1"/>
          <p:nvPr/>
        </p:nvSpPr>
        <p:spPr>
          <a:xfrm>
            <a:off x="731520" y="1417320"/>
            <a:ext cx="6949440" cy="1463040"/>
          </a:xfrm>
          <a:prstGeom prst="rect">
            <a:avLst/>
          </a:prstGeom>
          <a:noFill/>
        </p:spPr>
        <p:txBody>
          <a:bodyPr wrap="square" anchor="t" lIns="0" rIns="0" tIns="0" bIns="0">
            <a:spAutoFit/>
          </a:bodyPr>
          <a:lstStyle/>
          <a:p>
            <a:pPr algn="l">
              <a:lnSpc>
                <a:spcPct val="110000"/>
              </a:lnSpc>
            </a:pPr>
            <a:r>
              <a:rPr sz="8000" b="1" i="0">
                <a:solidFill>
                  <a:srgbClr val="F7F0E3"/>
                </a:solidFill>
                <a:latin typeface="Cambria"/>
              </a:rPr>
              <a:t>Cruzcampo</a:t>
            </a:r>
          </a:p>
        </p:txBody>
      </p:sp>
      <p:sp>
        <p:nvSpPr>
          <p:cNvPr id="6" name="TextBox 5"/>
          <p:cNvSpPr txBox="1"/>
          <p:nvPr/>
        </p:nvSpPr>
        <p:spPr>
          <a:xfrm>
            <a:off x="731520" y="2788920"/>
            <a:ext cx="6766560" cy="1280160"/>
          </a:xfrm>
          <a:prstGeom prst="rect">
            <a:avLst/>
          </a:prstGeom>
          <a:noFill/>
        </p:spPr>
        <p:txBody>
          <a:bodyPr wrap="square" anchor="t" lIns="0" rIns="0" tIns="0" bIns="0">
            <a:spAutoFit/>
          </a:bodyPr>
          <a:lstStyle/>
          <a:p>
            <a:pPr algn="l">
              <a:lnSpc>
                <a:spcPct val="110000"/>
              </a:lnSpc>
            </a:pPr>
            <a:r>
              <a:rPr sz="2200" b="0" i="1">
                <a:solidFill>
                  <a:srgbClr val="F7F0E3"/>
                </a:solidFill>
                <a:latin typeface="Cambria"/>
              </a:rPr>
              <a:t>Investigación de identidad, medios y campañas publicitarias de una marca andaluza</a:t>
            </a:r>
          </a:p>
        </p:txBody>
      </p:sp>
      <p:sp>
        <p:nvSpPr>
          <p:cNvPr id="7" name="Rectangle 6"/>
          <p:cNvSpPr/>
          <p:nvPr/>
        </p:nvSpPr>
        <p:spPr>
          <a:xfrm>
            <a:off x="731520" y="4343400"/>
            <a:ext cx="1097280" cy="4572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0"/>
            <a:ext cx="6766560" cy="1463040"/>
          </a:xfrm>
          <a:prstGeom prst="rect">
            <a:avLst/>
          </a:prstGeom>
          <a:noFill/>
        </p:spPr>
        <p:txBody>
          <a:bodyPr wrap="square" anchor="t" lIns="0" rIns="0" tIns="0" bIns="0">
            <a:spAutoFit/>
          </a:bodyPr>
          <a:lstStyle/>
          <a:p>
            <a:pPr algn="l">
              <a:lnSpc>
                <a:spcPct val="135000"/>
              </a:lnSpc>
            </a:pPr>
            <a:r>
              <a:rPr sz="1500" b="1" i="0">
                <a:solidFill>
                  <a:srgbClr val="ECDFC6"/>
                </a:solidFill>
                <a:latin typeface="Calibri"/>
              </a:rPr>
              <a:t>Integrantes  </a:t>
            </a:r>
            <a:r>
              <a:rPr sz="1500" b="0" i="0">
                <a:solidFill>
                  <a:srgbClr val="F7F0E3"/>
                </a:solidFill>
                <a:latin typeface="Calibri"/>
              </a:rPr>
              <a:t>[Nombre Apellido] y [Nombre Apellido]</a:t>
            </a:r>
          </a:p>
          <a:p>
            <a:pPr algn="l">
              <a:lnSpc>
                <a:spcPct val="135000"/>
              </a:lnSpc>
            </a:pPr>
            <a:r>
              <a:rPr sz="1500" b="1" i="0">
                <a:solidFill>
                  <a:srgbClr val="ECDFC6"/>
                </a:solidFill>
                <a:latin typeface="Calibri"/>
              </a:rPr>
              <a:t>Curso / grupo  </a:t>
            </a:r>
            <a:r>
              <a:rPr sz="1500" b="0" i="0">
                <a:solidFill>
                  <a:srgbClr val="F7F0E3"/>
                </a:solidFill>
                <a:latin typeface="Calibri"/>
              </a:rPr>
              <a:t>[Curso / grupo]</a:t>
            </a:r>
          </a:p>
          <a:p>
            <a:pPr algn="l">
              <a:lnSpc>
                <a:spcPct val="135000"/>
              </a:lnSpc>
            </a:pPr>
            <a:r>
              <a:rPr sz="1500" b="1" i="0">
                <a:solidFill>
                  <a:srgbClr val="ECDFC6"/>
                </a:solidFill>
                <a:latin typeface="Calibri"/>
              </a:rPr>
              <a:t>Entrega  </a:t>
            </a:r>
            <a:r>
              <a:rPr sz="1500" b="0" i="0">
                <a:solidFill>
                  <a:srgbClr val="F7F0E3"/>
                </a:solidFill>
                <a:latin typeface="Calibri"/>
              </a:rPr>
              <a:t>28 de octubre de 2026</a:t>
            </a:r>
          </a:p>
        </p:txBody>
      </p:sp>
      <p:sp>
        <p:nvSpPr>
          <p:cNvPr id="9" name="TextBox 8"/>
          <p:cNvSpPr txBox="1"/>
          <p:nvPr/>
        </p:nvSpPr>
        <p:spPr>
          <a:xfrm>
            <a:off x="8229600" y="6126480"/>
            <a:ext cx="3657600" cy="365760"/>
          </a:xfrm>
          <a:prstGeom prst="rect">
            <a:avLst/>
          </a:prstGeom>
          <a:noFill/>
        </p:spPr>
        <p:txBody>
          <a:bodyPr wrap="square" anchor="t" lIns="0" rIns="0" tIns="0" bIns="0">
            <a:spAutoFit/>
          </a:bodyPr>
          <a:lstStyle/>
          <a:p>
            <a:pPr algn="ctr">
              <a:lnSpc>
                <a:spcPct val="110000"/>
              </a:lnSpc>
            </a:pPr>
            <a:r>
              <a:rPr sz="1100" b="0" i="0">
                <a:solidFill>
                  <a:srgbClr val="ECDFC6"/>
                </a:solidFill>
                <a:latin typeface="Calibri"/>
              </a:rPr>
              <a:t>Día de la Empresa Andaluza · 28 de octubre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ÍNDICE</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Qué vas a encontrar en este dossier</a:t>
            </a:r>
          </a:p>
        </p:txBody>
      </p:sp>
      <p:sp>
        <p:nvSpPr>
          <p:cNvPr id="5" name="Rectangle 4"/>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7" name="TextBox 6"/>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02</a:t>
            </a:r>
          </a:p>
        </p:txBody>
      </p:sp>
      <p:sp>
        <p:nvSpPr>
          <p:cNvPr id="8" name="TextBox 7"/>
          <p:cNvSpPr txBox="1"/>
          <p:nvPr/>
        </p:nvSpPr>
        <p:spPr>
          <a:xfrm>
            <a:off x="548640" y="1600200"/>
            <a:ext cx="822960" cy="548640"/>
          </a:xfrm>
          <a:prstGeom prst="rect">
            <a:avLst/>
          </a:prstGeom>
          <a:noFill/>
        </p:spPr>
        <p:txBody>
          <a:bodyPr wrap="square" anchor="t" lIns="0" rIns="0" tIns="0" bIns="0">
            <a:spAutoFit/>
          </a:bodyPr>
          <a:lstStyle/>
          <a:p>
            <a:pPr algn="l">
              <a:lnSpc>
                <a:spcPct val="110000"/>
              </a:lnSpc>
            </a:pPr>
            <a:r>
              <a:rPr sz="3000" b="1" i="0">
                <a:solidFill>
                  <a:srgbClr val="C8102E"/>
                </a:solidFill>
                <a:latin typeface="Cambria"/>
              </a:rPr>
              <a:t>01</a:t>
            </a:r>
          </a:p>
        </p:txBody>
      </p:sp>
      <p:sp>
        <p:nvSpPr>
          <p:cNvPr id="9" name="TextBox 8"/>
          <p:cNvSpPr txBox="1"/>
          <p:nvPr/>
        </p:nvSpPr>
        <p:spPr>
          <a:xfrm>
            <a:off x="1371600" y="1618488"/>
            <a:ext cx="4572000" cy="320040"/>
          </a:xfrm>
          <a:prstGeom prst="rect">
            <a:avLst/>
          </a:prstGeom>
          <a:noFill/>
        </p:spPr>
        <p:txBody>
          <a:bodyPr wrap="square" anchor="t" lIns="0" rIns="0" tIns="0" bIns="0">
            <a:spAutoFit/>
          </a:bodyPr>
          <a:lstStyle/>
          <a:p>
            <a:pPr algn="l">
              <a:lnSpc>
                <a:spcPct val="110000"/>
              </a:lnSpc>
            </a:pPr>
            <a:r>
              <a:rPr sz="1700" b="1" i="0">
                <a:solidFill>
                  <a:srgbClr val="2B1B16"/>
                </a:solidFill>
                <a:latin typeface="Cambria"/>
              </a:rPr>
              <a:t>La marca</a:t>
            </a:r>
          </a:p>
        </p:txBody>
      </p:sp>
      <p:sp>
        <p:nvSpPr>
          <p:cNvPr id="10" name="TextBox 9"/>
          <p:cNvSpPr txBox="1"/>
          <p:nvPr/>
        </p:nvSpPr>
        <p:spPr>
          <a:xfrm>
            <a:off x="1371600" y="1947672"/>
            <a:ext cx="4846320" cy="274320"/>
          </a:xfrm>
          <a:prstGeom prst="rect">
            <a:avLst/>
          </a:prstGeom>
          <a:noFill/>
        </p:spPr>
        <p:txBody>
          <a:bodyPr wrap="square" anchor="t" lIns="0" rIns="0" tIns="0" bIns="0">
            <a:spAutoFit/>
          </a:bodyPr>
          <a:lstStyle/>
          <a:p>
            <a:pPr algn="l">
              <a:lnSpc>
                <a:spcPct val="110000"/>
              </a:lnSpc>
            </a:pPr>
            <a:r>
              <a:rPr sz="1200" b="0" i="0">
                <a:solidFill>
                  <a:srgbClr val="6E5A4E"/>
                </a:solidFill>
                <a:latin typeface="Calibri"/>
              </a:rPr>
              <a:t>Identidad, productos y contexto</a:t>
            </a:r>
          </a:p>
        </p:txBody>
      </p:sp>
      <p:sp>
        <p:nvSpPr>
          <p:cNvPr id="11" name="TextBox 10"/>
          <p:cNvSpPr txBox="1"/>
          <p:nvPr/>
        </p:nvSpPr>
        <p:spPr>
          <a:xfrm>
            <a:off x="5943600" y="1645920"/>
            <a:ext cx="457200" cy="274320"/>
          </a:xfrm>
          <a:prstGeom prst="rect">
            <a:avLst/>
          </a:prstGeom>
          <a:noFill/>
        </p:spPr>
        <p:txBody>
          <a:bodyPr wrap="square" anchor="t" lIns="0" rIns="0" tIns="0" bIns="0">
            <a:spAutoFit/>
          </a:bodyPr>
          <a:lstStyle/>
          <a:p>
            <a:pPr algn="r">
              <a:lnSpc>
                <a:spcPct val="110000"/>
              </a:lnSpc>
            </a:pPr>
            <a:r>
              <a:rPr sz="1200" b="1" i="0">
                <a:solidFill>
                  <a:srgbClr val="B88A2E"/>
                </a:solidFill>
                <a:latin typeface="Calibri"/>
              </a:rPr>
              <a:t>03</a:t>
            </a:r>
          </a:p>
        </p:txBody>
      </p:sp>
      <p:sp>
        <p:nvSpPr>
          <p:cNvPr id="12" name="TextBox 11"/>
          <p:cNvSpPr txBox="1"/>
          <p:nvPr/>
        </p:nvSpPr>
        <p:spPr>
          <a:xfrm>
            <a:off x="548640" y="2368296"/>
            <a:ext cx="822960" cy="548640"/>
          </a:xfrm>
          <a:prstGeom prst="rect">
            <a:avLst/>
          </a:prstGeom>
          <a:noFill/>
        </p:spPr>
        <p:txBody>
          <a:bodyPr wrap="square" anchor="t" lIns="0" rIns="0" tIns="0" bIns="0">
            <a:spAutoFit/>
          </a:bodyPr>
          <a:lstStyle/>
          <a:p>
            <a:pPr algn="l">
              <a:lnSpc>
                <a:spcPct val="110000"/>
              </a:lnSpc>
            </a:pPr>
            <a:r>
              <a:rPr sz="3000" b="1" i="0">
                <a:solidFill>
                  <a:srgbClr val="C8102E"/>
                </a:solidFill>
                <a:latin typeface="Cambria"/>
              </a:rPr>
              <a:t>02</a:t>
            </a:r>
          </a:p>
        </p:txBody>
      </p:sp>
      <p:sp>
        <p:nvSpPr>
          <p:cNvPr id="13" name="TextBox 12"/>
          <p:cNvSpPr txBox="1"/>
          <p:nvPr/>
        </p:nvSpPr>
        <p:spPr>
          <a:xfrm>
            <a:off x="1371600" y="2386584"/>
            <a:ext cx="4572000" cy="320040"/>
          </a:xfrm>
          <a:prstGeom prst="rect">
            <a:avLst/>
          </a:prstGeom>
          <a:noFill/>
        </p:spPr>
        <p:txBody>
          <a:bodyPr wrap="square" anchor="t" lIns="0" rIns="0" tIns="0" bIns="0">
            <a:spAutoFit/>
          </a:bodyPr>
          <a:lstStyle/>
          <a:p>
            <a:pPr algn="l">
              <a:lnSpc>
                <a:spcPct val="110000"/>
              </a:lnSpc>
            </a:pPr>
            <a:r>
              <a:rPr sz="1700" b="1" i="0">
                <a:solidFill>
                  <a:srgbClr val="2B1B16"/>
                </a:solidFill>
                <a:latin typeface="Cambria"/>
              </a:rPr>
              <a:t>Fase 1 · El libro</a:t>
            </a:r>
          </a:p>
        </p:txBody>
      </p:sp>
      <p:sp>
        <p:nvSpPr>
          <p:cNvPr id="14" name="TextBox 13"/>
          <p:cNvSpPr txBox="1"/>
          <p:nvPr/>
        </p:nvSpPr>
        <p:spPr>
          <a:xfrm>
            <a:off x="1371600" y="2715768"/>
            <a:ext cx="4846320" cy="274320"/>
          </a:xfrm>
          <a:prstGeom prst="rect">
            <a:avLst/>
          </a:prstGeom>
          <a:noFill/>
        </p:spPr>
        <p:txBody>
          <a:bodyPr wrap="square" anchor="t" lIns="0" rIns="0" tIns="0" bIns="0">
            <a:spAutoFit/>
          </a:bodyPr>
          <a:lstStyle/>
          <a:p>
            <a:pPr algn="l">
              <a:lnSpc>
                <a:spcPct val="110000"/>
              </a:lnSpc>
            </a:pPr>
            <a:r>
              <a:rPr sz="1200" b="0" i="0">
                <a:solidFill>
                  <a:srgbClr val="6E5A4E"/>
                </a:solidFill>
                <a:latin typeface="Calibri"/>
              </a:rPr>
              <a:t>Medios de masas y formas publicitarias</a:t>
            </a:r>
          </a:p>
        </p:txBody>
      </p:sp>
      <p:sp>
        <p:nvSpPr>
          <p:cNvPr id="15" name="TextBox 14"/>
          <p:cNvSpPr txBox="1"/>
          <p:nvPr/>
        </p:nvSpPr>
        <p:spPr>
          <a:xfrm>
            <a:off x="5943600" y="2414016"/>
            <a:ext cx="457200" cy="274320"/>
          </a:xfrm>
          <a:prstGeom prst="rect">
            <a:avLst/>
          </a:prstGeom>
          <a:noFill/>
        </p:spPr>
        <p:txBody>
          <a:bodyPr wrap="square" anchor="t" lIns="0" rIns="0" tIns="0" bIns="0">
            <a:spAutoFit/>
          </a:bodyPr>
          <a:lstStyle/>
          <a:p>
            <a:pPr algn="r">
              <a:lnSpc>
                <a:spcPct val="110000"/>
              </a:lnSpc>
            </a:pPr>
            <a:r>
              <a:rPr sz="1200" b="1" i="0">
                <a:solidFill>
                  <a:srgbClr val="B88A2E"/>
                </a:solidFill>
                <a:latin typeface="Calibri"/>
              </a:rPr>
              <a:t>05</a:t>
            </a:r>
          </a:p>
        </p:txBody>
      </p:sp>
      <p:sp>
        <p:nvSpPr>
          <p:cNvPr id="16" name="TextBox 15"/>
          <p:cNvSpPr txBox="1"/>
          <p:nvPr/>
        </p:nvSpPr>
        <p:spPr>
          <a:xfrm>
            <a:off x="548640" y="3136392"/>
            <a:ext cx="822960" cy="548640"/>
          </a:xfrm>
          <a:prstGeom prst="rect">
            <a:avLst/>
          </a:prstGeom>
          <a:noFill/>
        </p:spPr>
        <p:txBody>
          <a:bodyPr wrap="square" anchor="t" lIns="0" rIns="0" tIns="0" bIns="0">
            <a:spAutoFit/>
          </a:bodyPr>
          <a:lstStyle/>
          <a:p>
            <a:pPr algn="l">
              <a:lnSpc>
                <a:spcPct val="110000"/>
              </a:lnSpc>
            </a:pPr>
            <a:r>
              <a:rPr sz="3000" b="1" i="0">
                <a:solidFill>
                  <a:srgbClr val="C8102E"/>
                </a:solidFill>
                <a:latin typeface="Cambria"/>
              </a:rPr>
              <a:t>03</a:t>
            </a:r>
          </a:p>
        </p:txBody>
      </p:sp>
      <p:sp>
        <p:nvSpPr>
          <p:cNvPr id="17" name="TextBox 16"/>
          <p:cNvSpPr txBox="1"/>
          <p:nvPr/>
        </p:nvSpPr>
        <p:spPr>
          <a:xfrm>
            <a:off x="1371600" y="3154680"/>
            <a:ext cx="4572000" cy="320040"/>
          </a:xfrm>
          <a:prstGeom prst="rect">
            <a:avLst/>
          </a:prstGeom>
          <a:noFill/>
        </p:spPr>
        <p:txBody>
          <a:bodyPr wrap="square" anchor="t" lIns="0" rIns="0" tIns="0" bIns="0">
            <a:spAutoFit/>
          </a:bodyPr>
          <a:lstStyle/>
          <a:p>
            <a:pPr algn="l">
              <a:lnSpc>
                <a:spcPct val="110000"/>
              </a:lnSpc>
            </a:pPr>
            <a:r>
              <a:rPr sz="1700" b="1" i="0">
                <a:solidFill>
                  <a:srgbClr val="2B1B16"/>
                </a:solidFill>
                <a:latin typeface="Cambria"/>
              </a:rPr>
              <a:t>Fase 2 · Investigación</a:t>
            </a:r>
          </a:p>
        </p:txBody>
      </p:sp>
      <p:sp>
        <p:nvSpPr>
          <p:cNvPr id="18" name="TextBox 17"/>
          <p:cNvSpPr txBox="1"/>
          <p:nvPr/>
        </p:nvSpPr>
        <p:spPr>
          <a:xfrm>
            <a:off x="1371600" y="3483864"/>
            <a:ext cx="4846320" cy="274320"/>
          </a:xfrm>
          <a:prstGeom prst="rect">
            <a:avLst/>
          </a:prstGeom>
          <a:noFill/>
        </p:spPr>
        <p:txBody>
          <a:bodyPr wrap="square" anchor="t" lIns="0" rIns="0" tIns="0" bIns="0">
            <a:spAutoFit/>
          </a:bodyPr>
          <a:lstStyle/>
          <a:p>
            <a:pPr algn="l">
              <a:lnSpc>
                <a:spcPct val="110000"/>
              </a:lnSpc>
            </a:pPr>
            <a:r>
              <a:rPr sz="1200" b="0" i="0">
                <a:solidFill>
                  <a:srgbClr val="6E5A4E"/>
                </a:solidFill>
                <a:latin typeface="Calibri"/>
              </a:rPr>
              <a:t>Mapa de medios y evidencias reales</a:t>
            </a:r>
          </a:p>
        </p:txBody>
      </p:sp>
      <p:sp>
        <p:nvSpPr>
          <p:cNvPr id="19" name="TextBox 18"/>
          <p:cNvSpPr txBox="1"/>
          <p:nvPr/>
        </p:nvSpPr>
        <p:spPr>
          <a:xfrm>
            <a:off x="5943600" y="3182112"/>
            <a:ext cx="457200" cy="274320"/>
          </a:xfrm>
          <a:prstGeom prst="rect">
            <a:avLst/>
          </a:prstGeom>
          <a:noFill/>
        </p:spPr>
        <p:txBody>
          <a:bodyPr wrap="square" anchor="t" lIns="0" rIns="0" tIns="0" bIns="0">
            <a:spAutoFit/>
          </a:bodyPr>
          <a:lstStyle/>
          <a:p>
            <a:pPr algn="r">
              <a:lnSpc>
                <a:spcPct val="110000"/>
              </a:lnSpc>
            </a:pPr>
            <a:r>
              <a:rPr sz="1200" b="1" i="0">
                <a:solidFill>
                  <a:srgbClr val="B88A2E"/>
                </a:solidFill>
                <a:latin typeface="Calibri"/>
              </a:rPr>
              <a:t>08</a:t>
            </a:r>
          </a:p>
        </p:txBody>
      </p:sp>
      <p:sp>
        <p:nvSpPr>
          <p:cNvPr id="20" name="TextBox 19"/>
          <p:cNvSpPr txBox="1"/>
          <p:nvPr/>
        </p:nvSpPr>
        <p:spPr>
          <a:xfrm>
            <a:off x="548640" y="3904488"/>
            <a:ext cx="822960" cy="548640"/>
          </a:xfrm>
          <a:prstGeom prst="rect">
            <a:avLst/>
          </a:prstGeom>
          <a:noFill/>
        </p:spPr>
        <p:txBody>
          <a:bodyPr wrap="square" anchor="t" lIns="0" rIns="0" tIns="0" bIns="0">
            <a:spAutoFit/>
          </a:bodyPr>
          <a:lstStyle/>
          <a:p>
            <a:pPr algn="l">
              <a:lnSpc>
                <a:spcPct val="110000"/>
              </a:lnSpc>
            </a:pPr>
            <a:r>
              <a:rPr sz="3000" b="1" i="0">
                <a:solidFill>
                  <a:srgbClr val="C8102E"/>
                </a:solidFill>
                <a:latin typeface="Cambria"/>
              </a:rPr>
              <a:t>04</a:t>
            </a:r>
          </a:p>
        </p:txBody>
      </p:sp>
      <p:sp>
        <p:nvSpPr>
          <p:cNvPr id="21" name="TextBox 20"/>
          <p:cNvSpPr txBox="1"/>
          <p:nvPr/>
        </p:nvSpPr>
        <p:spPr>
          <a:xfrm>
            <a:off x="1371600" y="3922776"/>
            <a:ext cx="4572000" cy="320040"/>
          </a:xfrm>
          <a:prstGeom prst="rect">
            <a:avLst/>
          </a:prstGeom>
          <a:noFill/>
        </p:spPr>
        <p:txBody>
          <a:bodyPr wrap="square" anchor="t" lIns="0" rIns="0" tIns="0" bIns="0">
            <a:spAutoFit/>
          </a:bodyPr>
          <a:lstStyle/>
          <a:p>
            <a:pPr algn="l">
              <a:lnSpc>
                <a:spcPct val="110000"/>
              </a:lnSpc>
            </a:pPr>
            <a:r>
              <a:rPr sz="1700" b="1" i="0">
                <a:solidFill>
                  <a:srgbClr val="2B1B16"/>
                </a:solidFill>
                <a:latin typeface="Cambria"/>
              </a:rPr>
              <a:t>Fase 3 · Dos anuncios</a:t>
            </a:r>
          </a:p>
        </p:txBody>
      </p:sp>
      <p:sp>
        <p:nvSpPr>
          <p:cNvPr id="22" name="TextBox 21"/>
          <p:cNvSpPr txBox="1"/>
          <p:nvPr/>
        </p:nvSpPr>
        <p:spPr>
          <a:xfrm>
            <a:off x="1371600" y="4251960"/>
            <a:ext cx="4846320" cy="274320"/>
          </a:xfrm>
          <a:prstGeom prst="rect">
            <a:avLst/>
          </a:prstGeom>
          <a:noFill/>
        </p:spPr>
        <p:txBody>
          <a:bodyPr wrap="square" anchor="t" lIns="0" rIns="0" tIns="0" bIns="0">
            <a:spAutoFit/>
          </a:bodyPr>
          <a:lstStyle/>
          <a:p>
            <a:pPr algn="l">
              <a:lnSpc>
                <a:spcPct val="110000"/>
              </a:lnSpc>
            </a:pPr>
            <a:r>
              <a:rPr sz="1200" b="0" i="0">
                <a:solidFill>
                  <a:srgbClr val="6E5A4E"/>
                </a:solidFill>
                <a:latin typeface="Calibri"/>
              </a:rPr>
              <a:t>Spot «Lola» (TV) y lonas «Tú tan de Berlín» (exterior)</a:t>
            </a:r>
          </a:p>
        </p:txBody>
      </p:sp>
      <p:sp>
        <p:nvSpPr>
          <p:cNvPr id="23" name="TextBox 22"/>
          <p:cNvSpPr txBox="1"/>
          <p:nvPr/>
        </p:nvSpPr>
        <p:spPr>
          <a:xfrm>
            <a:off x="5943600" y="3950208"/>
            <a:ext cx="457200" cy="274320"/>
          </a:xfrm>
          <a:prstGeom prst="rect">
            <a:avLst/>
          </a:prstGeom>
          <a:noFill/>
        </p:spPr>
        <p:txBody>
          <a:bodyPr wrap="square" anchor="t" lIns="0" rIns="0" tIns="0" bIns="0">
            <a:spAutoFit/>
          </a:bodyPr>
          <a:lstStyle/>
          <a:p>
            <a:pPr algn="r">
              <a:lnSpc>
                <a:spcPct val="110000"/>
              </a:lnSpc>
            </a:pPr>
            <a:r>
              <a:rPr sz="1200" b="1" i="0">
                <a:solidFill>
                  <a:srgbClr val="B88A2E"/>
                </a:solidFill>
                <a:latin typeface="Calibri"/>
              </a:rPr>
              <a:t>12</a:t>
            </a:r>
          </a:p>
        </p:txBody>
      </p:sp>
      <p:sp>
        <p:nvSpPr>
          <p:cNvPr id="24" name="TextBox 23"/>
          <p:cNvSpPr txBox="1"/>
          <p:nvPr/>
        </p:nvSpPr>
        <p:spPr>
          <a:xfrm>
            <a:off x="548640" y="4672584"/>
            <a:ext cx="822960" cy="548640"/>
          </a:xfrm>
          <a:prstGeom prst="rect">
            <a:avLst/>
          </a:prstGeom>
          <a:noFill/>
        </p:spPr>
        <p:txBody>
          <a:bodyPr wrap="square" anchor="t" lIns="0" rIns="0" tIns="0" bIns="0">
            <a:spAutoFit/>
          </a:bodyPr>
          <a:lstStyle/>
          <a:p>
            <a:pPr algn="l">
              <a:lnSpc>
                <a:spcPct val="110000"/>
              </a:lnSpc>
            </a:pPr>
            <a:r>
              <a:rPr sz="3000" b="1" i="0">
                <a:solidFill>
                  <a:srgbClr val="C8102E"/>
                </a:solidFill>
                <a:latin typeface="Cambria"/>
              </a:rPr>
              <a:t>05</a:t>
            </a:r>
          </a:p>
        </p:txBody>
      </p:sp>
      <p:sp>
        <p:nvSpPr>
          <p:cNvPr id="25" name="TextBox 24"/>
          <p:cNvSpPr txBox="1"/>
          <p:nvPr/>
        </p:nvSpPr>
        <p:spPr>
          <a:xfrm>
            <a:off x="1371600" y="4690872"/>
            <a:ext cx="4572000" cy="320040"/>
          </a:xfrm>
          <a:prstGeom prst="rect">
            <a:avLst/>
          </a:prstGeom>
          <a:noFill/>
        </p:spPr>
        <p:txBody>
          <a:bodyPr wrap="square" anchor="t" lIns="0" rIns="0" tIns="0" bIns="0">
            <a:spAutoFit/>
          </a:bodyPr>
          <a:lstStyle/>
          <a:p>
            <a:pPr algn="l">
              <a:lnSpc>
                <a:spcPct val="110000"/>
              </a:lnSpc>
            </a:pPr>
            <a:r>
              <a:rPr sz="1700" b="1" i="0">
                <a:solidFill>
                  <a:srgbClr val="2B1B16"/>
                </a:solidFill>
                <a:latin typeface="Cambria"/>
              </a:rPr>
              <a:t>Conclusiones</a:t>
            </a:r>
          </a:p>
        </p:txBody>
      </p:sp>
      <p:sp>
        <p:nvSpPr>
          <p:cNvPr id="26" name="TextBox 25"/>
          <p:cNvSpPr txBox="1"/>
          <p:nvPr/>
        </p:nvSpPr>
        <p:spPr>
          <a:xfrm>
            <a:off x="1371600" y="5020056"/>
            <a:ext cx="4846320" cy="274320"/>
          </a:xfrm>
          <a:prstGeom prst="rect">
            <a:avLst/>
          </a:prstGeom>
          <a:noFill/>
        </p:spPr>
        <p:txBody>
          <a:bodyPr wrap="square" anchor="t" lIns="0" rIns="0" tIns="0" bIns="0">
            <a:spAutoFit/>
          </a:bodyPr>
          <a:lstStyle/>
          <a:p>
            <a:pPr algn="l">
              <a:lnSpc>
                <a:spcPct val="110000"/>
              </a:lnSpc>
            </a:pPr>
            <a:r>
              <a:rPr sz="1200" b="0" i="0">
                <a:solidFill>
                  <a:srgbClr val="6E5A4E"/>
                </a:solidFill>
                <a:latin typeface="Calibri"/>
              </a:rPr>
              <a:t>Comparación y recomendación de medio</a:t>
            </a:r>
          </a:p>
        </p:txBody>
      </p:sp>
      <p:sp>
        <p:nvSpPr>
          <p:cNvPr id="27" name="TextBox 26"/>
          <p:cNvSpPr txBox="1"/>
          <p:nvPr/>
        </p:nvSpPr>
        <p:spPr>
          <a:xfrm>
            <a:off x="5943600" y="4718304"/>
            <a:ext cx="457200" cy="274320"/>
          </a:xfrm>
          <a:prstGeom prst="rect">
            <a:avLst/>
          </a:prstGeom>
          <a:noFill/>
        </p:spPr>
        <p:txBody>
          <a:bodyPr wrap="square" anchor="t" lIns="0" rIns="0" tIns="0" bIns="0">
            <a:spAutoFit/>
          </a:bodyPr>
          <a:lstStyle/>
          <a:p>
            <a:pPr algn="r">
              <a:lnSpc>
                <a:spcPct val="110000"/>
              </a:lnSpc>
            </a:pPr>
            <a:r>
              <a:rPr sz="1200" b="1" i="0">
                <a:solidFill>
                  <a:srgbClr val="B88A2E"/>
                </a:solidFill>
                <a:latin typeface="Calibri"/>
              </a:rPr>
              <a:t>16</a:t>
            </a:r>
          </a:p>
        </p:txBody>
      </p:sp>
      <p:sp>
        <p:nvSpPr>
          <p:cNvPr id="28" name="TextBox 27"/>
          <p:cNvSpPr txBox="1"/>
          <p:nvPr/>
        </p:nvSpPr>
        <p:spPr>
          <a:xfrm>
            <a:off x="548640" y="5440680"/>
            <a:ext cx="822960" cy="548640"/>
          </a:xfrm>
          <a:prstGeom prst="rect">
            <a:avLst/>
          </a:prstGeom>
          <a:noFill/>
        </p:spPr>
        <p:txBody>
          <a:bodyPr wrap="square" anchor="t" lIns="0" rIns="0" tIns="0" bIns="0">
            <a:spAutoFit/>
          </a:bodyPr>
          <a:lstStyle/>
          <a:p>
            <a:pPr algn="l">
              <a:lnSpc>
                <a:spcPct val="110000"/>
              </a:lnSpc>
            </a:pPr>
            <a:r>
              <a:rPr sz="3000" b="1" i="0">
                <a:solidFill>
                  <a:srgbClr val="C8102E"/>
                </a:solidFill>
                <a:latin typeface="Cambria"/>
              </a:rPr>
              <a:t>06</a:t>
            </a:r>
          </a:p>
        </p:txBody>
      </p:sp>
      <p:sp>
        <p:nvSpPr>
          <p:cNvPr id="29" name="TextBox 28"/>
          <p:cNvSpPr txBox="1"/>
          <p:nvPr/>
        </p:nvSpPr>
        <p:spPr>
          <a:xfrm>
            <a:off x="1371600" y="5458968"/>
            <a:ext cx="4572000" cy="320040"/>
          </a:xfrm>
          <a:prstGeom prst="rect">
            <a:avLst/>
          </a:prstGeom>
          <a:noFill/>
        </p:spPr>
        <p:txBody>
          <a:bodyPr wrap="square" anchor="t" lIns="0" rIns="0" tIns="0" bIns="0">
            <a:spAutoFit/>
          </a:bodyPr>
          <a:lstStyle/>
          <a:p>
            <a:pPr algn="l">
              <a:lnSpc>
                <a:spcPct val="110000"/>
              </a:lnSpc>
            </a:pPr>
            <a:r>
              <a:rPr sz="1700" b="1" i="0">
                <a:solidFill>
                  <a:srgbClr val="2B1B16"/>
                </a:solidFill>
                <a:latin typeface="Cambria"/>
              </a:rPr>
              <a:t>Fuentes</a:t>
            </a:r>
          </a:p>
        </p:txBody>
      </p:sp>
      <p:sp>
        <p:nvSpPr>
          <p:cNvPr id="30" name="TextBox 29"/>
          <p:cNvSpPr txBox="1"/>
          <p:nvPr/>
        </p:nvSpPr>
        <p:spPr>
          <a:xfrm>
            <a:off x="1371600" y="5788152"/>
            <a:ext cx="4846320" cy="274320"/>
          </a:xfrm>
          <a:prstGeom prst="rect">
            <a:avLst/>
          </a:prstGeom>
          <a:noFill/>
        </p:spPr>
        <p:txBody>
          <a:bodyPr wrap="square" anchor="t" lIns="0" rIns="0" tIns="0" bIns="0">
            <a:spAutoFit/>
          </a:bodyPr>
          <a:lstStyle/>
          <a:p>
            <a:pPr algn="l">
              <a:lnSpc>
                <a:spcPct val="110000"/>
              </a:lnSpc>
            </a:pPr>
            <a:r>
              <a:rPr sz="1200" b="0" i="0">
                <a:solidFill>
                  <a:srgbClr val="6E5A4E"/>
                </a:solidFill>
                <a:latin typeface="Calibri"/>
              </a:rPr>
              <a:t>Bibliografía, webgrafía y créditos</a:t>
            </a:r>
          </a:p>
        </p:txBody>
      </p:sp>
      <p:sp>
        <p:nvSpPr>
          <p:cNvPr id="31" name="TextBox 30"/>
          <p:cNvSpPr txBox="1"/>
          <p:nvPr/>
        </p:nvSpPr>
        <p:spPr>
          <a:xfrm>
            <a:off x="5943600" y="5486400"/>
            <a:ext cx="457200" cy="274320"/>
          </a:xfrm>
          <a:prstGeom prst="rect">
            <a:avLst/>
          </a:prstGeom>
          <a:noFill/>
        </p:spPr>
        <p:txBody>
          <a:bodyPr wrap="square" anchor="t" lIns="0" rIns="0" tIns="0" bIns="0">
            <a:spAutoFit/>
          </a:bodyPr>
          <a:lstStyle/>
          <a:p>
            <a:pPr algn="r">
              <a:lnSpc>
                <a:spcPct val="110000"/>
              </a:lnSpc>
            </a:pPr>
            <a:r>
              <a:rPr sz="1200" b="1" i="0">
                <a:solidFill>
                  <a:srgbClr val="B88A2E"/>
                </a:solidFill>
                <a:latin typeface="Calibri"/>
              </a:rPr>
              <a:t>18</a:t>
            </a:r>
          </a:p>
        </p:txBody>
      </p:sp>
      <p:sp>
        <p:nvSpPr>
          <p:cNvPr id="32" name="Rectangle 31"/>
          <p:cNvSpPr/>
          <p:nvPr/>
        </p:nvSpPr>
        <p:spPr>
          <a:xfrm>
            <a:off x="6903720" y="1600200"/>
            <a:ext cx="4736592" cy="4526280"/>
          </a:xfrm>
          <a:prstGeom prst="rect">
            <a:avLst/>
          </a:prstGeom>
          <a:solidFill>
            <a:srgbClr val="7A0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0" y="1828800"/>
            <a:ext cx="4206240" cy="365760"/>
          </a:xfrm>
          <a:prstGeom prst="rect">
            <a:avLst/>
          </a:prstGeom>
          <a:noFill/>
        </p:spPr>
        <p:txBody>
          <a:bodyPr wrap="square" anchor="t" lIns="0" rIns="0" tIns="0" bIns="0">
            <a:spAutoFit/>
          </a:bodyPr>
          <a:lstStyle/>
          <a:p>
            <a:pPr algn="l">
              <a:lnSpc>
                <a:spcPct val="110000"/>
              </a:lnSpc>
            </a:pPr>
            <a:r>
              <a:rPr sz="1200" b="1" i="0">
                <a:solidFill>
                  <a:srgbClr val="ECDFC6"/>
                </a:solidFill>
                <a:latin typeface="Calibri"/>
              </a:rPr>
              <a:t>OBJETIVO DEL DOSSIER</a:t>
            </a:r>
          </a:p>
        </p:txBody>
      </p:sp>
      <p:sp>
        <p:nvSpPr>
          <p:cNvPr id="34" name="TextBox 33"/>
          <p:cNvSpPr txBox="1"/>
          <p:nvPr/>
        </p:nvSpPr>
        <p:spPr>
          <a:xfrm>
            <a:off x="7223760" y="2240280"/>
            <a:ext cx="4206240" cy="1828800"/>
          </a:xfrm>
          <a:prstGeom prst="rect">
            <a:avLst/>
          </a:prstGeom>
          <a:noFill/>
        </p:spPr>
        <p:txBody>
          <a:bodyPr wrap="square" anchor="t" lIns="0" rIns="0" tIns="0" bIns="0">
            <a:spAutoFit/>
          </a:bodyPr>
          <a:lstStyle/>
          <a:p>
            <a:pPr algn="l">
              <a:lnSpc>
                <a:spcPct val="120000"/>
              </a:lnSpc>
            </a:pPr>
            <a:r>
              <a:rPr sz="1500" b="0" i="0">
                <a:solidFill>
                  <a:srgbClr val="F7F0E3"/>
                </a:solidFill>
                <a:latin typeface="Cambria"/>
              </a:rPr>
              <a:t>Descubrir cómo se comunica realmente Cruzcampo, en qué medios aparece y qué formas publicitarias utiliza, para analizar dos anuncios reales y recomendar a la marca qué medio debería priorizar.</a:t>
            </a:r>
          </a:p>
        </p:txBody>
      </p:sp>
      <p:sp>
        <p:nvSpPr>
          <p:cNvPr id="35" name="TextBox 34"/>
          <p:cNvSpPr txBox="1"/>
          <p:nvPr/>
        </p:nvSpPr>
        <p:spPr>
          <a:xfrm>
            <a:off x="7223760" y="4206240"/>
            <a:ext cx="4206240" cy="1737360"/>
          </a:xfrm>
          <a:prstGeom prst="rect">
            <a:avLst/>
          </a:prstGeom>
          <a:noFill/>
        </p:spPr>
        <p:txBody>
          <a:bodyPr wrap="square" anchor="t" lIns="0" rIns="0" tIns="0" bIns="0">
            <a:spAutoFit/>
          </a:bodyPr>
          <a:lstStyle/>
          <a:p>
            <a:pPr algn="l">
              <a:lnSpc>
                <a:spcPct val="115000"/>
              </a:lnSpc>
            </a:pPr>
            <a:r>
              <a:rPr sz="1250" b="1" i="0">
                <a:solidFill>
                  <a:srgbClr val="ECDFC6"/>
                </a:solidFill>
                <a:latin typeface="Calibri"/>
              </a:rPr>
              <a:t>Por qué Cruzcampo: </a:t>
            </a:r>
            <a:r>
              <a:rPr sz="1250" b="0" i="0">
                <a:solidFill>
                  <a:srgbClr val="F7F0E3"/>
                </a:solidFill>
                <a:latin typeface="Calibri"/>
              </a:rPr>
              <a:t>es la cerveza andaluza más reconocida, nacida en Sevilla en 1904, y en los últimos años ha construido toda su publicidad sobre el orgullo andaluz con la plataforma «Con mucho acento».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01 · LA MARCA</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Una cervecera sevillana desde 1904</a:t>
            </a:r>
          </a:p>
        </p:txBody>
      </p:sp>
      <p:sp>
        <p:nvSpPr>
          <p:cNvPr id="5" name="TextBox 4"/>
          <p:cNvSpPr txBox="1"/>
          <p:nvPr/>
        </p:nvSpPr>
        <p:spPr>
          <a:xfrm>
            <a:off x="548640" y="1261872"/>
            <a:ext cx="11064240" cy="365760"/>
          </a:xfrm>
          <a:prstGeom prst="rect">
            <a:avLst/>
          </a:prstGeom>
          <a:noFill/>
        </p:spPr>
        <p:txBody>
          <a:bodyPr wrap="square" anchor="t" lIns="0" rIns="0" tIns="0" bIns="0">
            <a:spAutoFit/>
          </a:bodyPr>
          <a:lstStyle/>
          <a:p>
            <a:pPr algn="l">
              <a:lnSpc>
                <a:spcPct val="110000"/>
              </a:lnSpc>
            </a:pPr>
            <a:r>
              <a:rPr sz="1400" b="0" i="1">
                <a:solidFill>
                  <a:srgbClr val="6E5A4E"/>
                </a:solidFill>
                <a:latin typeface="Calibri"/>
              </a:rPr>
              <a:t>Quién es Cruzcampo y cómo se presenta</a:t>
            </a:r>
          </a:p>
        </p:txBody>
      </p:sp>
      <p:sp>
        <p:nvSpPr>
          <p:cNvPr id="6" name="Rectangle 5"/>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8" name="TextBox 7"/>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03</a:t>
            </a:r>
          </a:p>
        </p:txBody>
      </p:sp>
      <p:sp>
        <p:nvSpPr>
          <p:cNvPr id="9" name="TextBox 8"/>
          <p:cNvSpPr txBox="1"/>
          <p:nvPr/>
        </p:nvSpPr>
        <p:spPr>
          <a:xfrm>
            <a:off x="548640" y="1783080"/>
            <a:ext cx="5669280" cy="2194560"/>
          </a:xfrm>
          <a:prstGeom prst="rect">
            <a:avLst/>
          </a:prstGeom>
          <a:noFill/>
        </p:spPr>
        <p:txBody>
          <a:bodyPr wrap="square" anchor="t" lIns="0" rIns="0" tIns="0" bIns="0">
            <a:spAutoFit/>
          </a:bodyPr>
          <a:lstStyle/>
          <a:p>
            <a:pPr algn="l">
              <a:lnSpc>
                <a:spcPct val="118000"/>
              </a:lnSpc>
            </a:pPr>
            <a:r>
              <a:rPr sz="1350" b="0" i="0">
                <a:solidFill>
                  <a:srgbClr val="2B1B16"/>
                </a:solidFill>
                <a:latin typeface="Calibri"/>
              </a:rPr>
              <a:t>Cruzcampo nace en 1904 en Sevilla, cuando los hermanos Osborne fundan la fábrica de cervezas «La Cruz del Campo», bautizada por el humilladero del mismo nombre. Fue la primera gran cervecera del sur de España.</a:t>
            </a:r>
          </a:p>
          <a:p>
            <a:pPr algn="l">
              <a:lnSpc>
                <a:spcPct val="118000"/>
              </a:lnSpc>
              <a:spcBef>
                <a:spcPts val="800"/>
              </a:spcBef>
            </a:pPr>
            <a:r>
              <a:rPr sz="1350" b="0" i="0">
                <a:solidFill>
                  <a:srgbClr val="2B1B16"/>
                </a:solidFill>
                <a:latin typeface="Calibri"/>
              </a:rPr>
              <a:t>Desde el año 2000 forma parte del </a:t>
            </a:r>
            <a:r>
              <a:rPr sz="1350" b="1" i="0">
                <a:solidFill>
                  <a:srgbClr val="2B1B16"/>
                </a:solidFill>
                <a:latin typeface="Calibri"/>
              </a:rPr>
              <a:t>Grupo Heineken</a:t>
            </a:r>
            <a:r>
              <a:rPr sz="1350" b="0" i="0">
                <a:solidFill>
                  <a:srgbClr val="2B1B16"/>
                </a:solidFill>
                <a:latin typeface="Calibri"/>
              </a:rPr>
              <a:t> (hoy Heineken España), pero conserva su sede histórica en Sevilla y su identidad andaluza: la antigua fábrica se ha rehabilitado como la «Factoría Cruzcampo», un centro de cultura cervecera.</a:t>
            </a:r>
          </a:p>
        </p:txBody>
      </p:sp>
      <p:sp>
        <p:nvSpPr>
          <p:cNvPr id="10" name="Rectangle 9"/>
          <p:cNvSpPr/>
          <p:nvPr/>
        </p:nvSpPr>
        <p:spPr>
          <a:xfrm>
            <a:off x="548640" y="4617720"/>
            <a:ext cx="5212080" cy="19050"/>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4544568"/>
            <a:ext cx="164592" cy="16459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160520"/>
            <a:ext cx="1188720" cy="32004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1904</a:t>
            </a:r>
          </a:p>
        </p:txBody>
      </p:sp>
      <p:sp>
        <p:nvSpPr>
          <p:cNvPr id="13" name="TextBox 12"/>
          <p:cNvSpPr txBox="1"/>
          <p:nvPr/>
        </p:nvSpPr>
        <p:spPr>
          <a:xfrm>
            <a:off x="502920" y="4818888"/>
            <a:ext cx="1188720" cy="731520"/>
          </a:xfrm>
          <a:prstGeom prst="rect">
            <a:avLst/>
          </a:prstGeom>
          <a:noFill/>
        </p:spPr>
        <p:txBody>
          <a:bodyPr wrap="square" anchor="t" lIns="0" rIns="0" tIns="0" bIns="0">
            <a:spAutoFit/>
          </a:bodyPr>
          <a:lstStyle/>
          <a:p>
            <a:pPr algn="l">
              <a:lnSpc>
                <a:spcPct val="110000"/>
              </a:lnSpc>
            </a:pPr>
            <a:r>
              <a:rPr sz="1050" b="0" i="0">
                <a:solidFill>
                  <a:srgbClr val="2B1B16"/>
                </a:solidFill>
                <a:latin typeface="Calibri"/>
              </a:rPr>
              <a:t>Fundación en Sevilla</a:t>
            </a:r>
          </a:p>
        </p:txBody>
      </p:sp>
      <p:sp>
        <p:nvSpPr>
          <p:cNvPr id="14" name="Oval 13"/>
          <p:cNvSpPr/>
          <p:nvPr/>
        </p:nvSpPr>
        <p:spPr>
          <a:xfrm>
            <a:off x="1810512" y="4544568"/>
            <a:ext cx="164592" cy="16459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64792" y="4160520"/>
            <a:ext cx="1188720" cy="32004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Años 20</a:t>
            </a:r>
          </a:p>
        </p:txBody>
      </p:sp>
      <p:sp>
        <p:nvSpPr>
          <p:cNvPr id="16" name="TextBox 15"/>
          <p:cNvSpPr txBox="1"/>
          <p:nvPr/>
        </p:nvSpPr>
        <p:spPr>
          <a:xfrm>
            <a:off x="1764792" y="4818888"/>
            <a:ext cx="1188720" cy="731520"/>
          </a:xfrm>
          <a:prstGeom prst="rect">
            <a:avLst/>
          </a:prstGeom>
          <a:noFill/>
        </p:spPr>
        <p:txBody>
          <a:bodyPr wrap="square" anchor="t" lIns="0" rIns="0" tIns="0" bIns="0">
            <a:spAutoFit/>
          </a:bodyPr>
          <a:lstStyle/>
          <a:p>
            <a:pPr algn="l">
              <a:lnSpc>
                <a:spcPct val="110000"/>
              </a:lnSpc>
            </a:pPr>
            <a:r>
              <a:rPr sz="1050" b="0" i="0">
                <a:solidFill>
                  <a:srgbClr val="2B1B16"/>
                </a:solidFill>
                <a:latin typeface="Calibri"/>
              </a:rPr>
              <a:t>Aparece Gambrinus,
obra de L. Cappiello</a:t>
            </a:r>
          </a:p>
        </p:txBody>
      </p:sp>
      <p:sp>
        <p:nvSpPr>
          <p:cNvPr id="17" name="Oval 16"/>
          <p:cNvSpPr/>
          <p:nvPr/>
        </p:nvSpPr>
        <p:spPr>
          <a:xfrm>
            <a:off x="3072384" y="4544568"/>
            <a:ext cx="164592" cy="16459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26664" y="4160520"/>
            <a:ext cx="1188720" cy="32004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1976</a:t>
            </a:r>
          </a:p>
        </p:txBody>
      </p:sp>
      <p:sp>
        <p:nvSpPr>
          <p:cNvPr id="19" name="TextBox 18"/>
          <p:cNvSpPr txBox="1"/>
          <p:nvPr/>
        </p:nvSpPr>
        <p:spPr>
          <a:xfrm>
            <a:off x="3026664" y="4818888"/>
            <a:ext cx="1188720" cy="731520"/>
          </a:xfrm>
          <a:prstGeom prst="rect">
            <a:avLst/>
          </a:prstGeom>
          <a:noFill/>
        </p:spPr>
        <p:txBody>
          <a:bodyPr wrap="square" anchor="t" lIns="0" rIns="0" tIns="0" bIns="0">
            <a:spAutoFit/>
          </a:bodyPr>
          <a:lstStyle/>
          <a:p>
            <a:pPr algn="l">
              <a:lnSpc>
                <a:spcPct val="110000"/>
              </a:lnSpc>
            </a:pPr>
            <a:r>
              <a:rPr sz="1050" b="0" i="0">
                <a:solidFill>
                  <a:srgbClr val="2B1B16"/>
                </a:solidFill>
                <a:latin typeface="Calibri"/>
              </a:rPr>
              <a:t>Primera cerveza sin
alcohol española*</a:t>
            </a:r>
          </a:p>
        </p:txBody>
      </p:sp>
      <p:sp>
        <p:nvSpPr>
          <p:cNvPr id="20" name="Oval 19"/>
          <p:cNvSpPr/>
          <p:nvPr/>
        </p:nvSpPr>
        <p:spPr>
          <a:xfrm>
            <a:off x="4334256" y="4544568"/>
            <a:ext cx="164592" cy="16459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88536" y="4160520"/>
            <a:ext cx="1188720" cy="32004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2000</a:t>
            </a:r>
          </a:p>
        </p:txBody>
      </p:sp>
      <p:sp>
        <p:nvSpPr>
          <p:cNvPr id="22" name="TextBox 21"/>
          <p:cNvSpPr txBox="1"/>
          <p:nvPr/>
        </p:nvSpPr>
        <p:spPr>
          <a:xfrm>
            <a:off x="4288536" y="4818888"/>
            <a:ext cx="1188720" cy="731520"/>
          </a:xfrm>
          <a:prstGeom prst="rect">
            <a:avLst/>
          </a:prstGeom>
          <a:noFill/>
        </p:spPr>
        <p:txBody>
          <a:bodyPr wrap="square" anchor="t" lIns="0" rIns="0" tIns="0" bIns="0">
            <a:spAutoFit/>
          </a:bodyPr>
          <a:lstStyle/>
          <a:p>
            <a:pPr algn="l">
              <a:lnSpc>
                <a:spcPct val="110000"/>
              </a:lnSpc>
            </a:pPr>
            <a:r>
              <a:rPr sz="1050" b="0" i="0">
                <a:solidFill>
                  <a:srgbClr val="2B1B16"/>
                </a:solidFill>
                <a:latin typeface="Calibri"/>
              </a:rPr>
              <a:t>Integración en
Heineken</a:t>
            </a:r>
          </a:p>
        </p:txBody>
      </p:sp>
      <p:sp>
        <p:nvSpPr>
          <p:cNvPr id="23" name="Oval 22"/>
          <p:cNvSpPr/>
          <p:nvPr/>
        </p:nvSpPr>
        <p:spPr>
          <a:xfrm>
            <a:off x="5596128" y="4544568"/>
            <a:ext cx="164592" cy="16459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50408" y="4160520"/>
            <a:ext cx="1188720" cy="32004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2021</a:t>
            </a:r>
          </a:p>
        </p:txBody>
      </p:sp>
      <p:sp>
        <p:nvSpPr>
          <p:cNvPr id="25" name="TextBox 24"/>
          <p:cNvSpPr txBox="1"/>
          <p:nvPr/>
        </p:nvSpPr>
        <p:spPr>
          <a:xfrm>
            <a:off x="5550408" y="4818888"/>
            <a:ext cx="1188720" cy="731520"/>
          </a:xfrm>
          <a:prstGeom prst="rect">
            <a:avLst/>
          </a:prstGeom>
          <a:noFill/>
        </p:spPr>
        <p:txBody>
          <a:bodyPr wrap="square" anchor="t" lIns="0" rIns="0" tIns="0" bIns="0">
            <a:spAutoFit/>
          </a:bodyPr>
          <a:lstStyle/>
          <a:p>
            <a:pPr algn="l">
              <a:lnSpc>
                <a:spcPct val="110000"/>
              </a:lnSpc>
            </a:pPr>
            <a:r>
              <a:rPr sz="1050" b="0" i="0">
                <a:solidFill>
                  <a:srgbClr val="2B1B16"/>
                </a:solidFill>
                <a:latin typeface="Calibri"/>
              </a:rPr>
              <a:t>Plataforma
«Con mucho acento»</a:t>
            </a:r>
          </a:p>
        </p:txBody>
      </p:sp>
      <p:sp>
        <p:nvSpPr>
          <p:cNvPr id="26" name="TextBox 25"/>
          <p:cNvSpPr txBox="1"/>
          <p:nvPr/>
        </p:nvSpPr>
        <p:spPr>
          <a:xfrm>
            <a:off x="548640" y="5943600"/>
            <a:ext cx="5760720" cy="365760"/>
          </a:xfrm>
          <a:prstGeom prst="rect">
            <a:avLst/>
          </a:prstGeom>
          <a:noFill/>
        </p:spPr>
        <p:txBody>
          <a:bodyPr wrap="square" anchor="t" lIns="0" rIns="0" tIns="0" bIns="0">
            <a:spAutoFit/>
          </a:bodyPr>
          <a:lstStyle/>
          <a:p>
            <a:pPr algn="l">
              <a:lnSpc>
                <a:spcPct val="110000"/>
              </a:lnSpc>
            </a:pPr>
            <a:r>
              <a:rPr sz="900" b="0" i="1">
                <a:solidFill>
                  <a:srgbClr val="6E5A4E"/>
                </a:solidFill>
                <a:latin typeface="Calibri"/>
              </a:rPr>
              <a:t>* Dato según fuente divulgativa; no lo hemos podido contrastar con una fuente oficial.</a:t>
            </a:r>
          </a:p>
        </p:txBody>
      </p:sp>
      <p:sp>
        <p:nvSpPr>
          <p:cNvPr id="27" name="Rectangle 26"/>
          <p:cNvSpPr/>
          <p:nvPr/>
        </p:nvSpPr>
        <p:spPr>
          <a:xfrm>
            <a:off x="6675120" y="1783080"/>
            <a:ext cx="4965192" cy="205740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75120" y="1783080"/>
            <a:ext cx="64008" cy="20574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03720" y="1920240"/>
            <a:ext cx="4599432" cy="36576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Su símbolo: Gambrinus</a:t>
            </a:r>
          </a:p>
        </p:txBody>
      </p:sp>
      <p:sp>
        <p:nvSpPr>
          <p:cNvPr id="30" name="TextBox 29"/>
          <p:cNvSpPr txBox="1"/>
          <p:nvPr/>
        </p:nvSpPr>
        <p:spPr>
          <a:xfrm>
            <a:off x="6903720" y="2331720"/>
            <a:ext cx="4599432" cy="1417320"/>
          </a:xfrm>
          <a:prstGeom prst="rect">
            <a:avLst/>
          </a:prstGeom>
          <a:noFill/>
        </p:spPr>
        <p:txBody>
          <a:bodyPr wrap="square" lIns="0" rIns="0" tIns="0" bIns="0">
            <a:spAutoFit/>
          </a:bodyPr>
          <a:lstStyle/>
          <a:p>
            <a:pPr>
              <a:lnSpc>
                <a:spcPct val="108000"/>
              </a:lnSpc>
              <a:spcAft>
                <a:spcPts val="300"/>
              </a:spcAft>
            </a:pPr>
            <a:r>
              <a:rPr sz="750">
                <a:solidFill>
                  <a:srgbClr val="C8102E"/>
                </a:solidFill>
                <a:latin typeface="Calibri"/>
              </a:rPr>
              <a:t>•  </a:t>
            </a:r>
            <a:r>
              <a:rPr sz="1150" b="0" i="0">
                <a:solidFill>
                  <a:srgbClr val="2B1B16"/>
                </a:solidFill>
                <a:latin typeface="Calibri"/>
              </a:rPr>
              <a:t>Rey legendario de Flandes al que se atribuye la invención de la cerveza.</a:t>
            </a:r>
          </a:p>
          <a:p>
            <a:pPr>
              <a:lnSpc>
                <a:spcPct val="108000"/>
              </a:lnSpc>
              <a:spcAft>
                <a:spcPts val="300"/>
              </a:spcAft>
            </a:pPr>
            <a:r>
              <a:rPr sz="750">
                <a:solidFill>
                  <a:srgbClr val="C8102E"/>
                </a:solidFill>
                <a:latin typeface="Calibri"/>
              </a:rPr>
              <a:t>•  </a:t>
            </a:r>
            <a:r>
              <a:rPr sz="1150" b="0" i="0">
                <a:solidFill>
                  <a:srgbClr val="2B1B16"/>
                </a:solidFill>
                <a:latin typeface="Calibri"/>
              </a:rPr>
              <a:t>Dibujado en los años 20 por el cartelista Leonetto Cappiello.</a:t>
            </a:r>
          </a:p>
          <a:p>
            <a:pPr>
              <a:lnSpc>
                <a:spcPct val="108000"/>
              </a:lnSpc>
              <a:spcAft>
                <a:spcPts val="300"/>
              </a:spcAft>
            </a:pPr>
            <a:r>
              <a:rPr sz="750">
                <a:solidFill>
                  <a:srgbClr val="C8102E"/>
                </a:solidFill>
                <a:latin typeface="Calibri"/>
              </a:rPr>
              <a:t>•  </a:t>
            </a:r>
            <a:r>
              <a:rPr sz="1150" b="0" i="0">
                <a:solidFill>
                  <a:srgbClr val="2B1B16"/>
                </a:solidFill>
                <a:latin typeface="Calibri"/>
              </a:rPr>
              <a:t>En su último rediseño recupera el estilo de los azulejos de la primera fábrica, elegido por los consumidores (68,1 % de los votos).</a:t>
            </a:r>
          </a:p>
        </p:txBody>
      </p:sp>
      <p:sp>
        <p:nvSpPr>
          <p:cNvPr id="31" name="Rectangle 30"/>
          <p:cNvSpPr/>
          <p:nvPr/>
        </p:nvSpPr>
        <p:spPr>
          <a:xfrm>
            <a:off x="6675120" y="3977639"/>
            <a:ext cx="4965192" cy="224028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675120" y="3977639"/>
            <a:ext cx="64008" cy="22402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03720" y="4114799"/>
            <a:ext cx="4599432" cy="36576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Su identidad visual</a:t>
            </a:r>
          </a:p>
        </p:txBody>
      </p:sp>
      <p:sp>
        <p:nvSpPr>
          <p:cNvPr id="34" name="TextBox 33"/>
          <p:cNvSpPr txBox="1"/>
          <p:nvPr/>
        </p:nvSpPr>
        <p:spPr>
          <a:xfrm>
            <a:off x="6903720" y="4526279"/>
            <a:ext cx="4599432" cy="1600200"/>
          </a:xfrm>
          <a:prstGeom prst="rect">
            <a:avLst/>
          </a:prstGeom>
          <a:noFill/>
        </p:spPr>
        <p:txBody>
          <a:bodyPr wrap="square" lIns="0" rIns="0" tIns="0" bIns="0">
            <a:spAutoFit/>
          </a:bodyPr>
          <a:lstStyle/>
          <a:p>
            <a:pPr>
              <a:lnSpc>
                <a:spcPct val="108000"/>
              </a:lnSpc>
              <a:spcAft>
                <a:spcPts val="300"/>
              </a:spcAft>
            </a:pPr>
            <a:r>
              <a:rPr sz="750">
                <a:solidFill>
                  <a:srgbClr val="C8102E"/>
                </a:solidFill>
                <a:latin typeface="Calibri"/>
              </a:rPr>
              <a:t>•  </a:t>
            </a:r>
            <a:r>
              <a:rPr sz="1150" b="0" i="0">
                <a:solidFill>
                  <a:srgbClr val="2B1B16"/>
                </a:solidFill>
                <a:latin typeface="Calibri"/>
              </a:rPr>
              <a:t>Rojo intenso como color dominante, acompañado de crema y dorado.</a:t>
            </a:r>
          </a:p>
          <a:p>
            <a:pPr>
              <a:lnSpc>
                <a:spcPct val="108000"/>
              </a:lnSpc>
              <a:spcAft>
                <a:spcPts val="300"/>
              </a:spcAft>
            </a:pPr>
            <a:r>
              <a:rPr sz="750">
                <a:solidFill>
                  <a:srgbClr val="C8102E"/>
                </a:solidFill>
                <a:latin typeface="Calibri"/>
              </a:rPr>
              <a:t>•  </a:t>
            </a:r>
            <a:r>
              <a:rPr sz="1150" b="0" i="0">
                <a:solidFill>
                  <a:srgbClr val="2B1B16"/>
                </a:solidFill>
                <a:latin typeface="Calibri"/>
              </a:rPr>
              <a:t>Logotipo dibujado a mano con aire de rótulo antiguo.</a:t>
            </a:r>
          </a:p>
          <a:p>
            <a:pPr>
              <a:lnSpc>
                <a:spcPct val="108000"/>
              </a:lnSpc>
              <a:spcAft>
                <a:spcPts val="300"/>
              </a:spcAft>
            </a:pPr>
            <a:r>
              <a:rPr sz="750">
                <a:solidFill>
                  <a:srgbClr val="C8102E"/>
                </a:solidFill>
                <a:latin typeface="Calibri"/>
              </a:rPr>
              <a:t>•  </a:t>
            </a:r>
            <a:r>
              <a:rPr sz="1150" b="0" i="0">
                <a:solidFill>
                  <a:srgbClr val="2B1B16"/>
                </a:solidFill>
                <a:latin typeface="Calibri"/>
              </a:rPr>
              <a:t>Tono de comunicación cercano, con humor y orgullo andaluz.</a:t>
            </a:r>
          </a:p>
          <a:p>
            <a:pPr>
              <a:lnSpc>
                <a:spcPct val="108000"/>
              </a:lnSpc>
              <a:spcAft>
                <a:spcPts val="300"/>
              </a:spcAft>
            </a:pPr>
            <a:r>
              <a:rPr sz="750">
                <a:solidFill>
                  <a:srgbClr val="C8102E"/>
                </a:solidFill>
                <a:latin typeface="Calibri"/>
              </a:rPr>
              <a:t>•  </a:t>
            </a:r>
            <a:r>
              <a:rPr sz="1150" b="0" i="0">
                <a:solidFill>
                  <a:srgbClr val="2B1B16"/>
                </a:solidFill>
                <a:latin typeface="Calibri"/>
              </a:rPr>
              <a:t>Por eso este dossier usa la misma paleta: rojo, crema y dorado.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01 · LA MARCA</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Qué ofrece y en qué contexto se comunica</a:t>
            </a:r>
          </a:p>
        </p:txBody>
      </p:sp>
      <p:sp>
        <p:nvSpPr>
          <p:cNvPr id="5" name="Rectangle 4"/>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7" name="TextBox 6"/>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04</a:t>
            </a:r>
          </a:p>
        </p:txBody>
      </p:sp>
      <p:sp>
        <p:nvSpPr>
          <p:cNvPr id="8" name="Rectangle 7"/>
          <p:cNvSpPr/>
          <p:nvPr/>
        </p:nvSpPr>
        <p:spPr>
          <a:xfrm>
            <a:off x="548640" y="1600200"/>
            <a:ext cx="2651760" cy="160020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00200"/>
            <a:ext cx="2651760" cy="640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783080"/>
            <a:ext cx="2286000" cy="365760"/>
          </a:xfrm>
          <a:prstGeom prst="rect">
            <a:avLst/>
          </a:prstGeom>
          <a:noFill/>
        </p:spPr>
        <p:txBody>
          <a:bodyPr wrap="square" anchor="t" lIns="0" rIns="0" tIns="0" bIns="0">
            <a:spAutoFit/>
          </a:bodyPr>
          <a:lstStyle/>
          <a:p>
            <a:pPr algn="l">
              <a:lnSpc>
                <a:spcPct val="110000"/>
              </a:lnSpc>
            </a:pPr>
            <a:r>
              <a:rPr sz="1500" b="1" i="0">
                <a:solidFill>
                  <a:srgbClr val="7A0E1E"/>
                </a:solidFill>
                <a:latin typeface="Cambria"/>
              </a:rPr>
              <a:t>Cruzcampo Pilsen</a:t>
            </a:r>
          </a:p>
        </p:txBody>
      </p:sp>
      <p:sp>
        <p:nvSpPr>
          <p:cNvPr id="11" name="TextBox 10"/>
          <p:cNvSpPr txBox="1"/>
          <p:nvPr/>
        </p:nvSpPr>
        <p:spPr>
          <a:xfrm>
            <a:off x="731520" y="2194560"/>
            <a:ext cx="2286000" cy="914400"/>
          </a:xfrm>
          <a:prstGeom prst="rect">
            <a:avLst/>
          </a:prstGeom>
          <a:noFill/>
        </p:spPr>
        <p:txBody>
          <a:bodyPr wrap="square" anchor="t" lIns="0" rIns="0" tIns="0" bIns="0">
            <a:spAutoFit/>
          </a:bodyPr>
          <a:lstStyle/>
          <a:p>
            <a:pPr algn="l">
              <a:lnSpc>
                <a:spcPct val="110000"/>
              </a:lnSpc>
            </a:pPr>
            <a:r>
              <a:rPr sz="1150" b="0" i="0">
                <a:solidFill>
                  <a:srgbClr val="2B1B16"/>
                </a:solidFill>
                <a:latin typeface="Calibri"/>
              </a:rPr>
              <a:t>La cerveza clásica, la «de toda la vida» en bares andaluces.</a:t>
            </a:r>
          </a:p>
        </p:txBody>
      </p:sp>
      <p:sp>
        <p:nvSpPr>
          <p:cNvPr id="12" name="Rectangle 11"/>
          <p:cNvSpPr/>
          <p:nvPr/>
        </p:nvSpPr>
        <p:spPr>
          <a:xfrm>
            <a:off x="3364992" y="1600200"/>
            <a:ext cx="2651760" cy="160020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64992" y="1600200"/>
            <a:ext cx="2651760" cy="640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47872" y="1783080"/>
            <a:ext cx="2286000" cy="365760"/>
          </a:xfrm>
          <a:prstGeom prst="rect">
            <a:avLst/>
          </a:prstGeom>
          <a:noFill/>
        </p:spPr>
        <p:txBody>
          <a:bodyPr wrap="square" anchor="t" lIns="0" rIns="0" tIns="0" bIns="0">
            <a:spAutoFit/>
          </a:bodyPr>
          <a:lstStyle/>
          <a:p>
            <a:pPr algn="l">
              <a:lnSpc>
                <a:spcPct val="110000"/>
              </a:lnSpc>
            </a:pPr>
            <a:r>
              <a:rPr sz="1500" b="1" i="0">
                <a:solidFill>
                  <a:srgbClr val="7A0E1E"/>
                </a:solidFill>
                <a:latin typeface="Cambria"/>
              </a:rPr>
              <a:t>Cruzcampo Especial</a:t>
            </a:r>
          </a:p>
        </p:txBody>
      </p:sp>
      <p:sp>
        <p:nvSpPr>
          <p:cNvPr id="15" name="TextBox 14"/>
          <p:cNvSpPr txBox="1"/>
          <p:nvPr/>
        </p:nvSpPr>
        <p:spPr>
          <a:xfrm>
            <a:off x="3547872" y="2194560"/>
            <a:ext cx="2286000" cy="914400"/>
          </a:xfrm>
          <a:prstGeom prst="rect">
            <a:avLst/>
          </a:prstGeom>
          <a:noFill/>
        </p:spPr>
        <p:txBody>
          <a:bodyPr wrap="square" anchor="t" lIns="0" rIns="0" tIns="0" bIns="0">
            <a:spAutoFit/>
          </a:bodyPr>
          <a:lstStyle/>
          <a:p>
            <a:pPr algn="l">
              <a:lnSpc>
                <a:spcPct val="110000"/>
              </a:lnSpc>
            </a:pPr>
            <a:r>
              <a:rPr sz="1150" b="0" i="0">
                <a:solidFill>
                  <a:srgbClr val="2B1B16"/>
                </a:solidFill>
                <a:latin typeface="Calibri"/>
              </a:rPr>
              <a:t>Lager con más cuerpo, lanzada en 2018 con «Libera lo que sientes».</a:t>
            </a:r>
          </a:p>
        </p:txBody>
      </p:sp>
      <p:sp>
        <p:nvSpPr>
          <p:cNvPr id="16" name="Rectangle 15"/>
          <p:cNvSpPr/>
          <p:nvPr/>
        </p:nvSpPr>
        <p:spPr>
          <a:xfrm>
            <a:off x="6181344" y="1600200"/>
            <a:ext cx="2651760" cy="160020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1600200"/>
            <a:ext cx="2651760" cy="640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1783080"/>
            <a:ext cx="2286000" cy="365760"/>
          </a:xfrm>
          <a:prstGeom prst="rect">
            <a:avLst/>
          </a:prstGeom>
          <a:noFill/>
        </p:spPr>
        <p:txBody>
          <a:bodyPr wrap="square" anchor="t" lIns="0" rIns="0" tIns="0" bIns="0">
            <a:spAutoFit/>
          </a:bodyPr>
          <a:lstStyle/>
          <a:p>
            <a:pPr algn="l">
              <a:lnSpc>
                <a:spcPct val="110000"/>
              </a:lnSpc>
            </a:pPr>
            <a:r>
              <a:rPr sz="1500" b="1" i="0">
                <a:solidFill>
                  <a:srgbClr val="7A0E1E"/>
                </a:solidFill>
                <a:latin typeface="Cambria"/>
              </a:rPr>
              <a:t>Gran Reserva</a:t>
            </a:r>
          </a:p>
        </p:txBody>
      </p:sp>
      <p:sp>
        <p:nvSpPr>
          <p:cNvPr id="19" name="TextBox 18"/>
          <p:cNvSpPr txBox="1"/>
          <p:nvPr/>
        </p:nvSpPr>
        <p:spPr>
          <a:xfrm>
            <a:off x="6364224" y="2194560"/>
            <a:ext cx="2286000" cy="914400"/>
          </a:xfrm>
          <a:prstGeom prst="rect">
            <a:avLst/>
          </a:prstGeom>
          <a:noFill/>
        </p:spPr>
        <p:txBody>
          <a:bodyPr wrap="square" anchor="t" lIns="0" rIns="0" tIns="0" bIns="0">
            <a:spAutoFit/>
          </a:bodyPr>
          <a:lstStyle/>
          <a:p>
            <a:pPr algn="l">
              <a:lnSpc>
                <a:spcPct val="110000"/>
              </a:lnSpc>
            </a:pPr>
            <a:r>
              <a:rPr sz="1150" b="0" i="0">
                <a:solidFill>
                  <a:srgbClr val="2B1B16"/>
                </a:solidFill>
                <a:latin typeface="Calibri"/>
              </a:rPr>
              <a:t>Gama premium para ocasiones especiales.</a:t>
            </a:r>
          </a:p>
        </p:txBody>
      </p:sp>
      <p:sp>
        <p:nvSpPr>
          <p:cNvPr id="20" name="Rectangle 19"/>
          <p:cNvSpPr/>
          <p:nvPr/>
        </p:nvSpPr>
        <p:spPr>
          <a:xfrm>
            <a:off x="8997696" y="1600200"/>
            <a:ext cx="2651760" cy="160020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97696" y="1600200"/>
            <a:ext cx="2651760" cy="640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0576" y="1783080"/>
            <a:ext cx="2286000" cy="365760"/>
          </a:xfrm>
          <a:prstGeom prst="rect">
            <a:avLst/>
          </a:prstGeom>
          <a:noFill/>
        </p:spPr>
        <p:txBody>
          <a:bodyPr wrap="square" anchor="t" lIns="0" rIns="0" tIns="0" bIns="0">
            <a:spAutoFit/>
          </a:bodyPr>
          <a:lstStyle/>
          <a:p>
            <a:pPr algn="l">
              <a:lnSpc>
                <a:spcPct val="110000"/>
              </a:lnSpc>
            </a:pPr>
            <a:r>
              <a:rPr sz="1500" b="1" i="0">
                <a:solidFill>
                  <a:srgbClr val="7A0E1E"/>
                </a:solidFill>
                <a:latin typeface="Cambria"/>
              </a:rPr>
              <a:t>Sin alcohol y otras</a:t>
            </a:r>
          </a:p>
        </p:txBody>
      </p:sp>
      <p:sp>
        <p:nvSpPr>
          <p:cNvPr id="23" name="TextBox 22"/>
          <p:cNvSpPr txBox="1"/>
          <p:nvPr/>
        </p:nvSpPr>
        <p:spPr>
          <a:xfrm>
            <a:off x="9180576" y="2194560"/>
            <a:ext cx="2286000" cy="914400"/>
          </a:xfrm>
          <a:prstGeom prst="rect">
            <a:avLst/>
          </a:prstGeom>
          <a:noFill/>
        </p:spPr>
        <p:txBody>
          <a:bodyPr wrap="square" anchor="t" lIns="0" rIns="0" tIns="0" bIns="0">
            <a:spAutoFit/>
          </a:bodyPr>
          <a:lstStyle/>
          <a:p>
            <a:pPr algn="l">
              <a:lnSpc>
                <a:spcPct val="110000"/>
              </a:lnSpc>
            </a:pPr>
            <a:r>
              <a:rPr sz="1150" b="0" i="0">
                <a:solidFill>
                  <a:srgbClr val="2B1B16"/>
                </a:solidFill>
                <a:latin typeface="Calibri"/>
              </a:rPr>
              <a:t>Variedades sin alcohol, ediciones limitadas «Con mucho acento».</a:t>
            </a:r>
          </a:p>
        </p:txBody>
      </p:sp>
      <p:sp>
        <p:nvSpPr>
          <p:cNvPr id="24" name="TextBox 23"/>
          <p:cNvSpPr txBox="1"/>
          <p:nvPr/>
        </p:nvSpPr>
        <p:spPr>
          <a:xfrm>
            <a:off x="548640" y="3429000"/>
            <a:ext cx="5486400" cy="365760"/>
          </a:xfrm>
          <a:prstGeom prst="rect">
            <a:avLst/>
          </a:prstGeom>
          <a:noFill/>
        </p:spPr>
        <p:txBody>
          <a:bodyPr wrap="square" anchor="t" lIns="0" rIns="0" tIns="0" bIns="0">
            <a:spAutoFit/>
          </a:bodyPr>
          <a:lstStyle/>
          <a:p>
            <a:pPr algn="l">
              <a:lnSpc>
                <a:spcPct val="110000"/>
              </a:lnSpc>
            </a:pPr>
            <a:r>
              <a:rPr sz="1800" b="1" i="0">
                <a:solidFill>
                  <a:srgbClr val="C8102E"/>
                </a:solidFill>
                <a:latin typeface="Cambria"/>
              </a:rPr>
              <a:t>Contexto de la marca</a:t>
            </a:r>
          </a:p>
        </p:txBody>
      </p:sp>
      <p:sp>
        <p:nvSpPr>
          <p:cNvPr id="25" name="TextBox 24"/>
          <p:cNvSpPr txBox="1"/>
          <p:nvPr/>
        </p:nvSpPr>
        <p:spPr>
          <a:xfrm>
            <a:off x="548640" y="3840480"/>
            <a:ext cx="5577840" cy="2468880"/>
          </a:xfrm>
          <a:prstGeom prst="rect">
            <a:avLst/>
          </a:prstGeom>
          <a:noFill/>
        </p:spPr>
        <p:txBody>
          <a:bodyPr wrap="square" lIns="0" rIns="0" tIns="0" bIns="0">
            <a:spAutoFit/>
          </a:bodyPr>
          <a:lstStyle/>
          <a:p>
            <a:pPr>
              <a:lnSpc>
                <a:spcPct val="108000"/>
              </a:lnSpc>
              <a:spcAft>
                <a:spcPts val="500"/>
              </a:spcAft>
            </a:pPr>
            <a:r>
              <a:rPr sz="850">
                <a:solidFill>
                  <a:srgbClr val="C8102E"/>
                </a:solidFill>
                <a:latin typeface="Calibri"/>
              </a:rPr>
              <a:t>■  </a:t>
            </a:r>
            <a:r>
              <a:rPr sz="1250" b="1" i="0">
                <a:solidFill>
                  <a:srgbClr val="2B1B16"/>
                </a:solidFill>
                <a:latin typeface="Calibri"/>
              </a:rPr>
              <a:t>Mercado: </a:t>
            </a:r>
            <a:r>
              <a:rPr sz="1250" b="0" i="0">
                <a:solidFill>
                  <a:srgbClr val="2B1B16"/>
                </a:solidFill>
                <a:latin typeface="Calibri"/>
              </a:rPr>
              <a:t>compite con Mahou-San Miguel, Estrella Galicia o Damm. En Andalucía es la marca de referencia en hostelería.</a:t>
            </a:r>
          </a:p>
          <a:p>
            <a:pPr>
              <a:lnSpc>
                <a:spcPct val="108000"/>
              </a:lnSpc>
              <a:spcAft>
                <a:spcPts val="500"/>
              </a:spcAft>
            </a:pPr>
            <a:r>
              <a:rPr sz="850">
                <a:solidFill>
                  <a:srgbClr val="C8102E"/>
                </a:solidFill>
                <a:latin typeface="Calibri"/>
              </a:rPr>
              <a:t>■  </a:t>
            </a:r>
            <a:r>
              <a:rPr sz="1250" b="1" i="0">
                <a:solidFill>
                  <a:srgbClr val="2B1B16"/>
                </a:solidFill>
                <a:latin typeface="Calibri"/>
              </a:rPr>
              <a:t>Expansión: </a:t>
            </a:r>
            <a:r>
              <a:rPr sz="1250" b="0" i="0">
                <a:solidFill>
                  <a:srgbClr val="2B1B16"/>
                </a:solidFill>
                <a:latin typeface="Calibri"/>
              </a:rPr>
              <a:t>también se vende en Reino Unido, donde llegó a casi 10.000 bares y pubs en su primer año.</a:t>
            </a:r>
          </a:p>
          <a:p>
            <a:pPr>
              <a:lnSpc>
                <a:spcPct val="108000"/>
              </a:lnSpc>
              <a:spcAft>
                <a:spcPts val="500"/>
              </a:spcAft>
            </a:pPr>
            <a:r>
              <a:rPr sz="850">
                <a:solidFill>
                  <a:srgbClr val="C8102E"/>
                </a:solidFill>
                <a:latin typeface="Calibri"/>
              </a:rPr>
              <a:t>■  </a:t>
            </a:r>
            <a:r>
              <a:rPr sz="1250" b="1" i="0">
                <a:solidFill>
                  <a:srgbClr val="2B1B16"/>
                </a:solidFill>
                <a:latin typeface="Calibri"/>
              </a:rPr>
              <a:t>Sector regulado: </a:t>
            </a:r>
            <a:r>
              <a:rPr sz="1250" b="0" i="0">
                <a:solidFill>
                  <a:srgbClr val="2B1B16"/>
                </a:solidFill>
                <a:latin typeface="Calibri"/>
              </a:rPr>
              <a:t>al ser una bebida alcohólica, su publicidad no puede dirigirse a menores y en TV solo se emite en franjas horarias limitadas.</a:t>
            </a:r>
          </a:p>
        </p:txBody>
      </p:sp>
      <p:sp>
        <p:nvSpPr>
          <p:cNvPr id="26" name="Rectangle 25"/>
          <p:cNvSpPr/>
          <p:nvPr/>
        </p:nvSpPr>
        <p:spPr>
          <a:xfrm>
            <a:off x="6492240" y="3429000"/>
            <a:ext cx="5148072" cy="27889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12280" y="3611880"/>
            <a:ext cx="4572000" cy="365760"/>
          </a:xfrm>
          <a:prstGeom prst="rect">
            <a:avLst/>
          </a:prstGeom>
          <a:noFill/>
        </p:spPr>
        <p:txBody>
          <a:bodyPr wrap="square" anchor="t" lIns="0" rIns="0" tIns="0" bIns="0">
            <a:spAutoFit/>
          </a:bodyPr>
          <a:lstStyle/>
          <a:p>
            <a:pPr algn="l">
              <a:lnSpc>
                <a:spcPct val="110000"/>
              </a:lnSpc>
            </a:pPr>
            <a:r>
              <a:rPr sz="1200" b="1" i="0">
                <a:solidFill>
                  <a:srgbClr val="ECDFC6"/>
                </a:solidFill>
                <a:latin typeface="Calibri"/>
              </a:rPr>
              <a:t>LA IDEA QUE LO UNE TODO</a:t>
            </a:r>
          </a:p>
        </p:txBody>
      </p:sp>
      <p:sp>
        <p:nvSpPr>
          <p:cNvPr id="28" name="TextBox 27"/>
          <p:cNvSpPr txBox="1"/>
          <p:nvPr/>
        </p:nvSpPr>
        <p:spPr>
          <a:xfrm>
            <a:off x="6812280" y="3977639"/>
            <a:ext cx="4572000" cy="822960"/>
          </a:xfrm>
          <a:prstGeom prst="rect">
            <a:avLst/>
          </a:prstGeom>
          <a:noFill/>
        </p:spPr>
        <p:txBody>
          <a:bodyPr wrap="square" anchor="t" lIns="0" rIns="0" tIns="0" bIns="0">
            <a:spAutoFit/>
          </a:bodyPr>
          <a:lstStyle/>
          <a:p>
            <a:pPr algn="l">
              <a:lnSpc>
                <a:spcPct val="110000"/>
              </a:lnSpc>
            </a:pPr>
            <a:r>
              <a:rPr sz="3200" b="1" i="0">
                <a:solidFill>
                  <a:srgbClr val="F7F0E3"/>
                </a:solidFill>
                <a:latin typeface="Cambria"/>
              </a:rPr>
              <a:t>«Con mucho acento»</a:t>
            </a:r>
          </a:p>
        </p:txBody>
      </p:sp>
      <p:sp>
        <p:nvSpPr>
          <p:cNvPr id="29" name="TextBox 28"/>
          <p:cNvSpPr txBox="1"/>
          <p:nvPr/>
        </p:nvSpPr>
        <p:spPr>
          <a:xfrm>
            <a:off x="6812280" y="4800600"/>
            <a:ext cx="4572000" cy="1371600"/>
          </a:xfrm>
          <a:prstGeom prst="rect">
            <a:avLst/>
          </a:prstGeom>
          <a:noFill/>
        </p:spPr>
        <p:txBody>
          <a:bodyPr wrap="square" anchor="t" lIns="0" rIns="0" tIns="0" bIns="0">
            <a:spAutoFit/>
          </a:bodyPr>
          <a:lstStyle/>
          <a:p>
            <a:pPr algn="l">
              <a:lnSpc>
                <a:spcPct val="115000"/>
              </a:lnSpc>
            </a:pPr>
            <a:r>
              <a:rPr sz="1300" b="0" i="0">
                <a:solidFill>
                  <a:srgbClr val="F7F0E3"/>
                </a:solidFill>
                <a:latin typeface="Calibri"/>
              </a:rPr>
              <a:t>Plataforma creativa lanzada en 2021 con la agencia Ogilvy. Defiende que el acento andaluz (y cualquier acento) es un tesoro y no algo que esconder. Desde entonces, casi todos sus anuncios parten de esta idea.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02 · FASE 1 · LIBRO</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Los medios de comunicación de masas</a:t>
            </a:r>
          </a:p>
        </p:txBody>
      </p:sp>
      <p:sp>
        <p:nvSpPr>
          <p:cNvPr id="5" name="TextBox 4"/>
          <p:cNvSpPr txBox="1"/>
          <p:nvPr/>
        </p:nvSpPr>
        <p:spPr>
          <a:xfrm>
            <a:off x="548640" y="1261872"/>
            <a:ext cx="11064240" cy="365760"/>
          </a:xfrm>
          <a:prstGeom prst="rect">
            <a:avLst/>
          </a:prstGeom>
          <a:noFill/>
        </p:spPr>
        <p:txBody>
          <a:bodyPr wrap="square" anchor="t" lIns="0" rIns="0" tIns="0" bIns="0">
            <a:spAutoFit/>
          </a:bodyPr>
          <a:lstStyle/>
          <a:p>
            <a:pPr algn="l">
              <a:lnSpc>
                <a:spcPct val="110000"/>
              </a:lnSpc>
            </a:pPr>
            <a:r>
              <a:rPr sz="1400" b="0" i="1">
                <a:solidFill>
                  <a:srgbClr val="6E5A4E"/>
                </a:solidFill>
                <a:latin typeface="Calibri"/>
              </a:rPr>
              <a:t>Fuente: [Título del libro], [Editorial], [año], apartado 1.12, págs. [__]–[__]</a:t>
            </a:r>
          </a:p>
        </p:txBody>
      </p:sp>
      <p:sp>
        <p:nvSpPr>
          <p:cNvPr id="6" name="Rectangle 5"/>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8" name="TextBox 7"/>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05</a:t>
            </a:r>
          </a:p>
        </p:txBody>
      </p:sp>
      <p:sp>
        <p:nvSpPr>
          <p:cNvPr id="9" name="TextBox 8"/>
          <p:cNvSpPr txBox="1"/>
          <p:nvPr/>
        </p:nvSpPr>
        <p:spPr>
          <a:xfrm>
            <a:off x="548640" y="1737360"/>
            <a:ext cx="11064240" cy="548640"/>
          </a:xfrm>
          <a:prstGeom prst="rect">
            <a:avLst/>
          </a:prstGeom>
          <a:noFill/>
        </p:spPr>
        <p:txBody>
          <a:bodyPr wrap="square" anchor="t" lIns="0" rIns="0" tIns="0" bIns="0">
            <a:spAutoFit/>
          </a:bodyPr>
          <a:lstStyle/>
          <a:p>
            <a:pPr algn="l">
              <a:lnSpc>
                <a:spcPct val="115000"/>
              </a:lnSpc>
            </a:pPr>
            <a:r>
              <a:rPr sz="1300" b="0" i="0">
                <a:solidFill>
                  <a:srgbClr val="2B1B16"/>
                </a:solidFill>
                <a:latin typeface="Calibri"/>
              </a:rPr>
              <a:t>Con nuestras palabras: un medio de masas es un canal que hace llegar el mismo mensaje a muchísimas personas a la vez, sin conocerlas una a una. La marca paga por un espacio (página, minutos, segundos) dentro de ese medio.</a:t>
            </a:r>
          </a:p>
        </p:txBody>
      </p:sp>
      <p:sp>
        <p:nvSpPr>
          <p:cNvPr id="10" name="Rectangle 9"/>
          <p:cNvSpPr/>
          <p:nvPr/>
        </p:nvSpPr>
        <p:spPr>
          <a:xfrm>
            <a:off x="548640" y="2514600"/>
            <a:ext cx="2651760" cy="365760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514600"/>
            <a:ext cx="2651760" cy="566928"/>
          </a:xfrm>
          <a:prstGeom prst="rect">
            <a:avLst/>
          </a:prstGeom>
          <a:solidFill>
            <a:srgbClr val="7A0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96896"/>
            <a:ext cx="2286000" cy="411480"/>
          </a:xfrm>
          <a:prstGeom prst="rect">
            <a:avLst/>
          </a:prstGeom>
          <a:noFill/>
        </p:spPr>
        <p:txBody>
          <a:bodyPr wrap="square" anchor="t" lIns="0" rIns="0" tIns="0" bIns="0">
            <a:spAutoFit/>
          </a:bodyPr>
          <a:lstStyle/>
          <a:p>
            <a:pPr algn="l">
              <a:lnSpc>
                <a:spcPct val="110000"/>
              </a:lnSpc>
            </a:pPr>
            <a:r>
              <a:rPr sz="1800" b="1" i="0">
                <a:solidFill>
                  <a:srgbClr val="F7F0E3"/>
                </a:solidFill>
                <a:latin typeface="Cambria"/>
              </a:rPr>
              <a:t>Prensa</a:t>
            </a:r>
          </a:p>
        </p:txBody>
      </p:sp>
      <p:sp>
        <p:nvSpPr>
          <p:cNvPr id="13" name="TextBox 12"/>
          <p:cNvSpPr txBox="1"/>
          <p:nvPr/>
        </p:nvSpPr>
        <p:spPr>
          <a:xfrm>
            <a:off x="731520" y="3200400"/>
            <a:ext cx="2331720" cy="548640"/>
          </a:xfrm>
          <a:prstGeom prst="rect">
            <a:avLst/>
          </a:prstGeom>
          <a:noFill/>
        </p:spPr>
        <p:txBody>
          <a:bodyPr wrap="square" anchor="t" lIns="0" rIns="0" tIns="0" bIns="0">
            <a:spAutoFit/>
          </a:bodyPr>
          <a:lstStyle/>
          <a:p>
            <a:pPr algn="l">
              <a:lnSpc>
                <a:spcPct val="110000"/>
              </a:lnSpc>
            </a:pPr>
            <a:r>
              <a:rPr sz="1100" b="0" i="1">
                <a:solidFill>
                  <a:srgbClr val="6E5A4E"/>
                </a:solidFill>
                <a:latin typeface="Calibri"/>
              </a:rPr>
              <a:t>Diarios nacionales, regionales y locales.</a:t>
            </a:r>
          </a:p>
        </p:txBody>
      </p:sp>
      <p:sp>
        <p:nvSpPr>
          <p:cNvPr id="14" name="TextBox 13"/>
          <p:cNvSpPr txBox="1"/>
          <p:nvPr/>
        </p:nvSpPr>
        <p:spPr>
          <a:xfrm>
            <a:off x="731520" y="3794760"/>
            <a:ext cx="2377440" cy="2286000"/>
          </a:xfrm>
          <a:prstGeom prst="rect">
            <a:avLst/>
          </a:prstGeom>
          <a:noFill/>
        </p:spPr>
        <p:txBody>
          <a:bodyPr wrap="square" lIns="0" rIns="0" tIns="0" bIns="0">
            <a:spAutoFit/>
          </a:bodyPr>
          <a:lstStyle/>
          <a:p>
            <a:pPr>
              <a:lnSpc>
                <a:spcPct val="108000"/>
              </a:lnSpc>
              <a:spcAft>
                <a:spcPts val="600"/>
              </a:spcAft>
            </a:pPr>
            <a:r>
              <a:rPr sz="800">
                <a:solidFill>
                  <a:srgbClr val="C8102E"/>
                </a:solidFill>
                <a:latin typeface="Calibri"/>
              </a:rPr>
              <a:t>  </a:t>
            </a:r>
            <a:r>
              <a:rPr sz="1200" b="1" i="0">
                <a:solidFill>
                  <a:srgbClr val="2F6B3A"/>
                </a:solidFill>
                <a:latin typeface="Calibri"/>
              </a:rPr>
              <a:t>+ </a:t>
            </a:r>
            <a:r>
              <a:rPr sz="1200" b="0" i="0">
                <a:solidFill>
                  <a:srgbClr val="2B1B16"/>
                </a:solidFill>
                <a:latin typeface="Calibri"/>
              </a:rPr>
              <a:t>Credibilidad y actualidad</a:t>
            </a:r>
          </a:p>
          <a:p>
            <a:pPr>
              <a:lnSpc>
                <a:spcPct val="108000"/>
              </a:lnSpc>
              <a:spcAft>
                <a:spcPts val="600"/>
              </a:spcAft>
            </a:pPr>
            <a:r>
              <a:rPr sz="800">
                <a:solidFill>
                  <a:srgbClr val="C8102E"/>
                </a:solidFill>
                <a:latin typeface="Calibri"/>
              </a:rPr>
              <a:t>  </a:t>
            </a:r>
            <a:r>
              <a:rPr sz="1200" b="1" i="0">
                <a:solidFill>
                  <a:srgbClr val="2F6B3A"/>
                </a:solidFill>
                <a:latin typeface="Calibri"/>
              </a:rPr>
              <a:t>+ </a:t>
            </a:r>
            <a:r>
              <a:rPr sz="1200" b="0" i="0">
                <a:solidFill>
                  <a:srgbClr val="2B1B16"/>
                </a:solidFill>
                <a:latin typeface="Calibri"/>
              </a:rPr>
              <a:t>Muy segmentada por zona</a:t>
            </a:r>
          </a:p>
          <a:p>
            <a:pPr>
              <a:lnSpc>
                <a:spcPct val="108000"/>
              </a:lnSpc>
              <a:spcAft>
                <a:spcPts val="600"/>
              </a:spcAft>
            </a:pPr>
            <a:r>
              <a:rPr sz="800">
                <a:solidFill>
                  <a:srgbClr val="C8102E"/>
                </a:solidFill>
                <a:latin typeface="Calibri"/>
              </a:rPr>
              <a:t>  </a:t>
            </a:r>
            <a:r>
              <a:rPr sz="1200" b="1" i="0">
                <a:solidFill>
                  <a:srgbClr val="C8102E"/>
                </a:solidFill>
                <a:latin typeface="Calibri"/>
              </a:rPr>
              <a:t>– </a:t>
            </a:r>
            <a:r>
              <a:rPr sz="1200" b="0" i="0">
                <a:solidFill>
                  <a:srgbClr val="2B1B16"/>
                </a:solidFill>
                <a:latin typeface="Calibri"/>
              </a:rPr>
              <a:t>Vida corta (un día)</a:t>
            </a:r>
          </a:p>
          <a:p>
            <a:pPr>
              <a:lnSpc>
                <a:spcPct val="108000"/>
              </a:lnSpc>
              <a:spcAft>
                <a:spcPts val="600"/>
              </a:spcAft>
            </a:pPr>
            <a:r>
              <a:rPr sz="800">
                <a:solidFill>
                  <a:srgbClr val="C8102E"/>
                </a:solidFill>
                <a:latin typeface="Calibri"/>
              </a:rPr>
              <a:t>  </a:t>
            </a:r>
            <a:r>
              <a:rPr sz="1200" b="1" i="0">
                <a:solidFill>
                  <a:srgbClr val="C8102E"/>
                </a:solidFill>
                <a:latin typeface="Calibri"/>
              </a:rPr>
              <a:t>– </a:t>
            </a:r>
            <a:r>
              <a:rPr sz="1200" b="0" i="0">
                <a:solidFill>
                  <a:srgbClr val="2B1B16"/>
                </a:solidFill>
                <a:latin typeface="Calibri"/>
              </a:rPr>
              <a:t>Calidad de imagen baja</a:t>
            </a:r>
          </a:p>
        </p:txBody>
      </p:sp>
      <p:sp>
        <p:nvSpPr>
          <p:cNvPr id="15" name="Rectangle 14"/>
          <p:cNvSpPr/>
          <p:nvPr/>
        </p:nvSpPr>
        <p:spPr>
          <a:xfrm>
            <a:off x="3364992" y="2514600"/>
            <a:ext cx="2651760" cy="365760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64992" y="2514600"/>
            <a:ext cx="2651760" cy="566928"/>
          </a:xfrm>
          <a:prstGeom prst="rect">
            <a:avLst/>
          </a:prstGeom>
          <a:solidFill>
            <a:srgbClr val="7A0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47872" y="2596896"/>
            <a:ext cx="2286000" cy="411480"/>
          </a:xfrm>
          <a:prstGeom prst="rect">
            <a:avLst/>
          </a:prstGeom>
          <a:noFill/>
        </p:spPr>
        <p:txBody>
          <a:bodyPr wrap="square" anchor="t" lIns="0" rIns="0" tIns="0" bIns="0">
            <a:spAutoFit/>
          </a:bodyPr>
          <a:lstStyle/>
          <a:p>
            <a:pPr algn="l">
              <a:lnSpc>
                <a:spcPct val="110000"/>
              </a:lnSpc>
            </a:pPr>
            <a:r>
              <a:rPr sz="1800" b="1" i="0">
                <a:solidFill>
                  <a:srgbClr val="F7F0E3"/>
                </a:solidFill>
                <a:latin typeface="Cambria"/>
              </a:rPr>
              <a:t>Revistas</a:t>
            </a:r>
          </a:p>
        </p:txBody>
      </p:sp>
      <p:sp>
        <p:nvSpPr>
          <p:cNvPr id="18" name="TextBox 17"/>
          <p:cNvSpPr txBox="1"/>
          <p:nvPr/>
        </p:nvSpPr>
        <p:spPr>
          <a:xfrm>
            <a:off x="3547872" y="3200400"/>
            <a:ext cx="2331720" cy="548640"/>
          </a:xfrm>
          <a:prstGeom prst="rect">
            <a:avLst/>
          </a:prstGeom>
          <a:noFill/>
        </p:spPr>
        <p:txBody>
          <a:bodyPr wrap="square" anchor="t" lIns="0" rIns="0" tIns="0" bIns="0">
            <a:spAutoFit/>
          </a:bodyPr>
          <a:lstStyle/>
          <a:p>
            <a:pPr algn="l">
              <a:lnSpc>
                <a:spcPct val="110000"/>
              </a:lnSpc>
            </a:pPr>
            <a:r>
              <a:rPr sz="1100" b="0" i="1">
                <a:solidFill>
                  <a:srgbClr val="6E5A4E"/>
                </a:solidFill>
                <a:latin typeface="Calibri"/>
              </a:rPr>
              <a:t>Publicaciones semanales o mensuales por temas.</a:t>
            </a:r>
          </a:p>
        </p:txBody>
      </p:sp>
      <p:sp>
        <p:nvSpPr>
          <p:cNvPr id="19" name="TextBox 18"/>
          <p:cNvSpPr txBox="1"/>
          <p:nvPr/>
        </p:nvSpPr>
        <p:spPr>
          <a:xfrm>
            <a:off x="3547872" y="3794760"/>
            <a:ext cx="2377440" cy="2286000"/>
          </a:xfrm>
          <a:prstGeom prst="rect">
            <a:avLst/>
          </a:prstGeom>
          <a:noFill/>
        </p:spPr>
        <p:txBody>
          <a:bodyPr wrap="square" lIns="0" rIns="0" tIns="0" bIns="0">
            <a:spAutoFit/>
          </a:bodyPr>
          <a:lstStyle/>
          <a:p>
            <a:pPr>
              <a:lnSpc>
                <a:spcPct val="108000"/>
              </a:lnSpc>
              <a:spcAft>
                <a:spcPts val="600"/>
              </a:spcAft>
            </a:pPr>
            <a:r>
              <a:rPr sz="800">
                <a:solidFill>
                  <a:srgbClr val="C8102E"/>
                </a:solidFill>
                <a:latin typeface="Calibri"/>
              </a:rPr>
              <a:t>  </a:t>
            </a:r>
            <a:r>
              <a:rPr sz="1200" b="1" i="0">
                <a:solidFill>
                  <a:srgbClr val="2F6B3A"/>
                </a:solidFill>
                <a:latin typeface="Calibri"/>
              </a:rPr>
              <a:t>+ </a:t>
            </a:r>
            <a:r>
              <a:rPr sz="1200" b="0" i="0">
                <a:solidFill>
                  <a:srgbClr val="2B1B16"/>
                </a:solidFill>
                <a:latin typeface="Calibri"/>
              </a:rPr>
              <a:t>Público por intereses</a:t>
            </a:r>
          </a:p>
          <a:p>
            <a:pPr>
              <a:lnSpc>
                <a:spcPct val="108000"/>
              </a:lnSpc>
              <a:spcAft>
                <a:spcPts val="600"/>
              </a:spcAft>
            </a:pPr>
            <a:r>
              <a:rPr sz="800">
                <a:solidFill>
                  <a:srgbClr val="C8102E"/>
                </a:solidFill>
                <a:latin typeface="Calibri"/>
              </a:rPr>
              <a:t>  </a:t>
            </a:r>
            <a:r>
              <a:rPr sz="1200" b="1" i="0">
                <a:solidFill>
                  <a:srgbClr val="2F6B3A"/>
                </a:solidFill>
                <a:latin typeface="Calibri"/>
              </a:rPr>
              <a:t>+ </a:t>
            </a:r>
            <a:r>
              <a:rPr sz="1200" b="0" i="0">
                <a:solidFill>
                  <a:srgbClr val="2B1B16"/>
                </a:solidFill>
                <a:latin typeface="Calibri"/>
              </a:rPr>
              <a:t>Impresión de alta calidad</a:t>
            </a:r>
          </a:p>
          <a:p>
            <a:pPr>
              <a:lnSpc>
                <a:spcPct val="108000"/>
              </a:lnSpc>
              <a:spcAft>
                <a:spcPts val="600"/>
              </a:spcAft>
            </a:pPr>
            <a:r>
              <a:rPr sz="800">
                <a:solidFill>
                  <a:srgbClr val="C8102E"/>
                </a:solidFill>
                <a:latin typeface="Calibri"/>
              </a:rPr>
              <a:t>  </a:t>
            </a:r>
            <a:r>
              <a:rPr sz="1200" b="1" i="0">
                <a:solidFill>
                  <a:srgbClr val="C8102E"/>
                </a:solidFill>
                <a:latin typeface="Calibri"/>
              </a:rPr>
              <a:t>– </a:t>
            </a:r>
            <a:r>
              <a:rPr sz="1200" b="0" i="0">
                <a:solidFill>
                  <a:srgbClr val="2B1B16"/>
                </a:solidFill>
                <a:latin typeface="Calibri"/>
              </a:rPr>
              <a:t>Se leen varias veces</a:t>
            </a:r>
          </a:p>
          <a:p>
            <a:pPr>
              <a:lnSpc>
                <a:spcPct val="108000"/>
              </a:lnSpc>
              <a:spcAft>
                <a:spcPts val="600"/>
              </a:spcAft>
            </a:pPr>
            <a:r>
              <a:rPr sz="800">
                <a:solidFill>
                  <a:srgbClr val="C8102E"/>
                </a:solidFill>
                <a:latin typeface="Calibri"/>
              </a:rPr>
              <a:t>  </a:t>
            </a:r>
            <a:r>
              <a:rPr sz="1200" b="1" i="0">
                <a:solidFill>
                  <a:srgbClr val="C8102E"/>
                </a:solidFill>
                <a:latin typeface="Calibri"/>
              </a:rPr>
              <a:t>– </a:t>
            </a:r>
            <a:r>
              <a:rPr sz="1200" b="0" i="0">
                <a:solidFill>
                  <a:srgbClr val="2B1B16"/>
                </a:solidFill>
                <a:latin typeface="Calibri"/>
              </a:rPr>
              <a:t>Poca inmediatez</a:t>
            </a:r>
          </a:p>
        </p:txBody>
      </p:sp>
      <p:sp>
        <p:nvSpPr>
          <p:cNvPr id="20" name="Rectangle 19"/>
          <p:cNvSpPr/>
          <p:nvPr/>
        </p:nvSpPr>
        <p:spPr>
          <a:xfrm>
            <a:off x="6181344" y="2514600"/>
            <a:ext cx="2651760" cy="365760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2514600"/>
            <a:ext cx="2651760" cy="566928"/>
          </a:xfrm>
          <a:prstGeom prst="rect">
            <a:avLst/>
          </a:prstGeom>
          <a:solidFill>
            <a:srgbClr val="7A0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2596896"/>
            <a:ext cx="2286000" cy="411480"/>
          </a:xfrm>
          <a:prstGeom prst="rect">
            <a:avLst/>
          </a:prstGeom>
          <a:noFill/>
        </p:spPr>
        <p:txBody>
          <a:bodyPr wrap="square" anchor="t" lIns="0" rIns="0" tIns="0" bIns="0">
            <a:spAutoFit/>
          </a:bodyPr>
          <a:lstStyle/>
          <a:p>
            <a:pPr algn="l">
              <a:lnSpc>
                <a:spcPct val="110000"/>
              </a:lnSpc>
            </a:pPr>
            <a:r>
              <a:rPr sz="1800" b="1" i="0">
                <a:solidFill>
                  <a:srgbClr val="F7F0E3"/>
                </a:solidFill>
                <a:latin typeface="Cambria"/>
              </a:rPr>
              <a:t>Radio</a:t>
            </a:r>
          </a:p>
        </p:txBody>
      </p:sp>
      <p:sp>
        <p:nvSpPr>
          <p:cNvPr id="23" name="TextBox 22"/>
          <p:cNvSpPr txBox="1"/>
          <p:nvPr/>
        </p:nvSpPr>
        <p:spPr>
          <a:xfrm>
            <a:off x="6364224" y="3200400"/>
            <a:ext cx="2331720" cy="548640"/>
          </a:xfrm>
          <a:prstGeom prst="rect">
            <a:avLst/>
          </a:prstGeom>
          <a:noFill/>
        </p:spPr>
        <p:txBody>
          <a:bodyPr wrap="square" anchor="t" lIns="0" rIns="0" tIns="0" bIns="0">
            <a:spAutoFit/>
          </a:bodyPr>
          <a:lstStyle/>
          <a:p>
            <a:pPr algn="l">
              <a:lnSpc>
                <a:spcPct val="110000"/>
              </a:lnSpc>
            </a:pPr>
            <a:r>
              <a:rPr sz="1100" b="0" i="1">
                <a:solidFill>
                  <a:srgbClr val="6E5A4E"/>
                </a:solidFill>
                <a:latin typeface="Calibri"/>
              </a:rPr>
              <a:t>Emisoras generalistas, musicales y locales.</a:t>
            </a:r>
          </a:p>
        </p:txBody>
      </p:sp>
      <p:sp>
        <p:nvSpPr>
          <p:cNvPr id="24" name="TextBox 23"/>
          <p:cNvSpPr txBox="1"/>
          <p:nvPr/>
        </p:nvSpPr>
        <p:spPr>
          <a:xfrm>
            <a:off x="6364224" y="3794760"/>
            <a:ext cx="2377440" cy="2286000"/>
          </a:xfrm>
          <a:prstGeom prst="rect">
            <a:avLst/>
          </a:prstGeom>
          <a:noFill/>
        </p:spPr>
        <p:txBody>
          <a:bodyPr wrap="square" lIns="0" rIns="0" tIns="0" bIns="0">
            <a:spAutoFit/>
          </a:bodyPr>
          <a:lstStyle/>
          <a:p>
            <a:pPr>
              <a:lnSpc>
                <a:spcPct val="108000"/>
              </a:lnSpc>
              <a:spcAft>
                <a:spcPts val="600"/>
              </a:spcAft>
            </a:pPr>
            <a:r>
              <a:rPr sz="800">
                <a:solidFill>
                  <a:srgbClr val="C8102E"/>
                </a:solidFill>
                <a:latin typeface="Calibri"/>
              </a:rPr>
              <a:t>  </a:t>
            </a:r>
            <a:r>
              <a:rPr sz="1200" b="1" i="0">
                <a:solidFill>
                  <a:srgbClr val="2F6B3A"/>
                </a:solidFill>
                <a:latin typeface="Calibri"/>
              </a:rPr>
              <a:t>+ </a:t>
            </a:r>
            <a:r>
              <a:rPr sz="1200" b="0" i="0">
                <a:solidFill>
                  <a:srgbClr val="2B1B16"/>
                </a:solidFill>
                <a:latin typeface="Calibri"/>
              </a:rPr>
              <a:t>Barata y muy rápida</a:t>
            </a:r>
          </a:p>
          <a:p>
            <a:pPr>
              <a:lnSpc>
                <a:spcPct val="108000"/>
              </a:lnSpc>
              <a:spcAft>
                <a:spcPts val="600"/>
              </a:spcAft>
            </a:pPr>
            <a:r>
              <a:rPr sz="800">
                <a:solidFill>
                  <a:srgbClr val="C8102E"/>
                </a:solidFill>
                <a:latin typeface="Calibri"/>
              </a:rPr>
              <a:t>  </a:t>
            </a:r>
            <a:r>
              <a:rPr sz="1200" b="1" i="0">
                <a:solidFill>
                  <a:srgbClr val="2F6B3A"/>
                </a:solidFill>
                <a:latin typeface="Calibri"/>
              </a:rPr>
              <a:t>+ </a:t>
            </a:r>
            <a:r>
              <a:rPr sz="1200" b="0" i="0">
                <a:solidFill>
                  <a:srgbClr val="2B1B16"/>
                </a:solidFill>
                <a:latin typeface="Calibri"/>
              </a:rPr>
              <a:t>Acompaña (coche, trabajo)</a:t>
            </a:r>
          </a:p>
          <a:p>
            <a:pPr>
              <a:lnSpc>
                <a:spcPct val="108000"/>
              </a:lnSpc>
              <a:spcAft>
                <a:spcPts val="600"/>
              </a:spcAft>
            </a:pPr>
            <a:r>
              <a:rPr sz="800">
                <a:solidFill>
                  <a:srgbClr val="C8102E"/>
                </a:solidFill>
                <a:latin typeface="Calibri"/>
              </a:rPr>
              <a:t>  </a:t>
            </a:r>
            <a:r>
              <a:rPr sz="1200" b="1" i="0">
                <a:solidFill>
                  <a:srgbClr val="C8102E"/>
                </a:solidFill>
                <a:latin typeface="Calibri"/>
              </a:rPr>
              <a:t>– </a:t>
            </a:r>
            <a:r>
              <a:rPr sz="1200" b="0" i="0">
                <a:solidFill>
                  <a:srgbClr val="2B1B16"/>
                </a:solidFill>
                <a:latin typeface="Calibri"/>
              </a:rPr>
              <a:t>Mucha repetición</a:t>
            </a:r>
          </a:p>
          <a:p>
            <a:pPr>
              <a:lnSpc>
                <a:spcPct val="108000"/>
              </a:lnSpc>
              <a:spcAft>
                <a:spcPts val="600"/>
              </a:spcAft>
            </a:pPr>
            <a:r>
              <a:rPr sz="800">
                <a:solidFill>
                  <a:srgbClr val="C8102E"/>
                </a:solidFill>
                <a:latin typeface="Calibri"/>
              </a:rPr>
              <a:t>  </a:t>
            </a:r>
            <a:r>
              <a:rPr sz="1200" b="1" i="0">
                <a:solidFill>
                  <a:srgbClr val="C8102E"/>
                </a:solidFill>
                <a:latin typeface="Calibri"/>
              </a:rPr>
              <a:t>– </a:t>
            </a:r>
            <a:r>
              <a:rPr sz="1200" b="0" i="0">
                <a:solidFill>
                  <a:srgbClr val="2B1B16"/>
                </a:solidFill>
                <a:latin typeface="Calibri"/>
              </a:rPr>
              <a:t>Solo sonido, poca atención</a:t>
            </a:r>
          </a:p>
        </p:txBody>
      </p:sp>
      <p:sp>
        <p:nvSpPr>
          <p:cNvPr id="25" name="Rectangle 24"/>
          <p:cNvSpPr/>
          <p:nvPr/>
        </p:nvSpPr>
        <p:spPr>
          <a:xfrm>
            <a:off x="8997696" y="2514600"/>
            <a:ext cx="2651760" cy="365760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7696" y="2514600"/>
            <a:ext cx="2651760" cy="566928"/>
          </a:xfrm>
          <a:prstGeom prst="rect">
            <a:avLst/>
          </a:prstGeom>
          <a:solidFill>
            <a:srgbClr val="7A0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0576" y="2596896"/>
            <a:ext cx="2286000" cy="411480"/>
          </a:xfrm>
          <a:prstGeom prst="rect">
            <a:avLst/>
          </a:prstGeom>
          <a:noFill/>
        </p:spPr>
        <p:txBody>
          <a:bodyPr wrap="square" anchor="t" lIns="0" rIns="0" tIns="0" bIns="0">
            <a:spAutoFit/>
          </a:bodyPr>
          <a:lstStyle/>
          <a:p>
            <a:pPr algn="l">
              <a:lnSpc>
                <a:spcPct val="110000"/>
              </a:lnSpc>
            </a:pPr>
            <a:r>
              <a:rPr sz="1800" b="1" i="0">
                <a:solidFill>
                  <a:srgbClr val="F7F0E3"/>
                </a:solidFill>
                <a:latin typeface="Cambria"/>
              </a:rPr>
              <a:t>Televisión</a:t>
            </a:r>
          </a:p>
        </p:txBody>
      </p:sp>
      <p:sp>
        <p:nvSpPr>
          <p:cNvPr id="28" name="TextBox 27"/>
          <p:cNvSpPr txBox="1"/>
          <p:nvPr/>
        </p:nvSpPr>
        <p:spPr>
          <a:xfrm>
            <a:off x="9180576" y="3200400"/>
            <a:ext cx="2331720" cy="548640"/>
          </a:xfrm>
          <a:prstGeom prst="rect">
            <a:avLst/>
          </a:prstGeom>
          <a:noFill/>
        </p:spPr>
        <p:txBody>
          <a:bodyPr wrap="square" anchor="t" lIns="0" rIns="0" tIns="0" bIns="0">
            <a:spAutoFit/>
          </a:bodyPr>
          <a:lstStyle/>
          <a:p>
            <a:pPr algn="l">
              <a:lnSpc>
                <a:spcPct val="110000"/>
              </a:lnSpc>
            </a:pPr>
            <a:r>
              <a:rPr sz="1100" b="0" i="1">
                <a:solidFill>
                  <a:srgbClr val="6E5A4E"/>
                </a:solidFill>
                <a:latin typeface="Calibri"/>
              </a:rPr>
              <a:t>Cadenas nacionales, autonómicas y de pago.</a:t>
            </a:r>
          </a:p>
        </p:txBody>
      </p:sp>
      <p:sp>
        <p:nvSpPr>
          <p:cNvPr id="29" name="TextBox 28"/>
          <p:cNvSpPr txBox="1"/>
          <p:nvPr/>
        </p:nvSpPr>
        <p:spPr>
          <a:xfrm>
            <a:off x="9180576" y="3794760"/>
            <a:ext cx="2377440" cy="2286000"/>
          </a:xfrm>
          <a:prstGeom prst="rect">
            <a:avLst/>
          </a:prstGeom>
          <a:noFill/>
        </p:spPr>
        <p:txBody>
          <a:bodyPr wrap="square" lIns="0" rIns="0" tIns="0" bIns="0">
            <a:spAutoFit/>
          </a:bodyPr>
          <a:lstStyle/>
          <a:p>
            <a:pPr>
              <a:lnSpc>
                <a:spcPct val="108000"/>
              </a:lnSpc>
              <a:spcAft>
                <a:spcPts val="600"/>
              </a:spcAft>
            </a:pPr>
            <a:r>
              <a:rPr sz="800">
                <a:solidFill>
                  <a:srgbClr val="C8102E"/>
                </a:solidFill>
                <a:latin typeface="Calibri"/>
              </a:rPr>
              <a:t>  </a:t>
            </a:r>
            <a:r>
              <a:rPr sz="1200" b="1" i="0">
                <a:solidFill>
                  <a:srgbClr val="2F6B3A"/>
                </a:solidFill>
                <a:latin typeface="Calibri"/>
              </a:rPr>
              <a:t>+ </a:t>
            </a:r>
            <a:r>
              <a:rPr sz="1200" b="0" i="0">
                <a:solidFill>
                  <a:srgbClr val="2B1B16"/>
                </a:solidFill>
                <a:latin typeface="Calibri"/>
              </a:rPr>
              <a:t>Imagen + sonido + movimiento</a:t>
            </a:r>
          </a:p>
          <a:p>
            <a:pPr>
              <a:lnSpc>
                <a:spcPct val="108000"/>
              </a:lnSpc>
              <a:spcAft>
                <a:spcPts val="600"/>
              </a:spcAft>
            </a:pPr>
            <a:r>
              <a:rPr sz="800">
                <a:solidFill>
                  <a:srgbClr val="C8102E"/>
                </a:solidFill>
                <a:latin typeface="Calibri"/>
              </a:rPr>
              <a:t>  </a:t>
            </a:r>
            <a:r>
              <a:rPr sz="1200" b="1" i="0">
                <a:solidFill>
                  <a:srgbClr val="2F6B3A"/>
                </a:solidFill>
                <a:latin typeface="Calibri"/>
              </a:rPr>
              <a:t>+ </a:t>
            </a:r>
            <a:r>
              <a:rPr sz="1200" b="0" i="0">
                <a:solidFill>
                  <a:srgbClr val="2B1B16"/>
                </a:solidFill>
                <a:latin typeface="Calibri"/>
              </a:rPr>
              <a:t>Cobertura masiva</a:t>
            </a:r>
          </a:p>
          <a:p>
            <a:pPr>
              <a:lnSpc>
                <a:spcPct val="108000"/>
              </a:lnSpc>
              <a:spcAft>
                <a:spcPts val="600"/>
              </a:spcAft>
            </a:pPr>
            <a:r>
              <a:rPr sz="800">
                <a:solidFill>
                  <a:srgbClr val="C8102E"/>
                </a:solidFill>
                <a:latin typeface="Calibri"/>
              </a:rPr>
              <a:t>  </a:t>
            </a:r>
            <a:r>
              <a:rPr sz="1200" b="1" i="0">
                <a:solidFill>
                  <a:srgbClr val="C8102E"/>
                </a:solidFill>
                <a:latin typeface="Calibri"/>
              </a:rPr>
              <a:t>– </a:t>
            </a:r>
            <a:r>
              <a:rPr sz="1200" b="0" i="0">
                <a:solidFill>
                  <a:srgbClr val="2B1B16"/>
                </a:solidFill>
                <a:latin typeface="Calibri"/>
              </a:rPr>
              <a:t>Genera notoriedad</a:t>
            </a:r>
          </a:p>
          <a:p>
            <a:pPr>
              <a:lnSpc>
                <a:spcPct val="108000"/>
              </a:lnSpc>
              <a:spcAft>
                <a:spcPts val="600"/>
              </a:spcAft>
            </a:pPr>
            <a:r>
              <a:rPr sz="800">
                <a:solidFill>
                  <a:srgbClr val="C8102E"/>
                </a:solidFill>
                <a:latin typeface="Calibri"/>
              </a:rPr>
              <a:t>  </a:t>
            </a:r>
            <a:r>
              <a:rPr sz="1200" b="1" i="0">
                <a:solidFill>
                  <a:srgbClr val="C8102E"/>
                </a:solidFill>
                <a:latin typeface="Calibri"/>
              </a:rPr>
              <a:t>– </a:t>
            </a:r>
            <a:r>
              <a:rPr sz="1200" b="0" i="0">
                <a:solidFill>
                  <a:srgbClr val="2B1B16"/>
                </a:solidFill>
                <a:latin typeface="Calibri"/>
              </a:rPr>
              <a:t>Muy cara y saturada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02 · FASE 1 · LIBRO</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Las formas publicitarias que usaremos para clasificar</a:t>
            </a:r>
          </a:p>
        </p:txBody>
      </p:sp>
      <p:sp>
        <p:nvSpPr>
          <p:cNvPr id="5" name="TextBox 4"/>
          <p:cNvSpPr txBox="1"/>
          <p:nvPr/>
        </p:nvSpPr>
        <p:spPr>
          <a:xfrm>
            <a:off x="548640" y="1261872"/>
            <a:ext cx="11064240" cy="365760"/>
          </a:xfrm>
          <a:prstGeom prst="rect">
            <a:avLst/>
          </a:prstGeom>
          <a:noFill/>
        </p:spPr>
        <p:txBody>
          <a:bodyPr wrap="square" anchor="t" lIns="0" rIns="0" tIns="0" bIns="0">
            <a:spAutoFit/>
          </a:bodyPr>
          <a:lstStyle/>
          <a:p>
            <a:pPr algn="l">
              <a:lnSpc>
                <a:spcPct val="110000"/>
              </a:lnSpc>
            </a:pPr>
            <a:r>
              <a:rPr sz="1400" b="0" i="1">
                <a:solidFill>
                  <a:srgbClr val="6E5A4E"/>
                </a:solidFill>
                <a:latin typeface="Calibri"/>
              </a:rPr>
              <a:t>Cada medio tiene sus propios formatos. Estos son los que nos sirven para la Fase 3.</a:t>
            </a:r>
          </a:p>
        </p:txBody>
      </p:sp>
      <p:sp>
        <p:nvSpPr>
          <p:cNvPr id="6" name="Rectangle 5"/>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8" name="TextBox 7"/>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06</a:t>
            </a:r>
          </a:p>
        </p:txBody>
      </p:sp>
      <p:graphicFrame>
        <p:nvGraphicFramePr>
          <p:cNvPr id="9" name="Table 8"/>
          <p:cNvGraphicFramePr>
            <a:graphicFrameLocks noGrp="1"/>
          </p:cNvGraphicFramePr>
          <p:nvPr/>
        </p:nvGraphicFramePr>
        <p:xfrm>
          <a:off x="548640" y="1783080"/>
          <a:ext cx="11091672" cy="4361688"/>
        </p:xfrm>
        <a:graphic>
          <a:graphicData uri="http://schemas.openxmlformats.org/drawingml/2006/table">
            <a:tbl>
              <a:tblPr firstRow="1" bandRow="1">
                <a:tableStyleId>{5C22544A-7EE6-4342-B048-85BDC9FD1C3A}</a:tableStyleId>
              </a:tblPr>
              <a:tblGrid>
                <a:gridCol w="2011680"/>
                <a:gridCol w="2834640"/>
                <a:gridCol w="6245352"/>
              </a:tblGrid>
              <a:tr h="484632">
                <a:tc>
                  <a:txBody>
                    <a:bodyPr wrap="square"/>
                    <a:lstStyle/>
                    <a:p>
                      <a:r>
                        <a:rPr sz="1150" b="1">
                          <a:solidFill>
                            <a:srgbClr val="FFFFFF"/>
                          </a:solidFill>
                          <a:latin typeface="Calibri"/>
                        </a:rPr>
                        <a:t>Medio</a:t>
                      </a:r>
                    </a:p>
                  </a:txBody>
                  <a:tcPr marL="73152" marR="73152" marT="36576" marB="36576" anchor="ctr">
                    <a:solidFill>
                      <a:srgbClr val="7A0E1E"/>
                    </a:solidFill>
                  </a:tcPr>
                </a:tc>
                <a:tc>
                  <a:txBody>
                    <a:bodyPr wrap="square"/>
                    <a:lstStyle/>
                    <a:p>
                      <a:r>
                        <a:rPr sz="1150" b="1">
                          <a:solidFill>
                            <a:srgbClr val="FFFFFF"/>
                          </a:solidFill>
                          <a:latin typeface="Calibri"/>
                        </a:rPr>
                        <a:t>Forma publicitaria</a:t>
                      </a:r>
                    </a:p>
                  </a:txBody>
                  <a:tcPr marL="73152" marR="73152" marT="36576" marB="36576" anchor="ctr">
                    <a:solidFill>
                      <a:srgbClr val="7A0E1E"/>
                    </a:solidFill>
                  </a:tcPr>
                </a:tc>
                <a:tc>
                  <a:txBody>
                    <a:bodyPr wrap="square"/>
                    <a:lstStyle/>
                    <a:p>
                      <a:r>
                        <a:rPr sz="1150" b="1">
                          <a:solidFill>
                            <a:srgbClr val="FFFFFF"/>
                          </a:solidFill>
                          <a:latin typeface="Calibri"/>
                        </a:rPr>
                        <a:t>Cómo la reconocemos (rasgos)</a:t>
                      </a:r>
                    </a:p>
                  </a:txBody>
                  <a:tcPr marL="73152" marR="73152" marT="36576" marB="36576" anchor="ctr">
                    <a:solidFill>
                      <a:srgbClr val="7A0E1E"/>
                    </a:solidFill>
                  </a:tcPr>
                </a:tc>
              </a:tr>
              <a:tr h="484632">
                <a:tc>
                  <a:txBody>
                    <a:bodyPr wrap="square"/>
                    <a:lstStyle/>
                    <a:p>
                      <a:r>
                        <a:rPr sz="1150" b="1">
                          <a:solidFill>
                            <a:srgbClr val="7A0E1E"/>
                          </a:solidFill>
                          <a:latin typeface="Calibri"/>
                        </a:rPr>
                        <a:t>Televisión</a:t>
                      </a:r>
                    </a:p>
                  </a:txBody>
                  <a:tcPr marL="73152" marR="73152" marT="36576" marB="36576" anchor="ctr">
                    <a:solidFill>
                      <a:srgbClr val="ECDFC6"/>
                    </a:solidFill>
                  </a:tcPr>
                </a:tc>
                <a:tc>
                  <a:txBody>
                    <a:bodyPr wrap="square"/>
                    <a:lstStyle/>
                    <a:p>
                      <a:r>
                        <a:rPr sz="1150">
                          <a:solidFill>
                            <a:srgbClr val="2B1B16"/>
                          </a:solidFill>
                          <a:latin typeface="Calibri"/>
                        </a:rPr>
                        <a:t>Spot</a:t>
                      </a:r>
                    </a:p>
                  </a:txBody>
                  <a:tcPr marL="73152" marR="73152" marT="36576" marB="36576" anchor="ctr">
                    <a:solidFill>
                      <a:srgbClr val="ECDFC6"/>
                    </a:solidFill>
                  </a:tcPr>
                </a:tc>
                <a:tc>
                  <a:txBody>
                    <a:bodyPr wrap="square"/>
                    <a:lstStyle/>
                    <a:p>
                      <a:r>
                        <a:rPr sz="1150">
                          <a:solidFill>
                            <a:srgbClr val="2B1B16"/>
                          </a:solidFill>
                          <a:latin typeface="Calibri"/>
                        </a:rPr>
                        <a:t>Pieza audiovisual corta (20–60 s) emitida en los bloques de anuncios; cuenta una historia y cierra con la marca.</a:t>
                      </a:r>
                    </a:p>
                  </a:txBody>
                  <a:tcPr marL="73152" marR="73152" marT="36576" marB="36576" anchor="ctr">
                    <a:solidFill>
                      <a:srgbClr val="ECDFC6"/>
                    </a:solidFill>
                  </a:tcPr>
                </a:tc>
              </a:tr>
              <a:tr h="484632">
                <a:tc>
                  <a:txBody>
                    <a:bodyPr wrap="square"/>
                    <a:lstStyle/>
                    <a:p>
                      <a:r>
                        <a:rPr sz="1150" b="1">
                          <a:solidFill>
                            <a:srgbClr val="7A0E1E"/>
                          </a:solidFill>
                          <a:latin typeface="Calibri"/>
                        </a:rPr>
                        <a:t>Televisión</a:t>
                      </a:r>
                    </a:p>
                  </a:txBody>
                  <a:tcPr marL="73152" marR="73152" marT="36576" marB="36576" anchor="ctr">
                    <a:solidFill>
                      <a:srgbClr val="F7F0E3"/>
                    </a:solidFill>
                  </a:tcPr>
                </a:tc>
                <a:tc>
                  <a:txBody>
                    <a:bodyPr wrap="square"/>
                    <a:lstStyle/>
                    <a:p>
                      <a:r>
                        <a:rPr sz="1150">
                          <a:solidFill>
                            <a:srgbClr val="2B1B16"/>
                          </a:solidFill>
                          <a:latin typeface="Calibri"/>
                        </a:rPr>
                        <a:t>Patrocinio / product placement</a:t>
                      </a:r>
                    </a:p>
                  </a:txBody>
                  <a:tcPr marL="73152" marR="73152" marT="36576" marB="36576" anchor="ctr">
                    <a:solidFill>
                      <a:srgbClr val="F7F0E3"/>
                    </a:solidFill>
                  </a:tcPr>
                </a:tc>
                <a:tc>
                  <a:txBody>
                    <a:bodyPr wrap="square"/>
                    <a:lstStyle/>
                    <a:p>
                      <a:r>
                        <a:rPr sz="1150">
                          <a:solidFill>
                            <a:srgbClr val="2B1B16"/>
                          </a:solidFill>
                          <a:latin typeface="Calibri"/>
                        </a:rPr>
                        <a:t>La marca aparece dentro de un programa o evento, no en el bloque de anuncios.</a:t>
                      </a:r>
                    </a:p>
                  </a:txBody>
                  <a:tcPr marL="73152" marR="73152" marT="36576" marB="36576" anchor="ctr">
                    <a:solidFill>
                      <a:srgbClr val="F7F0E3"/>
                    </a:solidFill>
                  </a:tcPr>
                </a:tc>
              </a:tr>
              <a:tr h="484632">
                <a:tc>
                  <a:txBody>
                    <a:bodyPr wrap="square"/>
                    <a:lstStyle/>
                    <a:p>
                      <a:r>
                        <a:rPr sz="1150" b="1">
                          <a:solidFill>
                            <a:srgbClr val="7A0E1E"/>
                          </a:solidFill>
                          <a:latin typeface="Calibri"/>
                        </a:rPr>
                        <a:t>Radio</a:t>
                      </a:r>
                    </a:p>
                  </a:txBody>
                  <a:tcPr marL="73152" marR="73152" marT="36576" marB="36576" anchor="ctr">
                    <a:solidFill>
                      <a:srgbClr val="ECDFC6"/>
                    </a:solidFill>
                  </a:tcPr>
                </a:tc>
                <a:tc>
                  <a:txBody>
                    <a:bodyPr wrap="square"/>
                    <a:lstStyle/>
                    <a:p>
                      <a:r>
                        <a:rPr sz="1150">
                          <a:solidFill>
                            <a:srgbClr val="2B1B16"/>
                          </a:solidFill>
                          <a:latin typeface="Calibri"/>
                        </a:rPr>
                        <a:t>Cuña y mención</a:t>
                      </a:r>
                    </a:p>
                  </a:txBody>
                  <a:tcPr marL="73152" marR="73152" marT="36576" marB="36576" anchor="ctr">
                    <a:solidFill>
                      <a:srgbClr val="ECDFC6"/>
                    </a:solidFill>
                  </a:tcPr>
                </a:tc>
                <a:tc>
                  <a:txBody>
                    <a:bodyPr wrap="square"/>
                    <a:lstStyle/>
                    <a:p>
                      <a:r>
                        <a:rPr sz="1150">
                          <a:solidFill>
                            <a:srgbClr val="2B1B16"/>
                          </a:solidFill>
                          <a:latin typeface="Calibri"/>
                        </a:rPr>
                        <a:t>Cuña: anuncio grabado de 20–30 s. Mención: el locutor nombra la marca en directo.</a:t>
                      </a:r>
                    </a:p>
                  </a:txBody>
                  <a:tcPr marL="73152" marR="73152" marT="36576" marB="36576" anchor="ctr">
                    <a:solidFill>
                      <a:srgbClr val="ECDFC6"/>
                    </a:solidFill>
                  </a:tcPr>
                </a:tc>
              </a:tr>
              <a:tr h="484632">
                <a:tc>
                  <a:txBody>
                    <a:bodyPr wrap="square"/>
                    <a:lstStyle/>
                    <a:p>
                      <a:r>
                        <a:rPr sz="1150" b="1">
                          <a:solidFill>
                            <a:srgbClr val="7A0E1E"/>
                          </a:solidFill>
                          <a:latin typeface="Calibri"/>
                        </a:rPr>
                        <a:t>Prensa y revistas</a:t>
                      </a:r>
                    </a:p>
                  </a:txBody>
                  <a:tcPr marL="73152" marR="73152" marT="36576" marB="36576" anchor="ctr">
                    <a:solidFill>
                      <a:srgbClr val="F7F0E3"/>
                    </a:solidFill>
                  </a:tcPr>
                </a:tc>
                <a:tc>
                  <a:txBody>
                    <a:bodyPr wrap="square"/>
                    <a:lstStyle/>
                    <a:p>
                      <a:r>
                        <a:rPr sz="1150">
                          <a:solidFill>
                            <a:srgbClr val="2B1B16"/>
                          </a:solidFill>
                          <a:latin typeface="Calibri"/>
                        </a:rPr>
                        <a:t>Anuncio a página / faldón / encarte</a:t>
                      </a:r>
                    </a:p>
                  </a:txBody>
                  <a:tcPr marL="73152" marR="73152" marT="36576" marB="36576" anchor="ctr">
                    <a:solidFill>
                      <a:srgbClr val="F7F0E3"/>
                    </a:solidFill>
                  </a:tcPr>
                </a:tc>
                <a:tc>
                  <a:txBody>
                    <a:bodyPr wrap="square"/>
                    <a:lstStyle/>
                    <a:p>
                      <a:r>
                        <a:rPr sz="1150">
                          <a:solidFill>
                            <a:srgbClr val="2B1B16"/>
                          </a:solidFill>
                          <a:latin typeface="Calibri"/>
                        </a:rPr>
                        <a:t>Espacio comprado en la publicación; se mide por tamaño y posición (portada, contraportada…).</a:t>
                      </a:r>
                    </a:p>
                  </a:txBody>
                  <a:tcPr marL="73152" marR="73152" marT="36576" marB="36576" anchor="ctr">
                    <a:solidFill>
                      <a:srgbClr val="F7F0E3"/>
                    </a:solidFill>
                  </a:tcPr>
                </a:tc>
              </a:tr>
              <a:tr h="484632">
                <a:tc>
                  <a:txBody>
                    <a:bodyPr wrap="square"/>
                    <a:lstStyle/>
                    <a:p>
                      <a:r>
                        <a:rPr sz="1150" b="1">
                          <a:solidFill>
                            <a:srgbClr val="7A0E1E"/>
                          </a:solidFill>
                          <a:latin typeface="Calibri"/>
                        </a:rPr>
                        <a:t>Prensa y revistas</a:t>
                      </a:r>
                    </a:p>
                  </a:txBody>
                  <a:tcPr marL="73152" marR="73152" marT="36576" marB="36576" anchor="ctr">
                    <a:solidFill>
                      <a:srgbClr val="ECDFC6"/>
                    </a:solidFill>
                  </a:tcPr>
                </a:tc>
                <a:tc>
                  <a:txBody>
                    <a:bodyPr wrap="square"/>
                    <a:lstStyle/>
                    <a:p>
                      <a:r>
                        <a:rPr sz="1150">
                          <a:solidFill>
                            <a:srgbClr val="2B1B16"/>
                          </a:solidFill>
                          <a:latin typeface="Calibri"/>
                        </a:rPr>
                        <a:t>Publirreportaje</a:t>
                      </a:r>
                    </a:p>
                  </a:txBody>
                  <a:tcPr marL="73152" marR="73152" marT="36576" marB="36576" anchor="ctr">
                    <a:solidFill>
                      <a:srgbClr val="ECDFC6"/>
                    </a:solidFill>
                  </a:tcPr>
                </a:tc>
                <a:tc>
                  <a:txBody>
                    <a:bodyPr wrap="square"/>
                    <a:lstStyle/>
                    <a:p>
                      <a:r>
                        <a:rPr sz="1150">
                          <a:solidFill>
                            <a:srgbClr val="2B1B16"/>
                          </a:solidFill>
                          <a:latin typeface="Calibri"/>
                        </a:rPr>
                        <a:t>Parece un artículo pero lo paga la marca; debe indicarse «publicidad».</a:t>
                      </a:r>
                    </a:p>
                  </a:txBody>
                  <a:tcPr marL="73152" marR="73152" marT="36576" marB="36576" anchor="ctr">
                    <a:solidFill>
                      <a:srgbClr val="ECDFC6"/>
                    </a:solidFill>
                  </a:tcPr>
                </a:tc>
              </a:tr>
              <a:tr h="484632">
                <a:tc>
                  <a:txBody>
                    <a:bodyPr wrap="square"/>
                    <a:lstStyle/>
                    <a:p>
                      <a:r>
                        <a:rPr sz="1150" b="1">
                          <a:solidFill>
                            <a:srgbClr val="7A0E1E"/>
                          </a:solidFill>
                          <a:latin typeface="Calibri"/>
                        </a:rPr>
                        <a:t>Exterior</a:t>
                      </a:r>
                    </a:p>
                  </a:txBody>
                  <a:tcPr marL="73152" marR="73152" marT="36576" marB="36576" anchor="ctr">
                    <a:solidFill>
                      <a:srgbClr val="F7F0E3"/>
                    </a:solidFill>
                  </a:tcPr>
                </a:tc>
                <a:tc>
                  <a:txBody>
                    <a:bodyPr wrap="square"/>
                    <a:lstStyle/>
                    <a:p>
                      <a:r>
                        <a:rPr sz="1150">
                          <a:solidFill>
                            <a:srgbClr val="2B1B16"/>
                          </a:solidFill>
                          <a:latin typeface="Calibri"/>
                        </a:rPr>
                        <a:t>Valla, lona, mupi, marquesina</a:t>
                      </a:r>
                    </a:p>
                  </a:txBody>
                  <a:tcPr marL="73152" marR="73152" marT="36576" marB="36576" anchor="ctr">
                    <a:solidFill>
                      <a:srgbClr val="F7F0E3"/>
                    </a:solidFill>
                  </a:tcPr>
                </a:tc>
                <a:tc>
                  <a:txBody>
                    <a:bodyPr wrap="square"/>
                    <a:lstStyle/>
                    <a:p>
                      <a:r>
                        <a:rPr sz="1150">
                          <a:solidFill>
                            <a:srgbClr val="2B1B16"/>
                          </a:solidFill>
                          <a:latin typeface="Calibri"/>
                        </a:rPr>
                        <a:t>Soporte fijo en la calle; mensaje muy breve y visual porque se ve de pasada.</a:t>
                      </a:r>
                    </a:p>
                  </a:txBody>
                  <a:tcPr marL="73152" marR="73152" marT="36576" marB="36576" anchor="ctr">
                    <a:solidFill>
                      <a:srgbClr val="F7F0E3"/>
                    </a:solidFill>
                  </a:tcPr>
                </a:tc>
              </a:tr>
              <a:tr h="484632">
                <a:tc>
                  <a:txBody>
                    <a:bodyPr wrap="square"/>
                    <a:lstStyle/>
                    <a:p>
                      <a:r>
                        <a:rPr sz="1150" b="1">
                          <a:solidFill>
                            <a:srgbClr val="7A0E1E"/>
                          </a:solidFill>
                          <a:latin typeface="Calibri"/>
                        </a:rPr>
                        <a:t>Exterior / no convencional</a:t>
                      </a:r>
                    </a:p>
                  </a:txBody>
                  <a:tcPr marL="73152" marR="73152" marT="36576" marB="36576" anchor="ctr">
                    <a:solidFill>
                      <a:srgbClr val="ECDFC6"/>
                    </a:solidFill>
                  </a:tcPr>
                </a:tc>
                <a:tc>
                  <a:txBody>
                    <a:bodyPr wrap="square"/>
                    <a:lstStyle/>
                    <a:p>
                      <a:r>
                        <a:rPr sz="1150">
                          <a:solidFill>
                            <a:srgbClr val="2B1B16"/>
                          </a:solidFill>
                          <a:latin typeface="Calibri"/>
                        </a:rPr>
                        <a:t>Street o guerrilla marketing</a:t>
                      </a:r>
                    </a:p>
                  </a:txBody>
                  <a:tcPr marL="73152" marR="73152" marT="36576" marB="36576" anchor="ctr">
                    <a:solidFill>
                      <a:srgbClr val="ECDFC6"/>
                    </a:solidFill>
                  </a:tcPr>
                </a:tc>
                <a:tc>
                  <a:txBody>
                    <a:bodyPr wrap="square"/>
                    <a:lstStyle/>
                    <a:p>
                      <a:r>
                        <a:rPr sz="1150">
                          <a:solidFill>
                            <a:srgbClr val="2B1B16"/>
                          </a:solidFill>
                          <a:latin typeface="Calibri"/>
                        </a:rPr>
                        <a:t>Acción sorprendente en la calle, de bajo coste, pensada para que la gente la comparta.</a:t>
                      </a:r>
                    </a:p>
                  </a:txBody>
                  <a:tcPr marL="73152" marR="73152" marT="36576" marB="36576" anchor="ctr">
                    <a:solidFill>
                      <a:srgbClr val="ECDFC6"/>
                    </a:solidFill>
                  </a:tcPr>
                </a:tc>
              </a:tr>
              <a:tr h="484632">
                <a:tc>
                  <a:txBody>
                    <a:bodyPr wrap="square"/>
                    <a:lstStyle/>
                    <a:p>
                      <a:r>
                        <a:rPr sz="1150" b="1">
                          <a:solidFill>
                            <a:srgbClr val="7A0E1E"/>
                          </a:solidFill>
                          <a:latin typeface="Calibri"/>
                        </a:rPr>
                        <a:t>Digital</a:t>
                      </a:r>
                    </a:p>
                  </a:txBody>
                  <a:tcPr marL="73152" marR="73152" marT="36576" marB="36576" anchor="ctr">
                    <a:solidFill>
                      <a:srgbClr val="F7F0E3"/>
                    </a:solidFill>
                  </a:tcPr>
                </a:tc>
                <a:tc>
                  <a:txBody>
                    <a:bodyPr wrap="square"/>
                    <a:lstStyle/>
                    <a:p>
                      <a:r>
                        <a:rPr sz="1150">
                          <a:solidFill>
                            <a:srgbClr val="2B1B16"/>
                          </a:solidFill>
                          <a:latin typeface="Calibri"/>
                        </a:rPr>
                        <a:t>Vídeo online, post en redes, earned media</a:t>
                      </a:r>
                    </a:p>
                  </a:txBody>
                  <a:tcPr marL="73152" marR="73152" marT="36576" marB="36576" anchor="ctr">
                    <a:solidFill>
                      <a:srgbClr val="F7F0E3"/>
                    </a:solidFill>
                  </a:tcPr>
                </a:tc>
                <a:tc>
                  <a:txBody>
                    <a:bodyPr wrap="square"/>
                    <a:lstStyle/>
                    <a:p>
                      <a:r>
                        <a:rPr sz="1150">
                          <a:solidFill>
                            <a:srgbClr val="2B1B16"/>
                          </a:solidFill>
                          <a:latin typeface="Calibri"/>
                        </a:rPr>
                        <a:t>Lo que la marca publica en sus redes y lo que medios y usuarios difunden gratis.</a:t>
                      </a:r>
                    </a:p>
                  </a:txBody>
                  <a:tcPr marL="73152" marR="73152" marT="36576" marB="36576" anchor="ctr">
                    <a:solidFill>
                      <a:srgbClr val="F7F0E3"/>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02 · FASE 1 · LIBRO</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Nuestro esquema: dónde se coloca cada anuncio</a:t>
            </a:r>
          </a:p>
        </p:txBody>
      </p:sp>
      <p:sp>
        <p:nvSpPr>
          <p:cNvPr id="5" name="TextBox 4"/>
          <p:cNvSpPr txBox="1"/>
          <p:nvPr/>
        </p:nvSpPr>
        <p:spPr>
          <a:xfrm>
            <a:off x="548640" y="1261872"/>
            <a:ext cx="11064240" cy="365760"/>
          </a:xfrm>
          <a:prstGeom prst="rect">
            <a:avLst/>
          </a:prstGeom>
          <a:noFill/>
        </p:spPr>
        <p:txBody>
          <a:bodyPr wrap="square" anchor="t" lIns="0" rIns="0" tIns="0" bIns="0">
            <a:spAutoFit/>
          </a:bodyPr>
          <a:lstStyle/>
          <a:p>
            <a:pPr algn="l">
              <a:lnSpc>
                <a:spcPct val="110000"/>
              </a:lnSpc>
            </a:pPr>
            <a:r>
              <a:rPr sz="1400" b="0" i="1">
                <a:solidFill>
                  <a:srgbClr val="6E5A4E"/>
                </a:solidFill>
                <a:latin typeface="Calibri"/>
              </a:rPr>
              <a:t>Elaboración propia a partir del apartado 1.12</a:t>
            </a:r>
          </a:p>
        </p:txBody>
      </p:sp>
      <p:sp>
        <p:nvSpPr>
          <p:cNvPr id="6" name="Rectangle 5"/>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8" name="TextBox 7"/>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07</a:t>
            </a:r>
          </a:p>
        </p:txBody>
      </p:sp>
      <p:sp>
        <p:nvSpPr>
          <p:cNvPr id="9" name="Rectangle 8"/>
          <p:cNvSpPr/>
          <p:nvPr/>
        </p:nvSpPr>
        <p:spPr>
          <a:xfrm>
            <a:off x="548640" y="1783080"/>
            <a:ext cx="5394960" cy="4434840"/>
          </a:xfrm>
          <a:prstGeom prst="rect">
            <a:avLst/>
          </a:prstGeom>
          <a:solidFill>
            <a:srgbClr val="7A0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965960"/>
            <a:ext cx="4846320" cy="365760"/>
          </a:xfrm>
          <a:prstGeom prst="rect">
            <a:avLst/>
          </a:prstGeom>
          <a:noFill/>
        </p:spPr>
        <p:txBody>
          <a:bodyPr wrap="square" anchor="t" lIns="0" rIns="0" tIns="0" bIns="0">
            <a:spAutoFit/>
          </a:bodyPr>
          <a:lstStyle/>
          <a:p>
            <a:pPr algn="l">
              <a:lnSpc>
                <a:spcPct val="110000"/>
              </a:lnSpc>
            </a:pPr>
            <a:r>
              <a:rPr sz="1200" b="1" i="0">
                <a:solidFill>
                  <a:srgbClr val="ECDFC6"/>
                </a:solidFill>
                <a:latin typeface="Calibri"/>
              </a:rPr>
              <a:t>MEDIOS CONVENCIONALES («above the line»)</a:t>
            </a:r>
          </a:p>
        </p:txBody>
      </p:sp>
      <p:sp>
        <p:nvSpPr>
          <p:cNvPr id="11" name="TextBox 10"/>
          <p:cNvSpPr txBox="1"/>
          <p:nvPr/>
        </p:nvSpPr>
        <p:spPr>
          <a:xfrm>
            <a:off x="822960" y="2377440"/>
            <a:ext cx="4846320" cy="822960"/>
          </a:xfrm>
          <a:prstGeom prst="rect">
            <a:avLst/>
          </a:prstGeom>
          <a:noFill/>
        </p:spPr>
        <p:txBody>
          <a:bodyPr wrap="square" anchor="t" lIns="0" rIns="0" tIns="0" bIns="0">
            <a:spAutoFit/>
          </a:bodyPr>
          <a:lstStyle/>
          <a:p>
            <a:pPr algn="l">
              <a:lnSpc>
                <a:spcPct val="110000"/>
              </a:lnSpc>
            </a:pPr>
            <a:r>
              <a:rPr sz="2000" b="1" i="0">
                <a:solidFill>
                  <a:srgbClr val="F7F0E3"/>
                </a:solidFill>
                <a:latin typeface="Cambria"/>
              </a:rPr>
              <a:t>Prensa · Revistas · Radio · Televisión · Exterior</a:t>
            </a:r>
          </a:p>
        </p:txBody>
      </p:sp>
      <p:sp>
        <p:nvSpPr>
          <p:cNvPr id="12" name="TextBox 11"/>
          <p:cNvSpPr txBox="1"/>
          <p:nvPr/>
        </p:nvSpPr>
        <p:spPr>
          <a:xfrm>
            <a:off x="822960" y="3246120"/>
            <a:ext cx="4846320" cy="2834640"/>
          </a:xfrm>
          <a:prstGeom prst="rect">
            <a:avLst/>
          </a:prstGeom>
          <a:noFill/>
        </p:spPr>
        <p:txBody>
          <a:bodyPr wrap="square" lIns="0" rIns="0" tIns="0" bIns="0">
            <a:spAutoFit/>
          </a:bodyPr>
          <a:lstStyle/>
          <a:p>
            <a:pPr>
              <a:lnSpc>
                <a:spcPct val="108000"/>
              </a:lnSpc>
              <a:spcAft>
                <a:spcPts val="500"/>
              </a:spcAft>
            </a:pPr>
            <a:r>
              <a:rPr sz="900">
                <a:solidFill>
                  <a:srgbClr val="C8102E"/>
                </a:solidFill>
                <a:latin typeface="Calibri"/>
              </a:rPr>
              <a:t>■  </a:t>
            </a:r>
            <a:r>
              <a:rPr sz="1300" b="0" i="0">
                <a:solidFill>
                  <a:srgbClr val="F7F0E3"/>
                </a:solidFill>
                <a:latin typeface="Calibri"/>
              </a:rPr>
              <a:t>La marca compra espacio en un medio que no es suyo.</a:t>
            </a:r>
          </a:p>
          <a:p>
            <a:pPr>
              <a:lnSpc>
                <a:spcPct val="108000"/>
              </a:lnSpc>
              <a:spcAft>
                <a:spcPts val="500"/>
              </a:spcAft>
            </a:pPr>
            <a:r>
              <a:rPr sz="900">
                <a:solidFill>
                  <a:srgbClr val="C8102E"/>
                </a:solidFill>
                <a:latin typeface="Calibri"/>
              </a:rPr>
              <a:t>■  </a:t>
            </a:r>
            <a:r>
              <a:rPr sz="1300" b="0" i="0">
                <a:solidFill>
                  <a:srgbClr val="F7F0E3"/>
                </a:solidFill>
                <a:latin typeface="Calibri"/>
              </a:rPr>
              <a:t>Llegan a mucha gente a la vez → sirven para dar notoriedad.</a:t>
            </a:r>
          </a:p>
          <a:p>
            <a:pPr>
              <a:lnSpc>
                <a:spcPct val="108000"/>
              </a:lnSpc>
              <a:spcAft>
                <a:spcPts val="500"/>
              </a:spcAft>
            </a:pPr>
            <a:r>
              <a:rPr sz="900">
                <a:solidFill>
                  <a:srgbClr val="C8102E"/>
                </a:solidFill>
                <a:latin typeface="Calibri"/>
              </a:rPr>
              <a:t>■  </a:t>
            </a:r>
            <a:r>
              <a:rPr sz="1300" b="0" i="0">
                <a:solidFill>
                  <a:srgbClr val="F7F0E3"/>
                </a:solidFill>
                <a:latin typeface="Calibri"/>
              </a:rPr>
              <a:t>Comunicación en una sola dirección: el público solo recibe.</a:t>
            </a:r>
          </a:p>
          <a:p>
            <a:pPr>
              <a:lnSpc>
                <a:spcPct val="108000"/>
              </a:lnSpc>
              <a:spcAft>
                <a:spcPts val="500"/>
              </a:spcAft>
            </a:pPr>
            <a:r>
              <a:rPr sz="900">
                <a:solidFill>
                  <a:srgbClr val="C8102E"/>
                </a:solidFill>
                <a:latin typeface="Calibri"/>
              </a:rPr>
              <a:t>■  </a:t>
            </a:r>
            <a:r>
              <a:rPr sz="1300" b="1" i="0">
                <a:solidFill>
                  <a:srgbClr val="ECDFC6"/>
                </a:solidFill>
                <a:latin typeface="Calibri"/>
              </a:rPr>
              <a:t>Ejemplo en Cruzcampo: </a:t>
            </a:r>
            <a:r>
              <a:rPr sz="1300" b="0" i="0">
                <a:solidFill>
                  <a:srgbClr val="F7F0E3"/>
                </a:solidFill>
                <a:latin typeface="Calibri"/>
              </a:rPr>
              <a:t>el spot «Lola» (TV, 2021).</a:t>
            </a:r>
          </a:p>
        </p:txBody>
      </p:sp>
      <p:sp>
        <p:nvSpPr>
          <p:cNvPr id="13" name="Rectangle 12"/>
          <p:cNvSpPr/>
          <p:nvPr/>
        </p:nvSpPr>
        <p:spPr>
          <a:xfrm>
            <a:off x="6245352" y="1783080"/>
            <a:ext cx="5394960" cy="443484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1965960"/>
            <a:ext cx="4846320" cy="365760"/>
          </a:xfrm>
          <a:prstGeom prst="rect">
            <a:avLst/>
          </a:prstGeom>
          <a:noFill/>
        </p:spPr>
        <p:txBody>
          <a:bodyPr wrap="square" anchor="t" lIns="0" rIns="0" tIns="0" bIns="0">
            <a:spAutoFit/>
          </a:bodyPr>
          <a:lstStyle/>
          <a:p>
            <a:pPr algn="l">
              <a:lnSpc>
                <a:spcPct val="110000"/>
              </a:lnSpc>
            </a:pPr>
            <a:r>
              <a:rPr sz="1200" b="1" i="0">
                <a:solidFill>
                  <a:srgbClr val="C8102E"/>
                </a:solidFill>
                <a:latin typeface="Calibri"/>
              </a:rPr>
              <a:t>MEDIOS NO CONVENCIONALES («below the line»)</a:t>
            </a:r>
          </a:p>
        </p:txBody>
      </p:sp>
      <p:sp>
        <p:nvSpPr>
          <p:cNvPr id="15" name="TextBox 14"/>
          <p:cNvSpPr txBox="1"/>
          <p:nvPr/>
        </p:nvSpPr>
        <p:spPr>
          <a:xfrm>
            <a:off x="6519672" y="2377440"/>
            <a:ext cx="4846320" cy="822960"/>
          </a:xfrm>
          <a:prstGeom prst="rect">
            <a:avLst/>
          </a:prstGeom>
          <a:noFill/>
        </p:spPr>
        <p:txBody>
          <a:bodyPr wrap="square" anchor="t" lIns="0" rIns="0" tIns="0" bIns="0">
            <a:spAutoFit/>
          </a:bodyPr>
          <a:lstStyle/>
          <a:p>
            <a:pPr algn="l">
              <a:lnSpc>
                <a:spcPct val="110000"/>
              </a:lnSpc>
            </a:pPr>
            <a:r>
              <a:rPr sz="2000" b="1" i="0">
                <a:solidFill>
                  <a:srgbClr val="7A0E1E"/>
                </a:solidFill>
                <a:latin typeface="Cambria"/>
              </a:rPr>
              <a:t>Guerrilla · Eventos · Patrocinio · Redes</a:t>
            </a:r>
          </a:p>
        </p:txBody>
      </p:sp>
      <p:sp>
        <p:nvSpPr>
          <p:cNvPr id="16" name="TextBox 15"/>
          <p:cNvSpPr txBox="1"/>
          <p:nvPr/>
        </p:nvSpPr>
        <p:spPr>
          <a:xfrm>
            <a:off x="6519672" y="3246120"/>
            <a:ext cx="4846320" cy="2834640"/>
          </a:xfrm>
          <a:prstGeom prst="rect">
            <a:avLst/>
          </a:prstGeom>
          <a:noFill/>
        </p:spPr>
        <p:txBody>
          <a:bodyPr wrap="square" lIns="0" rIns="0" tIns="0" bIns="0">
            <a:spAutoFit/>
          </a:bodyPr>
          <a:lstStyle/>
          <a:p>
            <a:pPr>
              <a:lnSpc>
                <a:spcPct val="108000"/>
              </a:lnSpc>
              <a:spcAft>
                <a:spcPts val="500"/>
              </a:spcAft>
            </a:pPr>
            <a:r>
              <a:rPr sz="900">
                <a:solidFill>
                  <a:srgbClr val="C8102E"/>
                </a:solidFill>
                <a:latin typeface="Calibri"/>
              </a:rPr>
              <a:t>■  </a:t>
            </a:r>
            <a:r>
              <a:rPr sz="1300" b="0" i="0">
                <a:solidFill>
                  <a:srgbClr val="2B1B16"/>
                </a:solidFill>
                <a:latin typeface="Calibri"/>
              </a:rPr>
              <a:t>Acciones más directas, creativas y, a menudo, más baratas.</a:t>
            </a:r>
          </a:p>
          <a:p>
            <a:pPr>
              <a:lnSpc>
                <a:spcPct val="108000"/>
              </a:lnSpc>
              <a:spcAft>
                <a:spcPts val="500"/>
              </a:spcAft>
            </a:pPr>
            <a:r>
              <a:rPr sz="900">
                <a:solidFill>
                  <a:srgbClr val="C8102E"/>
                </a:solidFill>
                <a:latin typeface="Calibri"/>
              </a:rPr>
              <a:t>■  </a:t>
            </a:r>
            <a:r>
              <a:rPr sz="1300" b="0" i="0">
                <a:solidFill>
                  <a:srgbClr val="2B1B16"/>
                </a:solidFill>
                <a:latin typeface="Calibri"/>
              </a:rPr>
              <a:t>Buscan que el público participe y lo comparta.</a:t>
            </a:r>
          </a:p>
          <a:p>
            <a:pPr>
              <a:lnSpc>
                <a:spcPct val="108000"/>
              </a:lnSpc>
              <a:spcAft>
                <a:spcPts val="500"/>
              </a:spcAft>
            </a:pPr>
            <a:r>
              <a:rPr sz="900">
                <a:solidFill>
                  <a:srgbClr val="C8102E"/>
                </a:solidFill>
                <a:latin typeface="Calibri"/>
              </a:rPr>
              <a:t>■  </a:t>
            </a:r>
            <a:r>
              <a:rPr sz="1300" b="0" i="0">
                <a:solidFill>
                  <a:srgbClr val="2B1B16"/>
                </a:solidFill>
                <a:latin typeface="Calibri"/>
              </a:rPr>
              <a:t>Lo que la gente y los medios difunden gratis se llama earned media.</a:t>
            </a:r>
          </a:p>
          <a:p>
            <a:pPr>
              <a:lnSpc>
                <a:spcPct val="108000"/>
              </a:lnSpc>
              <a:spcAft>
                <a:spcPts val="500"/>
              </a:spcAft>
            </a:pPr>
            <a:r>
              <a:rPr sz="900">
                <a:solidFill>
                  <a:srgbClr val="C8102E"/>
                </a:solidFill>
                <a:latin typeface="Calibri"/>
              </a:rPr>
              <a:t>■  </a:t>
            </a:r>
            <a:r>
              <a:rPr sz="1300" b="1" i="0">
                <a:solidFill>
                  <a:srgbClr val="C8102E"/>
                </a:solidFill>
                <a:latin typeface="Calibri"/>
              </a:rPr>
              <a:t>Ejemplo en Cruzcampo: </a:t>
            </a:r>
            <a:r>
              <a:rPr sz="1300" b="0" i="0">
                <a:solidFill>
                  <a:srgbClr val="2B1B16"/>
                </a:solidFill>
                <a:latin typeface="Calibri"/>
              </a:rPr>
              <a:t>las lonas «Tú tan de Berlín» en balcones de Sevilla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03 · FASE 2 · INVESTIGACIÓN</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Mapa de medios: dónde aparece Cruzcampo</a:t>
            </a:r>
          </a:p>
        </p:txBody>
      </p:sp>
      <p:sp>
        <p:nvSpPr>
          <p:cNvPr id="5" name="TextBox 4"/>
          <p:cNvSpPr txBox="1"/>
          <p:nvPr/>
        </p:nvSpPr>
        <p:spPr>
          <a:xfrm>
            <a:off x="548640" y="1261872"/>
            <a:ext cx="11064240" cy="365760"/>
          </a:xfrm>
          <a:prstGeom prst="rect">
            <a:avLst/>
          </a:prstGeom>
          <a:noFill/>
        </p:spPr>
        <p:txBody>
          <a:bodyPr wrap="square" anchor="t" lIns="0" rIns="0" tIns="0" bIns="0">
            <a:spAutoFit/>
          </a:bodyPr>
          <a:lstStyle/>
          <a:p>
            <a:pPr algn="l">
              <a:lnSpc>
                <a:spcPct val="110000"/>
              </a:lnSpc>
            </a:pPr>
            <a:r>
              <a:rPr sz="1400" b="0" i="1">
                <a:solidFill>
                  <a:srgbClr val="6E5A4E"/>
                </a:solidFill>
                <a:latin typeface="Calibri"/>
              </a:rPr>
              <a:t>Verde = lo hemos verificado con una fuente. Gris = no hemos encontrado pieza concreta.</a:t>
            </a:r>
          </a:p>
        </p:txBody>
      </p:sp>
      <p:sp>
        <p:nvSpPr>
          <p:cNvPr id="6" name="Rectangle 5"/>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8" name="TextBox 7"/>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08</a:t>
            </a:r>
          </a:p>
        </p:txBody>
      </p:sp>
      <p:sp>
        <p:nvSpPr>
          <p:cNvPr id="9" name="Rectangle 8"/>
          <p:cNvSpPr/>
          <p:nvPr/>
        </p:nvSpPr>
        <p:spPr>
          <a:xfrm>
            <a:off x="548640" y="1783080"/>
            <a:ext cx="11091672" cy="566928"/>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109728" cy="566928"/>
          </a:xfrm>
          <a:prstGeom prst="rect">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83080"/>
            <a:ext cx="2286000" cy="566928"/>
          </a:xfrm>
          <a:prstGeom prst="rect">
            <a:avLst/>
          </a:prstGeom>
          <a:noFill/>
        </p:spPr>
        <p:txBody>
          <a:bodyPr wrap="square" anchor="ctr" lIns="0" rIns="0" tIns="0" bIns="0">
            <a:spAutoFit/>
          </a:bodyPr>
          <a:lstStyle/>
          <a:p>
            <a:pPr algn="l">
              <a:lnSpc>
                <a:spcPct val="110000"/>
              </a:lnSpc>
            </a:pPr>
            <a:r>
              <a:rPr sz="1500" b="1" i="0">
                <a:solidFill>
                  <a:srgbClr val="7A0E1E"/>
                </a:solidFill>
                <a:latin typeface="Cambria"/>
              </a:rPr>
              <a:t>Televisión</a:t>
            </a:r>
          </a:p>
        </p:txBody>
      </p:sp>
      <p:sp>
        <p:nvSpPr>
          <p:cNvPr id="12" name="TextBox 11"/>
          <p:cNvSpPr txBox="1"/>
          <p:nvPr/>
        </p:nvSpPr>
        <p:spPr>
          <a:xfrm>
            <a:off x="3017520" y="1783080"/>
            <a:ext cx="1645920" cy="566928"/>
          </a:xfrm>
          <a:prstGeom prst="rect">
            <a:avLst/>
          </a:prstGeom>
          <a:noFill/>
        </p:spPr>
        <p:txBody>
          <a:bodyPr wrap="square" anchor="ctr" lIns="0" rIns="0" tIns="0" bIns="0">
            <a:spAutoFit/>
          </a:bodyPr>
          <a:lstStyle/>
          <a:p>
            <a:pPr algn="l">
              <a:lnSpc>
                <a:spcPct val="110000"/>
              </a:lnSpc>
            </a:pPr>
            <a:r>
              <a:rPr sz="950" b="1" i="0">
                <a:solidFill>
                  <a:srgbClr val="2F6B3A"/>
                </a:solidFill>
                <a:latin typeface="Calibri"/>
              </a:rPr>
              <a:t>VERIFICADO</a:t>
            </a:r>
          </a:p>
        </p:txBody>
      </p:sp>
      <p:sp>
        <p:nvSpPr>
          <p:cNvPr id="13" name="TextBox 12"/>
          <p:cNvSpPr txBox="1"/>
          <p:nvPr/>
        </p:nvSpPr>
        <p:spPr>
          <a:xfrm>
            <a:off x="4663440" y="1783080"/>
            <a:ext cx="6858000" cy="566928"/>
          </a:xfrm>
          <a:prstGeom prst="rect">
            <a:avLst/>
          </a:prstGeom>
          <a:noFill/>
        </p:spPr>
        <p:txBody>
          <a:bodyPr wrap="square" anchor="ctr" lIns="0" rIns="0" tIns="0" bIns="0">
            <a:spAutoFit/>
          </a:bodyPr>
          <a:lstStyle/>
          <a:p>
            <a:pPr algn="l">
              <a:lnSpc>
                <a:spcPct val="110000"/>
              </a:lnSpc>
            </a:pPr>
            <a:r>
              <a:rPr sz="1150" b="0" i="0">
                <a:solidFill>
                  <a:srgbClr val="2B1B16"/>
                </a:solidFill>
                <a:latin typeface="Calibri"/>
              </a:rPr>
              <a:t>Spots «Lola» (2021), «Gitana» (2024) y «Libera lo que sientes» (2018).</a:t>
            </a:r>
          </a:p>
        </p:txBody>
      </p:sp>
      <p:sp>
        <p:nvSpPr>
          <p:cNvPr id="14" name="Rectangle 13"/>
          <p:cNvSpPr/>
          <p:nvPr/>
        </p:nvSpPr>
        <p:spPr>
          <a:xfrm>
            <a:off x="548640" y="2423160"/>
            <a:ext cx="11091672" cy="566928"/>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3160"/>
            <a:ext cx="109728" cy="566928"/>
          </a:xfrm>
          <a:prstGeom prst="rect">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423160"/>
            <a:ext cx="2286000" cy="566928"/>
          </a:xfrm>
          <a:prstGeom prst="rect">
            <a:avLst/>
          </a:prstGeom>
          <a:noFill/>
        </p:spPr>
        <p:txBody>
          <a:bodyPr wrap="square" anchor="ctr" lIns="0" rIns="0" tIns="0" bIns="0">
            <a:spAutoFit/>
          </a:bodyPr>
          <a:lstStyle/>
          <a:p>
            <a:pPr algn="l">
              <a:lnSpc>
                <a:spcPct val="110000"/>
              </a:lnSpc>
            </a:pPr>
            <a:r>
              <a:rPr sz="1500" b="1" i="0">
                <a:solidFill>
                  <a:srgbClr val="7A0E1E"/>
                </a:solidFill>
                <a:latin typeface="Cambria"/>
              </a:rPr>
              <a:t>Exterior</a:t>
            </a:r>
          </a:p>
        </p:txBody>
      </p:sp>
      <p:sp>
        <p:nvSpPr>
          <p:cNvPr id="17" name="TextBox 16"/>
          <p:cNvSpPr txBox="1"/>
          <p:nvPr/>
        </p:nvSpPr>
        <p:spPr>
          <a:xfrm>
            <a:off x="3017520" y="2423160"/>
            <a:ext cx="1645920" cy="566928"/>
          </a:xfrm>
          <a:prstGeom prst="rect">
            <a:avLst/>
          </a:prstGeom>
          <a:noFill/>
        </p:spPr>
        <p:txBody>
          <a:bodyPr wrap="square" anchor="ctr" lIns="0" rIns="0" tIns="0" bIns="0">
            <a:spAutoFit/>
          </a:bodyPr>
          <a:lstStyle/>
          <a:p>
            <a:pPr algn="l">
              <a:lnSpc>
                <a:spcPct val="110000"/>
              </a:lnSpc>
            </a:pPr>
            <a:r>
              <a:rPr sz="950" b="1" i="0">
                <a:solidFill>
                  <a:srgbClr val="2F6B3A"/>
                </a:solidFill>
                <a:latin typeface="Calibri"/>
              </a:rPr>
              <a:t>VERIFICADO</a:t>
            </a:r>
          </a:p>
        </p:txBody>
      </p:sp>
      <p:sp>
        <p:nvSpPr>
          <p:cNvPr id="18" name="TextBox 17"/>
          <p:cNvSpPr txBox="1"/>
          <p:nvPr/>
        </p:nvSpPr>
        <p:spPr>
          <a:xfrm>
            <a:off x="4663440" y="2423160"/>
            <a:ext cx="6858000" cy="566928"/>
          </a:xfrm>
          <a:prstGeom prst="rect">
            <a:avLst/>
          </a:prstGeom>
          <a:noFill/>
        </p:spPr>
        <p:txBody>
          <a:bodyPr wrap="square" anchor="ctr" lIns="0" rIns="0" tIns="0" bIns="0">
            <a:spAutoFit/>
          </a:bodyPr>
          <a:lstStyle/>
          <a:p>
            <a:pPr algn="l">
              <a:lnSpc>
                <a:spcPct val="110000"/>
              </a:lnSpc>
            </a:pPr>
            <a:r>
              <a:rPr sz="1150" b="0" i="0">
                <a:solidFill>
                  <a:srgbClr val="2B1B16"/>
                </a:solidFill>
                <a:latin typeface="Calibri"/>
              </a:rPr>
              <a:t>Lonas en balcones de Sevilla (2026); muñeca gigante en Callao, Madrid (2024); lona en la Plaza de la Hispanidad, Cádiz (2025).</a:t>
            </a:r>
          </a:p>
        </p:txBody>
      </p:sp>
      <p:sp>
        <p:nvSpPr>
          <p:cNvPr id="19" name="Rectangle 18"/>
          <p:cNvSpPr/>
          <p:nvPr/>
        </p:nvSpPr>
        <p:spPr>
          <a:xfrm>
            <a:off x="548640" y="3063240"/>
            <a:ext cx="11091672" cy="566928"/>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063240"/>
            <a:ext cx="109728" cy="566928"/>
          </a:xfrm>
          <a:prstGeom prst="rect">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063240"/>
            <a:ext cx="2286000" cy="566928"/>
          </a:xfrm>
          <a:prstGeom prst="rect">
            <a:avLst/>
          </a:prstGeom>
          <a:noFill/>
        </p:spPr>
        <p:txBody>
          <a:bodyPr wrap="square" anchor="ctr" lIns="0" rIns="0" tIns="0" bIns="0">
            <a:spAutoFit/>
          </a:bodyPr>
          <a:lstStyle/>
          <a:p>
            <a:pPr algn="l">
              <a:lnSpc>
                <a:spcPct val="110000"/>
              </a:lnSpc>
            </a:pPr>
            <a:r>
              <a:rPr sz="1500" b="1" i="0">
                <a:solidFill>
                  <a:srgbClr val="7A0E1E"/>
                </a:solidFill>
                <a:latin typeface="Cambria"/>
              </a:rPr>
              <a:t>Redes sociales</a:t>
            </a:r>
          </a:p>
        </p:txBody>
      </p:sp>
      <p:sp>
        <p:nvSpPr>
          <p:cNvPr id="22" name="TextBox 21"/>
          <p:cNvSpPr txBox="1"/>
          <p:nvPr/>
        </p:nvSpPr>
        <p:spPr>
          <a:xfrm>
            <a:off x="3017520" y="3063240"/>
            <a:ext cx="1645920" cy="566928"/>
          </a:xfrm>
          <a:prstGeom prst="rect">
            <a:avLst/>
          </a:prstGeom>
          <a:noFill/>
        </p:spPr>
        <p:txBody>
          <a:bodyPr wrap="square" anchor="ctr" lIns="0" rIns="0" tIns="0" bIns="0">
            <a:spAutoFit/>
          </a:bodyPr>
          <a:lstStyle/>
          <a:p>
            <a:pPr algn="l">
              <a:lnSpc>
                <a:spcPct val="110000"/>
              </a:lnSpc>
            </a:pPr>
            <a:r>
              <a:rPr sz="950" b="1" i="0">
                <a:solidFill>
                  <a:srgbClr val="2F6B3A"/>
                </a:solidFill>
                <a:latin typeface="Calibri"/>
              </a:rPr>
              <a:t>VERIFICADO</a:t>
            </a:r>
          </a:p>
        </p:txBody>
      </p:sp>
      <p:sp>
        <p:nvSpPr>
          <p:cNvPr id="23" name="TextBox 22"/>
          <p:cNvSpPr txBox="1"/>
          <p:nvPr/>
        </p:nvSpPr>
        <p:spPr>
          <a:xfrm>
            <a:off x="4663440" y="3063240"/>
            <a:ext cx="6858000" cy="566928"/>
          </a:xfrm>
          <a:prstGeom prst="rect">
            <a:avLst/>
          </a:prstGeom>
          <a:noFill/>
        </p:spPr>
        <p:txBody>
          <a:bodyPr wrap="square" anchor="ctr" lIns="0" rIns="0" tIns="0" bIns="0">
            <a:spAutoFit/>
          </a:bodyPr>
          <a:lstStyle/>
          <a:p>
            <a:pPr algn="l">
              <a:lnSpc>
                <a:spcPct val="110000"/>
              </a:lnSpc>
            </a:pPr>
            <a:r>
              <a:rPr sz="1150" b="0" i="0">
                <a:solidFill>
                  <a:srgbClr val="2B1B16"/>
                </a:solidFill>
                <a:latin typeface="Calibri"/>
              </a:rPr>
              <a:t>Respuesta «Tú tan de Berlín. Yo tan de Sevilla» (2026); difusión de sus spots.</a:t>
            </a:r>
          </a:p>
        </p:txBody>
      </p:sp>
      <p:sp>
        <p:nvSpPr>
          <p:cNvPr id="24" name="Rectangle 23"/>
          <p:cNvSpPr/>
          <p:nvPr/>
        </p:nvSpPr>
        <p:spPr>
          <a:xfrm>
            <a:off x="548640" y="3703320"/>
            <a:ext cx="11091672" cy="566928"/>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703320"/>
            <a:ext cx="109728" cy="566928"/>
          </a:xfrm>
          <a:prstGeom prst="rect">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703320"/>
            <a:ext cx="2286000" cy="566928"/>
          </a:xfrm>
          <a:prstGeom prst="rect">
            <a:avLst/>
          </a:prstGeom>
          <a:noFill/>
        </p:spPr>
        <p:txBody>
          <a:bodyPr wrap="square" anchor="ctr" lIns="0" rIns="0" tIns="0" bIns="0">
            <a:spAutoFit/>
          </a:bodyPr>
          <a:lstStyle/>
          <a:p>
            <a:pPr algn="l">
              <a:lnSpc>
                <a:spcPct val="110000"/>
              </a:lnSpc>
            </a:pPr>
            <a:r>
              <a:rPr sz="1500" b="1" i="0">
                <a:solidFill>
                  <a:srgbClr val="7A0E1E"/>
                </a:solidFill>
                <a:latin typeface="Cambria"/>
              </a:rPr>
              <a:t>Patrocinio y eventos</a:t>
            </a:r>
          </a:p>
        </p:txBody>
      </p:sp>
      <p:sp>
        <p:nvSpPr>
          <p:cNvPr id="27" name="TextBox 26"/>
          <p:cNvSpPr txBox="1"/>
          <p:nvPr/>
        </p:nvSpPr>
        <p:spPr>
          <a:xfrm>
            <a:off x="3017520" y="3703320"/>
            <a:ext cx="1645920" cy="566928"/>
          </a:xfrm>
          <a:prstGeom prst="rect">
            <a:avLst/>
          </a:prstGeom>
          <a:noFill/>
        </p:spPr>
        <p:txBody>
          <a:bodyPr wrap="square" anchor="ctr" lIns="0" rIns="0" tIns="0" bIns="0">
            <a:spAutoFit/>
          </a:bodyPr>
          <a:lstStyle/>
          <a:p>
            <a:pPr algn="l">
              <a:lnSpc>
                <a:spcPct val="110000"/>
              </a:lnSpc>
            </a:pPr>
            <a:r>
              <a:rPr sz="950" b="1" i="0">
                <a:solidFill>
                  <a:srgbClr val="2F6B3A"/>
                </a:solidFill>
                <a:latin typeface="Calibri"/>
              </a:rPr>
              <a:t>VERIFICADO</a:t>
            </a:r>
          </a:p>
        </p:txBody>
      </p:sp>
      <p:sp>
        <p:nvSpPr>
          <p:cNvPr id="28" name="TextBox 27"/>
          <p:cNvSpPr txBox="1"/>
          <p:nvPr/>
        </p:nvSpPr>
        <p:spPr>
          <a:xfrm>
            <a:off x="4663440" y="3703320"/>
            <a:ext cx="6858000" cy="566928"/>
          </a:xfrm>
          <a:prstGeom prst="rect">
            <a:avLst/>
          </a:prstGeom>
          <a:noFill/>
        </p:spPr>
        <p:txBody>
          <a:bodyPr wrap="square" anchor="ctr" lIns="0" rIns="0" tIns="0" bIns="0">
            <a:spAutoFit/>
          </a:bodyPr>
          <a:lstStyle/>
          <a:p>
            <a:pPr algn="l">
              <a:lnSpc>
                <a:spcPct val="110000"/>
              </a:lnSpc>
            </a:pPr>
            <a:r>
              <a:rPr sz="1150" b="0" i="0">
                <a:solidFill>
                  <a:srgbClr val="2B1B16"/>
                </a:solidFill>
                <a:latin typeface="Calibri"/>
              </a:rPr>
              <a:t>Patrocinador del Carnaval de Cádiz: 1 km de mostradores (2023).</a:t>
            </a:r>
          </a:p>
        </p:txBody>
      </p:sp>
      <p:sp>
        <p:nvSpPr>
          <p:cNvPr id="29" name="Rectangle 28"/>
          <p:cNvSpPr/>
          <p:nvPr/>
        </p:nvSpPr>
        <p:spPr>
          <a:xfrm>
            <a:off x="548640" y="4343400"/>
            <a:ext cx="11091672" cy="566928"/>
          </a:xfrm>
          <a:prstGeom prst="rect">
            <a:avLst/>
          </a:prstGeom>
          <a:solidFill>
            <a:srgbClr val="F7F0E3"/>
          </a:solidFill>
          <a:ln w="12700">
            <a:solidFill>
              <a:srgbClr val="ECDF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343400"/>
            <a:ext cx="109728" cy="566928"/>
          </a:xfrm>
          <a:prstGeom prst="rect">
            <a:avLst/>
          </a:prstGeom>
          <a:solidFill>
            <a:srgbClr val="6E5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343400"/>
            <a:ext cx="2286000" cy="566928"/>
          </a:xfrm>
          <a:prstGeom prst="rect">
            <a:avLst/>
          </a:prstGeom>
          <a:noFill/>
        </p:spPr>
        <p:txBody>
          <a:bodyPr wrap="square" anchor="ctr" lIns="0" rIns="0" tIns="0" bIns="0">
            <a:spAutoFit/>
          </a:bodyPr>
          <a:lstStyle/>
          <a:p>
            <a:pPr algn="l">
              <a:lnSpc>
                <a:spcPct val="110000"/>
              </a:lnSpc>
            </a:pPr>
            <a:r>
              <a:rPr sz="1500" b="1" i="0">
                <a:solidFill>
                  <a:srgbClr val="6E5A4E"/>
                </a:solidFill>
                <a:latin typeface="Cambria"/>
              </a:rPr>
              <a:t>Prensa</a:t>
            </a:r>
          </a:p>
        </p:txBody>
      </p:sp>
      <p:sp>
        <p:nvSpPr>
          <p:cNvPr id="32" name="TextBox 31"/>
          <p:cNvSpPr txBox="1"/>
          <p:nvPr/>
        </p:nvSpPr>
        <p:spPr>
          <a:xfrm>
            <a:off x="3017520" y="4343400"/>
            <a:ext cx="1645920" cy="566928"/>
          </a:xfrm>
          <a:prstGeom prst="rect">
            <a:avLst/>
          </a:prstGeom>
          <a:noFill/>
        </p:spPr>
        <p:txBody>
          <a:bodyPr wrap="square" anchor="ctr" lIns="0" rIns="0" tIns="0" bIns="0">
            <a:spAutoFit/>
          </a:bodyPr>
          <a:lstStyle/>
          <a:p>
            <a:pPr algn="l">
              <a:lnSpc>
                <a:spcPct val="110000"/>
              </a:lnSpc>
            </a:pPr>
            <a:r>
              <a:rPr sz="950" b="1" i="0">
                <a:solidFill>
                  <a:srgbClr val="6E5A4E"/>
                </a:solidFill>
                <a:latin typeface="Calibri"/>
              </a:rPr>
              <a:t>CITADO, SIN PIEZA</a:t>
            </a:r>
          </a:p>
        </p:txBody>
      </p:sp>
      <p:sp>
        <p:nvSpPr>
          <p:cNvPr id="33" name="TextBox 32"/>
          <p:cNvSpPr txBox="1"/>
          <p:nvPr/>
        </p:nvSpPr>
        <p:spPr>
          <a:xfrm>
            <a:off x="4663440" y="4343400"/>
            <a:ext cx="6858000" cy="566928"/>
          </a:xfrm>
          <a:prstGeom prst="rect">
            <a:avLst/>
          </a:prstGeom>
          <a:noFill/>
        </p:spPr>
        <p:txBody>
          <a:bodyPr wrap="square" anchor="ctr" lIns="0" rIns="0" tIns="0" bIns="0">
            <a:spAutoFit/>
          </a:bodyPr>
          <a:lstStyle/>
          <a:p>
            <a:pPr algn="l">
              <a:lnSpc>
                <a:spcPct val="110000"/>
              </a:lnSpc>
            </a:pPr>
            <a:r>
              <a:rPr sz="1150" b="0" i="0">
                <a:solidFill>
                  <a:srgbClr val="2B1B16"/>
                </a:solidFill>
                <a:latin typeface="Calibri"/>
              </a:rPr>
              <a:t>Citada en la campaña «Libera lo que sientes» (2018), pero no hemos localizado el anuncio concreto.</a:t>
            </a:r>
          </a:p>
        </p:txBody>
      </p:sp>
      <p:sp>
        <p:nvSpPr>
          <p:cNvPr id="34" name="Rectangle 33"/>
          <p:cNvSpPr/>
          <p:nvPr/>
        </p:nvSpPr>
        <p:spPr>
          <a:xfrm>
            <a:off x="548640" y="4983480"/>
            <a:ext cx="11091672" cy="566928"/>
          </a:xfrm>
          <a:prstGeom prst="rect">
            <a:avLst/>
          </a:prstGeom>
          <a:solidFill>
            <a:srgbClr val="F7F0E3"/>
          </a:solidFill>
          <a:ln w="12700">
            <a:solidFill>
              <a:srgbClr val="ECDF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83480"/>
            <a:ext cx="109728" cy="566928"/>
          </a:xfrm>
          <a:prstGeom prst="rect">
            <a:avLst/>
          </a:prstGeom>
          <a:solidFill>
            <a:srgbClr val="6E5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4983480"/>
            <a:ext cx="2286000" cy="566928"/>
          </a:xfrm>
          <a:prstGeom prst="rect">
            <a:avLst/>
          </a:prstGeom>
          <a:noFill/>
        </p:spPr>
        <p:txBody>
          <a:bodyPr wrap="square" anchor="ctr" lIns="0" rIns="0" tIns="0" bIns="0">
            <a:spAutoFit/>
          </a:bodyPr>
          <a:lstStyle/>
          <a:p>
            <a:pPr algn="l">
              <a:lnSpc>
                <a:spcPct val="110000"/>
              </a:lnSpc>
            </a:pPr>
            <a:r>
              <a:rPr sz="1500" b="1" i="0">
                <a:solidFill>
                  <a:srgbClr val="6E5A4E"/>
                </a:solidFill>
                <a:latin typeface="Cambria"/>
              </a:rPr>
              <a:t>Radio</a:t>
            </a:r>
          </a:p>
        </p:txBody>
      </p:sp>
      <p:sp>
        <p:nvSpPr>
          <p:cNvPr id="37" name="TextBox 36"/>
          <p:cNvSpPr txBox="1"/>
          <p:nvPr/>
        </p:nvSpPr>
        <p:spPr>
          <a:xfrm>
            <a:off x="3017520" y="4983480"/>
            <a:ext cx="1645920" cy="566928"/>
          </a:xfrm>
          <a:prstGeom prst="rect">
            <a:avLst/>
          </a:prstGeom>
          <a:noFill/>
        </p:spPr>
        <p:txBody>
          <a:bodyPr wrap="square" anchor="ctr" lIns="0" rIns="0" tIns="0" bIns="0">
            <a:spAutoFit/>
          </a:bodyPr>
          <a:lstStyle/>
          <a:p>
            <a:pPr algn="l">
              <a:lnSpc>
                <a:spcPct val="110000"/>
              </a:lnSpc>
            </a:pPr>
            <a:r>
              <a:rPr sz="950" b="1" i="0">
                <a:solidFill>
                  <a:srgbClr val="6E5A4E"/>
                </a:solidFill>
                <a:latin typeface="Calibri"/>
              </a:rPr>
              <a:t>CITADO, SIN PIEZA</a:t>
            </a:r>
          </a:p>
        </p:txBody>
      </p:sp>
      <p:sp>
        <p:nvSpPr>
          <p:cNvPr id="38" name="TextBox 37"/>
          <p:cNvSpPr txBox="1"/>
          <p:nvPr/>
        </p:nvSpPr>
        <p:spPr>
          <a:xfrm>
            <a:off x="4663440" y="4983480"/>
            <a:ext cx="6858000" cy="566928"/>
          </a:xfrm>
          <a:prstGeom prst="rect">
            <a:avLst/>
          </a:prstGeom>
          <a:noFill/>
        </p:spPr>
        <p:txBody>
          <a:bodyPr wrap="square" anchor="ctr" lIns="0" rIns="0" tIns="0" bIns="0">
            <a:spAutoFit/>
          </a:bodyPr>
          <a:lstStyle/>
          <a:p>
            <a:pPr algn="l">
              <a:lnSpc>
                <a:spcPct val="110000"/>
              </a:lnSpc>
            </a:pPr>
            <a:r>
              <a:rPr sz="1150" b="0" i="0">
                <a:solidFill>
                  <a:srgbClr val="2B1B16"/>
                </a:solidFill>
                <a:latin typeface="Calibri"/>
              </a:rPr>
              <a:t>Citada en Carnaval 2015 y en «Libera lo que sientes», sin cuña concreta localizada.</a:t>
            </a:r>
          </a:p>
        </p:txBody>
      </p:sp>
      <p:sp>
        <p:nvSpPr>
          <p:cNvPr id="39" name="Rectangle 38"/>
          <p:cNvSpPr/>
          <p:nvPr/>
        </p:nvSpPr>
        <p:spPr>
          <a:xfrm>
            <a:off x="548640" y="5623560"/>
            <a:ext cx="11091672" cy="566928"/>
          </a:xfrm>
          <a:prstGeom prst="rect">
            <a:avLst/>
          </a:prstGeom>
          <a:solidFill>
            <a:srgbClr val="F7F0E3"/>
          </a:solidFill>
          <a:ln w="12700">
            <a:solidFill>
              <a:srgbClr val="ECDF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623560"/>
            <a:ext cx="109728" cy="566928"/>
          </a:xfrm>
          <a:prstGeom prst="rect">
            <a:avLst/>
          </a:prstGeom>
          <a:solidFill>
            <a:srgbClr val="6E5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 y="5623560"/>
            <a:ext cx="2286000" cy="566928"/>
          </a:xfrm>
          <a:prstGeom prst="rect">
            <a:avLst/>
          </a:prstGeom>
          <a:noFill/>
        </p:spPr>
        <p:txBody>
          <a:bodyPr wrap="square" anchor="ctr" lIns="0" rIns="0" tIns="0" bIns="0">
            <a:spAutoFit/>
          </a:bodyPr>
          <a:lstStyle/>
          <a:p>
            <a:pPr algn="l">
              <a:lnSpc>
                <a:spcPct val="110000"/>
              </a:lnSpc>
            </a:pPr>
            <a:r>
              <a:rPr sz="1500" b="1" i="0">
                <a:solidFill>
                  <a:srgbClr val="6E5A4E"/>
                </a:solidFill>
                <a:latin typeface="Cambria"/>
              </a:rPr>
              <a:t>Revistas</a:t>
            </a:r>
          </a:p>
        </p:txBody>
      </p:sp>
      <p:sp>
        <p:nvSpPr>
          <p:cNvPr id="42" name="TextBox 41"/>
          <p:cNvSpPr txBox="1"/>
          <p:nvPr/>
        </p:nvSpPr>
        <p:spPr>
          <a:xfrm>
            <a:off x="3017520" y="5623560"/>
            <a:ext cx="1645920" cy="566928"/>
          </a:xfrm>
          <a:prstGeom prst="rect">
            <a:avLst/>
          </a:prstGeom>
          <a:noFill/>
        </p:spPr>
        <p:txBody>
          <a:bodyPr wrap="square" anchor="ctr" lIns="0" rIns="0" tIns="0" bIns="0">
            <a:spAutoFit/>
          </a:bodyPr>
          <a:lstStyle/>
          <a:p>
            <a:pPr algn="l">
              <a:lnSpc>
                <a:spcPct val="110000"/>
              </a:lnSpc>
            </a:pPr>
            <a:r>
              <a:rPr sz="950" b="1" i="0">
                <a:solidFill>
                  <a:srgbClr val="6E5A4E"/>
                </a:solidFill>
                <a:latin typeface="Calibri"/>
              </a:rPr>
              <a:t>NO ENCONTRADO</a:t>
            </a:r>
          </a:p>
        </p:txBody>
      </p:sp>
      <p:sp>
        <p:nvSpPr>
          <p:cNvPr id="43" name="TextBox 42"/>
          <p:cNvSpPr txBox="1"/>
          <p:nvPr/>
        </p:nvSpPr>
        <p:spPr>
          <a:xfrm>
            <a:off x="4663440" y="5623560"/>
            <a:ext cx="6858000" cy="566928"/>
          </a:xfrm>
          <a:prstGeom prst="rect">
            <a:avLst/>
          </a:prstGeom>
          <a:noFill/>
        </p:spPr>
        <p:txBody>
          <a:bodyPr wrap="square" anchor="ctr" lIns="0" rIns="0" tIns="0" bIns="0">
            <a:spAutoFit/>
          </a:bodyPr>
          <a:lstStyle/>
          <a:p>
            <a:pPr algn="l">
              <a:lnSpc>
                <a:spcPct val="110000"/>
              </a:lnSpc>
            </a:pPr>
            <a:r>
              <a:rPr sz="1150" b="0" i="0">
                <a:solidFill>
                  <a:srgbClr val="2B1B16"/>
                </a:solidFill>
                <a:latin typeface="Calibri"/>
              </a:rPr>
              <a:t>No hemos encontrado anuncios recientes en revistas.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03 · FASE 2 · INVESTIGACIÓN</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Evidencias en medios de masas: televisión</a:t>
            </a:r>
          </a:p>
        </p:txBody>
      </p:sp>
      <p:sp>
        <p:nvSpPr>
          <p:cNvPr id="5" name="Rectangle 4"/>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7" name="TextBox 6"/>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09</a:t>
            </a:r>
          </a:p>
        </p:txBody>
      </p:sp>
      <p:sp>
        <p:nvSpPr>
          <p:cNvPr id="8" name="Rectangle 7"/>
          <p:cNvSpPr/>
          <p:nvPr/>
        </p:nvSpPr>
        <p:spPr>
          <a:xfrm>
            <a:off x="548640" y="1600200"/>
            <a:ext cx="3566160" cy="461772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3200400" cy="1600200"/>
          </a:xfrm>
          <a:prstGeom prst="rect">
            <a:avLst/>
          </a:prstGeom>
          <a:solidFill>
            <a:srgbClr val="ECDFC6"/>
          </a:solidFill>
          <a:ln w="15875">
            <a:solidFill>
              <a:srgbClr val="B88A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E5A4E"/>
                </a:solidFill>
                <a:latin typeface="Calibri"/>
              </a:rPr>
              <a:t>INSERTAR</a:t>
            </a:r>
          </a:p>
          <a:p>
            <a:pPr algn="ctr"/>
            <a:r>
              <a:rPr sz="1100" b="0">
                <a:solidFill>
                  <a:srgbClr val="6E5A4E"/>
                </a:solidFill>
                <a:latin typeface="Calibri"/>
              </a:rPr>
              <a:t>Fotograma del spot «Lola»</a:t>
            </a:r>
          </a:p>
        </p:txBody>
      </p:sp>
      <p:sp>
        <p:nvSpPr>
          <p:cNvPr id="10" name="TextBox 9"/>
          <p:cNvSpPr txBox="1"/>
          <p:nvPr/>
        </p:nvSpPr>
        <p:spPr>
          <a:xfrm>
            <a:off x="731520" y="3520440"/>
            <a:ext cx="3200400" cy="365760"/>
          </a:xfrm>
          <a:prstGeom prst="rect">
            <a:avLst/>
          </a:prstGeom>
          <a:noFill/>
        </p:spPr>
        <p:txBody>
          <a:bodyPr wrap="square" anchor="t" lIns="0" rIns="0" tIns="0" bIns="0">
            <a:spAutoFit/>
          </a:bodyPr>
          <a:lstStyle/>
          <a:p>
            <a:pPr algn="l">
              <a:lnSpc>
                <a:spcPct val="110000"/>
              </a:lnSpc>
            </a:pPr>
            <a:r>
              <a:rPr sz="1700" b="1" i="0">
                <a:solidFill>
                  <a:srgbClr val="7A0E1E"/>
                </a:solidFill>
                <a:latin typeface="Cambria"/>
              </a:rPr>
              <a:t>«Lola»</a:t>
            </a:r>
          </a:p>
        </p:txBody>
      </p:sp>
      <p:sp>
        <p:nvSpPr>
          <p:cNvPr id="11" name="TextBox 10"/>
          <p:cNvSpPr txBox="1"/>
          <p:nvPr/>
        </p:nvSpPr>
        <p:spPr>
          <a:xfrm>
            <a:off x="731520" y="3886200"/>
            <a:ext cx="3200400" cy="274320"/>
          </a:xfrm>
          <a:prstGeom prst="rect">
            <a:avLst/>
          </a:prstGeom>
          <a:noFill/>
        </p:spPr>
        <p:txBody>
          <a:bodyPr wrap="square" anchor="t" lIns="0" rIns="0" tIns="0" bIns="0">
            <a:spAutoFit/>
          </a:bodyPr>
          <a:lstStyle/>
          <a:p>
            <a:pPr algn="l">
              <a:lnSpc>
                <a:spcPct val="110000"/>
              </a:lnSpc>
            </a:pPr>
            <a:r>
              <a:rPr sz="1050" b="1" i="0">
                <a:solidFill>
                  <a:srgbClr val="C8102E"/>
                </a:solidFill>
                <a:latin typeface="Calibri"/>
              </a:rPr>
              <a:t>Enero 2021 · Ogilvy</a:t>
            </a:r>
          </a:p>
        </p:txBody>
      </p:sp>
      <p:sp>
        <p:nvSpPr>
          <p:cNvPr id="12" name="TextBox 11"/>
          <p:cNvSpPr txBox="1"/>
          <p:nvPr/>
        </p:nvSpPr>
        <p:spPr>
          <a:xfrm>
            <a:off x="731520" y="4206240"/>
            <a:ext cx="2011680" cy="1828800"/>
          </a:xfrm>
          <a:prstGeom prst="rect">
            <a:avLst/>
          </a:prstGeom>
          <a:noFill/>
        </p:spPr>
        <p:txBody>
          <a:bodyPr wrap="square" anchor="t" lIns="0" rIns="0" tIns="0" bIns="0">
            <a:spAutoFit/>
          </a:bodyPr>
          <a:lstStyle/>
          <a:p>
            <a:pPr algn="l">
              <a:lnSpc>
                <a:spcPct val="110000"/>
              </a:lnSpc>
            </a:pPr>
            <a:r>
              <a:rPr sz="1050" b="0" i="0">
                <a:solidFill>
                  <a:srgbClr val="2B1B16"/>
                </a:solidFill>
                <a:latin typeface="Calibri"/>
              </a:rPr>
              <a:t>Recrea a Lola Flores con deepfake para defender el acento. Lanzado el 21 de enero, día en que habría cumplido 98 años.</a:t>
            </a:r>
          </a:p>
        </p:txBody>
      </p:sp>
      <p:pic>
        <p:nvPicPr>
          <p:cNvPr id="13" name="Picture 12" descr="q_lola_hub.png"/>
          <p:cNvPicPr>
            <a:picLocks noChangeAspect="1"/>
          </p:cNvPicPr>
          <p:nvPr/>
        </p:nvPicPr>
        <p:blipFill>
          <a:blip r:embed="rId2"/>
          <a:stretch>
            <a:fillRect/>
          </a:stretch>
        </p:blipFill>
        <p:spPr>
          <a:xfrm>
            <a:off x="2880360" y="4343400"/>
            <a:ext cx="960120" cy="960120"/>
          </a:xfrm>
          <a:prstGeom prst="rect">
            <a:avLst/>
          </a:prstGeom>
        </p:spPr>
      </p:pic>
      <p:sp>
        <p:nvSpPr>
          <p:cNvPr id="14" name="TextBox 13"/>
          <p:cNvSpPr txBox="1"/>
          <p:nvPr/>
        </p:nvSpPr>
        <p:spPr>
          <a:xfrm>
            <a:off x="2697480" y="5349240"/>
            <a:ext cx="1325880" cy="365760"/>
          </a:xfrm>
          <a:prstGeom prst="rect">
            <a:avLst/>
          </a:prstGeom>
          <a:noFill/>
        </p:spPr>
        <p:txBody>
          <a:bodyPr wrap="square" anchor="t" lIns="0" rIns="0" tIns="0" bIns="0">
            <a:spAutoFit/>
          </a:bodyPr>
          <a:lstStyle/>
          <a:p>
            <a:pPr algn="ctr">
              <a:lnSpc>
                <a:spcPct val="110000"/>
              </a:lnSpc>
            </a:pPr>
            <a:r>
              <a:rPr sz="900" b="0" i="0">
                <a:solidFill>
                  <a:srgbClr val="6E5A4E"/>
                </a:solidFill>
                <a:latin typeface="Calibri"/>
              </a:rPr>
              <a:t>Ficha (gob.es)</a:t>
            </a:r>
          </a:p>
        </p:txBody>
      </p:sp>
      <p:sp>
        <p:nvSpPr>
          <p:cNvPr id="15" name="Rectangle 14"/>
          <p:cNvSpPr/>
          <p:nvPr/>
        </p:nvSpPr>
        <p:spPr>
          <a:xfrm>
            <a:off x="4311396" y="1600200"/>
            <a:ext cx="3566160" cy="461772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94276" y="1783080"/>
            <a:ext cx="3200400" cy="1600200"/>
          </a:xfrm>
          <a:prstGeom prst="rect">
            <a:avLst/>
          </a:prstGeom>
          <a:solidFill>
            <a:srgbClr val="ECDFC6"/>
          </a:solidFill>
          <a:ln w="15875">
            <a:solidFill>
              <a:srgbClr val="B88A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E5A4E"/>
                </a:solidFill>
                <a:latin typeface="Calibri"/>
              </a:rPr>
              <a:t>INSERTAR</a:t>
            </a:r>
          </a:p>
          <a:p>
            <a:pPr algn="ctr"/>
            <a:r>
              <a:rPr sz="1100" b="0">
                <a:solidFill>
                  <a:srgbClr val="6E5A4E"/>
                </a:solidFill>
                <a:latin typeface="Calibri"/>
              </a:rPr>
              <a:t>Fotograma del spot «Gitana»</a:t>
            </a:r>
          </a:p>
        </p:txBody>
      </p:sp>
      <p:sp>
        <p:nvSpPr>
          <p:cNvPr id="17" name="TextBox 16"/>
          <p:cNvSpPr txBox="1"/>
          <p:nvPr/>
        </p:nvSpPr>
        <p:spPr>
          <a:xfrm>
            <a:off x="4494276" y="3520440"/>
            <a:ext cx="3200400" cy="365760"/>
          </a:xfrm>
          <a:prstGeom prst="rect">
            <a:avLst/>
          </a:prstGeom>
          <a:noFill/>
        </p:spPr>
        <p:txBody>
          <a:bodyPr wrap="square" anchor="t" lIns="0" rIns="0" tIns="0" bIns="0">
            <a:spAutoFit/>
          </a:bodyPr>
          <a:lstStyle/>
          <a:p>
            <a:pPr algn="l">
              <a:lnSpc>
                <a:spcPct val="110000"/>
              </a:lnSpc>
            </a:pPr>
            <a:r>
              <a:rPr sz="1700" b="1" i="0">
                <a:solidFill>
                  <a:srgbClr val="7A0E1E"/>
                </a:solidFill>
                <a:latin typeface="Cambria"/>
              </a:rPr>
              <a:t>«Gitana»</a:t>
            </a:r>
          </a:p>
        </p:txBody>
      </p:sp>
      <p:sp>
        <p:nvSpPr>
          <p:cNvPr id="18" name="TextBox 17"/>
          <p:cNvSpPr txBox="1"/>
          <p:nvPr/>
        </p:nvSpPr>
        <p:spPr>
          <a:xfrm>
            <a:off x="4494276" y="3886200"/>
            <a:ext cx="3200400" cy="274320"/>
          </a:xfrm>
          <a:prstGeom prst="rect">
            <a:avLst/>
          </a:prstGeom>
          <a:noFill/>
        </p:spPr>
        <p:txBody>
          <a:bodyPr wrap="square" anchor="t" lIns="0" rIns="0" tIns="0" bIns="0">
            <a:spAutoFit/>
          </a:bodyPr>
          <a:lstStyle/>
          <a:p>
            <a:pPr algn="l">
              <a:lnSpc>
                <a:spcPct val="110000"/>
              </a:lnSpc>
            </a:pPr>
            <a:r>
              <a:rPr sz="1050" b="1" i="0">
                <a:solidFill>
                  <a:srgbClr val="C8102E"/>
                </a:solidFill>
                <a:latin typeface="Calibri"/>
              </a:rPr>
              <a:t>Enero 2024 · Ogilvy</a:t>
            </a:r>
          </a:p>
        </p:txBody>
      </p:sp>
      <p:sp>
        <p:nvSpPr>
          <p:cNvPr id="19" name="TextBox 18"/>
          <p:cNvSpPr txBox="1"/>
          <p:nvPr/>
        </p:nvSpPr>
        <p:spPr>
          <a:xfrm>
            <a:off x="4494276" y="4206240"/>
            <a:ext cx="2011680" cy="1828800"/>
          </a:xfrm>
          <a:prstGeom prst="rect">
            <a:avLst/>
          </a:prstGeom>
          <a:noFill/>
        </p:spPr>
        <p:txBody>
          <a:bodyPr wrap="square" anchor="t" lIns="0" rIns="0" tIns="0" bIns="0">
            <a:spAutoFit/>
          </a:bodyPr>
          <a:lstStyle/>
          <a:p>
            <a:pPr algn="l">
              <a:lnSpc>
                <a:spcPct val="110000"/>
              </a:lnSpc>
            </a:pPr>
            <a:r>
              <a:rPr sz="1050" b="0" i="0">
                <a:solidFill>
                  <a:srgbClr val="2B1B16"/>
                </a:solidFill>
                <a:latin typeface="Calibri"/>
              </a:rPr>
              <a:t>Una muñeca flamenca cobra vida al ritmo de una bulería inédita de Camarón dedicada a la cerveza (grabada en 1989).</a:t>
            </a:r>
          </a:p>
        </p:txBody>
      </p:sp>
      <p:pic>
        <p:nvPicPr>
          <p:cNvPr id="20" name="Picture 19" descr="q_gitana.png"/>
          <p:cNvPicPr>
            <a:picLocks noChangeAspect="1"/>
          </p:cNvPicPr>
          <p:nvPr/>
        </p:nvPicPr>
        <p:blipFill>
          <a:blip r:embed="rId3"/>
          <a:stretch>
            <a:fillRect/>
          </a:stretch>
        </p:blipFill>
        <p:spPr>
          <a:xfrm>
            <a:off x="6643116" y="4343400"/>
            <a:ext cx="960120" cy="960120"/>
          </a:xfrm>
          <a:prstGeom prst="rect">
            <a:avLst/>
          </a:prstGeom>
        </p:spPr>
      </p:pic>
      <p:sp>
        <p:nvSpPr>
          <p:cNvPr id="21" name="TextBox 20"/>
          <p:cNvSpPr txBox="1"/>
          <p:nvPr/>
        </p:nvSpPr>
        <p:spPr>
          <a:xfrm>
            <a:off x="6460236" y="5349240"/>
            <a:ext cx="1325880" cy="365760"/>
          </a:xfrm>
          <a:prstGeom prst="rect">
            <a:avLst/>
          </a:prstGeom>
          <a:noFill/>
        </p:spPr>
        <p:txBody>
          <a:bodyPr wrap="square" anchor="t" lIns="0" rIns="0" tIns="0" bIns="0">
            <a:spAutoFit/>
          </a:bodyPr>
          <a:lstStyle/>
          <a:p>
            <a:pPr algn="ctr">
              <a:lnSpc>
                <a:spcPct val="110000"/>
              </a:lnSpc>
            </a:pPr>
            <a:r>
              <a:rPr sz="900" b="0" i="0">
                <a:solidFill>
                  <a:srgbClr val="6E5A4E"/>
                </a:solidFill>
                <a:latin typeface="Calibri"/>
              </a:rPr>
              <a:t>Nota de Ogilvy</a:t>
            </a:r>
          </a:p>
        </p:txBody>
      </p:sp>
      <p:sp>
        <p:nvSpPr>
          <p:cNvPr id="22" name="Rectangle 21"/>
          <p:cNvSpPr/>
          <p:nvPr/>
        </p:nvSpPr>
        <p:spPr>
          <a:xfrm>
            <a:off x="8074152" y="1600200"/>
            <a:ext cx="3566160" cy="461772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57032" y="1783080"/>
            <a:ext cx="3200400" cy="1600200"/>
          </a:xfrm>
          <a:prstGeom prst="rect">
            <a:avLst/>
          </a:prstGeom>
          <a:solidFill>
            <a:srgbClr val="ECDFC6"/>
          </a:solidFill>
          <a:ln w="15875">
            <a:solidFill>
              <a:srgbClr val="B88A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E5A4E"/>
                </a:solidFill>
                <a:latin typeface="Calibri"/>
              </a:rPr>
              <a:t>INSERTAR</a:t>
            </a:r>
          </a:p>
          <a:p>
            <a:pPr algn="ctr"/>
            <a:r>
              <a:rPr sz="1100" b="0">
                <a:solidFill>
                  <a:srgbClr val="6E5A4E"/>
                </a:solidFill>
                <a:latin typeface="Calibri"/>
              </a:rPr>
              <a:t>Fotograma del spot «Libera lo que sientes»</a:t>
            </a:r>
          </a:p>
        </p:txBody>
      </p:sp>
      <p:sp>
        <p:nvSpPr>
          <p:cNvPr id="24" name="TextBox 23"/>
          <p:cNvSpPr txBox="1"/>
          <p:nvPr/>
        </p:nvSpPr>
        <p:spPr>
          <a:xfrm>
            <a:off x="8257032" y="3520440"/>
            <a:ext cx="3200400" cy="365760"/>
          </a:xfrm>
          <a:prstGeom prst="rect">
            <a:avLst/>
          </a:prstGeom>
          <a:noFill/>
        </p:spPr>
        <p:txBody>
          <a:bodyPr wrap="square" anchor="t" lIns="0" rIns="0" tIns="0" bIns="0">
            <a:spAutoFit/>
          </a:bodyPr>
          <a:lstStyle/>
          <a:p>
            <a:pPr algn="l">
              <a:lnSpc>
                <a:spcPct val="110000"/>
              </a:lnSpc>
            </a:pPr>
            <a:r>
              <a:rPr sz="1700" b="1" i="0">
                <a:solidFill>
                  <a:srgbClr val="7A0E1E"/>
                </a:solidFill>
                <a:latin typeface="Cambria"/>
              </a:rPr>
              <a:t>«Libera lo que sientes»</a:t>
            </a:r>
          </a:p>
        </p:txBody>
      </p:sp>
      <p:sp>
        <p:nvSpPr>
          <p:cNvPr id="25" name="TextBox 24"/>
          <p:cNvSpPr txBox="1"/>
          <p:nvPr/>
        </p:nvSpPr>
        <p:spPr>
          <a:xfrm>
            <a:off x="8257032" y="3886200"/>
            <a:ext cx="3200400" cy="274320"/>
          </a:xfrm>
          <a:prstGeom prst="rect">
            <a:avLst/>
          </a:prstGeom>
          <a:noFill/>
        </p:spPr>
        <p:txBody>
          <a:bodyPr wrap="square" anchor="t" lIns="0" rIns="0" tIns="0" bIns="0">
            <a:spAutoFit/>
          </a:bodyPr>
          <a:lstStyle/>
          <a:p>
            <a:pPr algn="l">
              <a:lnSpc>
                <a:spcPct val="110000"/>
              </a:lnSpc>
            </a:pPr>
            <a:r>
              <a:rPr sz="1050" b="1" i="0">
                <a:solidFill>
                  <a:srgbClr val="C8102E"/>
                </a:solidFill>
                <a:latin typeface="Calibri"/>
              </a:rPr>
              <a:t>Abril 2018 · Ogilvy &amp; Mather</a:t>
            </a:r>
          </a:p>
        </p:txBody>
      </p:sp>
      <p:sp>
        <p:nvSpPr>
          <p:cNvPr id="26" name="TextBox 25"/>
          <p:cNvSpPr txBox="1"/>
          <p:nvPr/>
        </p:nvSpPr>
        <p:spPr>
          <a:xfrm>
            <a:off x="8257032" y="4206240"/>
            <a:ext cx="2011680" cy="1828800"/>
          </a:xfrm>
          <a:prstGeom prst="rect">
            <a:avLst/>
          </a:prstGeom>
          <a:noFill/>
        </p:spPr>
        <p:txBody>
          <a:bodyPr wrap="square" anchor="t" lIns="0" rIns="0" tIns="0" bIns="0">
            <a:spAutoFit/>
          </a:bodyPr>
          <a:lstStyle/>
          <a:p>
            <a:pPr algn="l">
              <a:lnSpc>
                <a:spcPct val="110000"/>
              </a:lnSpc>
            </a:pPr>
            <a:r>
              <a:rPr sz="1050" b="0" i="0">
                <a:solidFill>
                  <a:srgbClr val="2B1B16"/>
                </a:solidFill>
                <a:latin typeface="Calibri"/>
              </a:rPr>
              <a:t>Tres spots irónicos para lanzar Cruzcampo Especial. Campaña con TV, prensa, radio, exterior y redes.</a:t>
            </a:r>
          </a:p>
        </p:txBody>
      </p:sp>
      <p:pic>
        <p:nvPicPr>
          <p:cNvPr id="27" name="Picture 26" descr="q_libera.png"/>
          <p:cNvPicPr>
            <a:picLocks noChangeAspect="1"/>
          </p:cNvPicPr>
          <p:nvPr/>
        </p:nvPicPr>
        <p:blipFill>
          <a:blip r:embed="rId4"/>
          <a:stretch>
            <a:fillRect/>
          </a:stretch>
        </p:blipFill>
        <p:spPr>
          <a:xfrm>
            <a:off x="10405872" y="4343400"/>
            <a:ext cx="960120" cy="960120"/>
          </a:xfrm>
          <a:prstGeom prst="rect">
            <a:avLst/>
          </a:prstGeom>
        </p:spPr>
      </p:pic>
      <p:sp>
        <p:nvSpPr>
          <p:cNvPr id="28" name="TextBox 27"/>
          <p:cNvSpPr txBox="1"/>
          <p:nvPr/>
        </p:nvSpPr>
        <p:spPr>
          <a:xfrm>
            <a:off x="10222992" y="5349240"/>
            <a:ext cx="1325880" cy="365760"/>
          </a:xfrm>
          <a:prstGeom prst="rect">
            <a:avLst/>
          </a:prstGeom>
          <a:noFill/>
        </p:spPr>
        <p:txBody>
          <a:bodyPr wrap="square" anchor="t" lIns="0" rIns="0" tIns="0" bIns="0">
            <a:spAutoFit/>
          </a:bodyPr>
          <a:lstStyle/>
          <a:p>
            <a:pPr algn="ctr">
              <a:lnSpc>
                <a:spcPct val="110000"/>
              </a:lnSpc>
            </a:pPr>
            <a:r>
              <a:rPr sz="900" b="0" i="0">
                <a:solidFill>
                  <a:srgbClr val="6E5A4E"/>
                </a:solidFill>
                <a:latin typeface="Calibri"/>
              </a:rPr>
              <a:t>Reason Why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03 · FASE 2 · INVESTIGACIÓN</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Evidencias fuera de los medios convencionales</a:t>
            </a:r>
          </a:p>
        </p:txBody>
      </p:sp>
      <p:sp>
        <p:nvSpPr>
          <p:cNvPr id="5" name="Rectangle 4"/>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7" name="TextBox 6"/>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10</a:t>
            </a:r>
          </a:p>
        </p:txBody>
      </p:sp>
      <p:sp>
        <p:nvSpPr>
          <p:cNvPr id="8" name="Rectangle 7"/>
          <p:cNvSpPr/>
          <p:nvPr/>
        </p:nvSpPr>
        <p:spPr>
          <a:xfrm>
            <a:off x="548640" y="1600200"/>
            <a:ext cx="3566160" cy="461772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3200400" cy="1600200"/>
          </a:xfrm>
          <a:prstGeom prst="rect">
            <a:avLst/>
          </a:prstGeom>
          <a:solidFill>
            <a:srgbClr val="ECDFC6"/>
          </a:solidFill>
          <a:ln w="15875">
            <a:solidFill>
              <a:srgbClr val="B88A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E5A4E"/>
                </a:solidFill>
                <a:latin typeface="Calibri"/>
              </a:rPr>
              <a:t>INSERTAR</a:t>
            </a:r>
          </a:p>
          <a:p>
            <a:pPr algn="ctr"/>
            <a:r>
              <a:rPr sz="1100" b="0">
                <a:solidFill>
                  <a:srgbClr val="6E5A4E"/>
                </a:solidFill>
                <a:latin typeface="Calibri"/>
              </a:rPr>
              <a:t>Imagen de Lonas «Tú tan de Berlín»</a:t>
            </a:r>
          </a:p>
        </p:txBody>
      </p:sp>
      <p:sp>
        <p:nvSpPr>
          <p:cNvPr id="10" name="TextBox 9"/>
          <p:cNvSpPr txBox="1"/>
          <p:nvPr/>
        </p:nvSpPr>
        <p:spPr>
          <a:xfrm>
            <a:off x="731520" y="3520440"/>
            <a:ext cx="3200400" cy="365760"/>
          </a:xfrm>
          <a:prstGeom prst="rect">
            <a:avLst/>
          </a:prstGeom>
          <a:noFill/>
        </p:spPr>
        <p:txBody>
          <a:bodyPr wrap="square" anchor="t" lIns="0" rIns="0" tIns="0" bIns="0">
            <a:spAutoFit/>
          </a:bodyPr>
          <a:lstStyle/>
          <a:p>
            <a:pPr algn="l">
              <a:lnSpc>
                <a:spcPct val="110000"/>
              </a:lnSpc>
            </a:pPr>
            <a:r>
              <a:rPr sz="1700" b="1" i="0">
                <a:solidFill>
                  <a:srgbClr val="7A0E1E"/>
                </a:solidFill>
                <a:latin typeface="Cambria"/>
              </a:rPr>
              <a:t>Lonas «Tú tan de Berlín»</a:t>
            </a:r>
          </a:p>
        </p:txBody>
      </p:sp>
      <p:sp>
        <p:nvSpPr>
          <p:cNvPr id="11" name="TextBox 10"/>
          <p:cNvSpPr txBox="1"/>
          <p:nvPr/>
        </p:nvSpPr>
        <p:spPr>
          <a:xfrm>
            <a:off x="731520" y="3886200"/>
            <a:ext cx="3200400" cy="274320"/>
          </a:xfrm>
          <a:prstGeom prst="rect">
            <a:avLst/>
          </a:prstGeom>
          <a:noFill/>
        </p:spPr>
        <p:txBody>
          <a:bodyPr wrap="square" anchor="t" lIns="0" rIns="0" tIns="0" bIns="0">
            <a:spAutoFit/>
          </a:bodyPr>
          <a:lstStyle/>
          <a:p>
            <a:pPr algn="l">
              <a:lnSpc>
                <a:spcPct val="110000"/>
              </a:lnSpc>
            </a:pPr>
            <a:r>
              <a:rPr sz="1050" b="1" i="0">
                <a:solidFill>
                  <a:srgbClr val="C8102E"/>
                </a:solidFill>
                <a:latin typeface="Calibri"/>
              </a:rPr>
              <a:t>Mayo 2026 · Sevilla</a:t>
            </a:r>
          </a:p>
        </p:txBody>
      </p:sp>
      <p:sp>
        <p:nvSpPr>
          <p:cNvPr id="12" name="TextBox 11"/>
          <p:cNvSpPr txBox="1"/>
          <p:nvPr/>
        </p:nvSpPr>
        <p:spPr>
          <a:xfrm>
            <a:off x="731520" y="4206240"/>
            <a:ext cx="2011680" cy="1828800"/>
          </a:xfrm>
          <a:prstGeom prst="rect">
            <a:avLst/>
          </a:prstGeom>
          <a:noFill/>
        </p:spPr>
        <p:txBody>
          <a:bodyPr wrap="square" anchor="t" lIns="0" rIns="0" tIns="0" bIns="0">
            <a:spAutoFit/>
          </a:bodyPr>
          <a:lstStyle/>
          <a:p>
            <a:pPr algn="l">
              <a:lnSpc>
                <a:spcPct val="110000"/>
              </a:lnSpc>
            </a:pPr>
            <a:r>
              <a:rPr sz="1050" b="0" i="0">
                <a:solidFill>
                  <a:srgbClr val="2B1B16"/>
                </a:solidFill>
                <a:latin typeface="Calibri"/>
              </a:rPr>
              <a:t>Respuesta a la lona de Estrella Galicia en Plaza de Cuba. Vecinos de Los Remedios cuelgan banderolas de Cruzcampo.</a:t>
            </a:r>
          </a:p>
        </p:txBody>
      </p:sp>
      <p:pic>
        <p:nvPicPr>
          <p:cNvPr id="13" name="Picture 12" descr="q_berlin_rw.png"/>
          <p:cNvPicPr>
            <a:picLocks noChangeAspect="1"/>
          </p:cNvPicPr>
          <p:nvPr/>
        </p:nvPicPr>
        <p:blipFill>
          <a:blip r:embed="rId2"/>
          <a:stretch>
            <a:fillRect/>
          </a:stretch>
        </p:blipFill>
        <p:spPr>
          <a:xfrm>
            <a:off x="2880360" y="4343400"/>
            <a:ext cx="960120" cy="960120"/>
          </a:xfrm>
          <a:prstGeom prst="rect">
            <a:avLst/>
          </a:prstGeom>
        </p:spPr>
      </p:pic>
      <p:sp>
        <p:nvSpPr>
          <p:cNvPr id="14" name="TextBox 13"/>
          <p:cNvSpPr txBox="1"/>
          <p:nvPr/>
        </p:nvSpPr>
        <p:spPr>
          <a:xfrm>
            <a:off x="2697480" y="5349240"/>
            <a:ext cx="1325880" cy="365760"/>
          </a:xfrm>
          <a:prstGeom prst="rect">
            <a:avLst/>
          </a:prstGeom>
          <a:noFill/>
        </p:spPr>
        <p:txBody>
          <a:bodyPr wrap="square" anchor="t" lIns="0" rIns="0" tIns="0" bIns="0">
            <a:spAutoFit/>
          </a:bodyPr>
          <a:lstStyle/>
          <a:p>
            <a:pPr algn="ctr">
              <a:lnSpc>
                <a:spcPct val="110000"/>
              </a:lnSpc>
            </a:pPr>
            <a:r>
              <a:rPr sz="900" b="0" i="0">
                <a:solidFill>
                  <a:srgbClr val="6E5A4E"/>
                </a:solidFill>
                <a:latin typeface="Calibri"/>
              </a:rPr>
              <a:t>Reason Why</a:t>
            </a:r>
          </a:p>
        </p:txBody>
      </p:sp>
      <p:sp>
        <p:nvSpPr>
          <p:cNvPr id="15" name="Rectangle 14"/>
          <p:cNvSpPr/>
          <p:nvPr/>
        </p:nvSpPr>
        <p:spPr>
          <a:xfrm>
            <a:off x="4311396" y="1600200"/>
            <a:ext cx="3566160" cy="461772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94276" y="1783080"/>
            <a:ext cx="3200400" cy="1600200"/>
          </a:xfrm>
          <a:prstGeom prst="rect">
            <a:avLst/>
          </a:prstGeom>
          <a:solidFill>
            <a:srgbClr val="ECDFC6"/>
          </a:solidFill>
          <a:ln w="15875">
            <a:solidFill>
              <a:srgbClr val="B88A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E5A4E"/>
                </a:solidFill>
                <a:latin typeface="Calibri"/>
              </a:rPr>
              <a:t>INSERTAR</a:t>
            </a:r>
          </a:p>
          <a:p>
            <a:pPr algn="ctr"/>
            <a:r>
              <a:rPr sz="1100" b="0">
                <a:solidFill>
                  <a:srgbClr val="6E5A4E"/>
                </a:solidFill>
                <a:latin typeface="Calibri"/>
              </a:rPr>
              <a:t>Imagen de Carnaval de Cádiz</a:t>
            </a:r>
          </a:p>
        </p:txBody>
      </p:sp>
      <p:sp>
        <p:nvSpPr>
          <p:cNvPr id="17" name="TextBox 16"/>
          <p:cNvSpPr txBox="1"/>
          <p:nvPr/>
        </p:nvSpPr>
        <p:spPr>
          <a:xfrm>
            <a:off x="4494276" y="3520440"/>
            <a:ext cx="3200400" cy="365760"/>
          </a:xfrm>
          <a:prstGeom prst="rect">
            <a:avLst/>
          </a:prstGeom>
          <a:noFill/>
        </p:spPr>
        <p:txBody>
          <a:bodyPr wrap="square" anchor="t" lIns="0" rIns="0" tIns="0" bIns="0">
            <a:spAutoFit/>
          </a:bodyPr>
          <a:lstStyle/>
          <a:p>
            <a:pPr algn="l">
              <a:lnSpc>
                <a:spcPct val="110000"/>
              </a:lnSpc>
            </a:pPr>
            <a:r>
              <a:rPr sz="1700" b="1" i="0">
                <a:solidFill>
                  <a:srgbClr val="7A0E1E"/>
                </a:solidFill>
                <a:latin typeface="Cambria"/>
              </a:rPr>
              <a:t>Carnaval de Cádiz</a:t>
            </a:r>
          </a:p>
        </p:txBody>
      </p:sp>
      <p:sp>
        <p:nvSpPr>
          <p:cNvPr id="18" name="TextBox 17"/>
          <p:cNvSpPr txBox="1"/>
          <p:nvPr/>
        </p:nvSpPr>
        <p:spPr>
          <a:xfrm>
            <a:off x="4494276" y="3886200"/>
            <a:ext cx="3200400" cy="274320"/>
          </a:xfrm>
          <a:prstGeom prst="rect">
            <a:avLst/>
          </a:prstGeom>
          <a:noFill/>
        </p:spPr>
        <p:txBody>
          <a:bodyPr wrap="square" anchor="t" lIns="0" rIns="0" tIns="0" bIns="0">
            <a:spAutoFit/>
          </a:bodyPr>
          <a:lstStyle/>
          <a:p>
            <a:pPr algn="l">
              <a:lnSpc>
                <a:spcPct val="110000"/>
              </a:lnSpc>
            </a:pPr>
            <a:r>
              <a:rPr sz="1050" b="1" i="0">
                <a:solidFill>
                  <a:srgbClr val="C8102E"/>
                </a:solidFill>
                <a:latin typeface="Calibri"/>
              </a:rPr>
              <a:t>Patrocinio oficial</a:t>
            </a:r>
          </a:p>
        </p:txBody>
      </p:sp>
      <p:sp>
        <p:nvSpPr>
          <p:cNvPr id="19" name="TextBox 18"/>
          <p:cNvSpPr txBox="1"/>
          <p:nvPr/>
        </p:nvSpPr>
        <p:spPr>
          <a:xfrm>
            <a:off x="4494276" y="4206240"/>
            <a:ext cx="2011680" cy="1828800"/>
          </a:xfrm>
          <a:prstGeom prst="rect">
            <a:avLst/>
          </a:prstGeom>
          <a:noFill/>
        </p:spPr>
        <p:txBody>
          <a:bodyPr wrap="square" anchor="t" lIns="0" rIns="0" tIns="0" bIns="0">
            <a:spAutoFit/>
          </a:bodyPr>
          <a:lstStyle/>
          <a:p>
            <a:pPr algn="l">
              <a:lnSpc>
                <a:spcPct val="110000"/>
              </a:lnSpc>
            </a:pPr>
            <a:r>
              <a:rPr sz="1050" b="0" i="0">
                <a:solidFill>
                  <a:srgbClr val="2B1B16"/>
                </a:solidFill>
                <a:latin typeface="Calibri"/>
              </a:rPr>
              <a:t>Mostradores de barra por toda la ciudad (1 km en 2023) y una muestra con 15 años de campañas de Carnaval («Con C de Carnaval»).</a:t>
            </a:r>
          </a:p>
        </p:txBody>
      </p:sp>
      <p:pic>
        <p:nvPicPr>
          <p:cNvPr id="20" name="Picture 19" descr="q_carnaval.png"/>
          <p:cNvPicPr>
            <a:picLocks noChangeAspect="1"/>
          </p:cNvPicPr>
          <p:nvPr/>
        </p:nvPicPr>
        <p:blipFill>
          <a:blip r:embed="rId3"/>
          <a:stretch>
            <a:fillRect/>
          </a:stretch>
        </p:blipFill>
        <p:spPr>
          <a:xfrm>
            <a:off x="6643116" y="4343400"/>
            <a:ext cx="960120" cy="960120"/>
          </a:xfrm>
          <a:prstGeom prst="rect">
            <a:avLst/>
          </a:prstGeom>
        </p:spPr>
      </p:pic>
      <p:sp>
        <p:nvSpPr>
          <p:cNvPr id="21" name="TextBox 20"/>
          <p:cNvSpPr txBox="1"/>
          <p:nvPr/>
        </p:nvSpPr>
        <p:spPr>
          <a:xfrm>
            <a:off x="6460236" y="5349240"/>
            <a:ext cx="1325880" cy="365760"/>
          </a:xfrm>
          <a:prstGeom prst="rect">
            <a:avLst/>
          </a:prstGeom>
          <a:noFill/>
        </p:spPr>
        <p:txBody>
          <a:bodyPr wrap="square" anchor="t" lIns="0" rIns="0" tIns="0" bIns="0">
            <a:spAutoFit/>
          </a:bodyPr>
          <a:lstStyle/>
          <a:p>
            <a:pPr algn="ctr">
              <a:lnSpc>
                <a:spcPct val="110000"/>
              </a:lnSpc>
            </a:pPr>
            <a:r>
              <a:rPr sz="900" b="0" i="0">
                <a:solidFill>
                  <a:srgbClr val="6E5A4E"/>
                </a:solidFill>
                <a:latin typeface="Calibri"/>
              </a:rPr>
              <a:t>Diario Bahía de Cádiz</a:t>
            </a:r>
          </a:p>
        </p:txBody>
      </p:sp>
      <p:sp>
        <p:nvSpPr>
          <p:cNvPr id="22" name="Rectangle 21"/>
          <p:cNvSpPr/>
          <p:nvPr/>
        </p:nvSpPr>
        <p:spPr>
          <a:xfrm>
            <a:off x="8074152" y="1600200"/>
            <a:ext cx="3566160" cy="461772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57032" y="1783080"/>
            <a:ext cx="3200400" cy="1600200"/>
          </a:xfrm>
          <a:prstGeom prst="rect">
            <a:avLst/>
          </a:prstGeom>
          <a:solidFill>
            <a:srgbClr val="ECDFC6"/>
          </a:solidFill>
          <a:ln w="15875">
            <a:solidFill>
              <a:srgbClr val="B88A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E5A4E"/>
                </a:solidFill>
                <a:latin typeface="Calibri"/>
              </a:rPr>
              <a:t>INSERTAR</a:t>
            </a:r>
          </a:p>
          <a:p>
            <a:pPr algn="ctr"/>
            <a:r>
              <a:rPr sz="1100" b="0">
                <a:solidFill>
                  <a:srgbClr val="6E5A4E"/>
                </a:solidFill>
                <a:latin typeface="Calibri"/>
              </a:rPr>
              <a:t>Imagen de Sociedad Latera</a:t>
            </a:r>
          </a:p>
        </p:txBody>
      </p:sp>
      <p:sp>
        <p:nvSpPr>
          <p:cNvPr id="24" name="TextBox 23"/>
          <p:cNvSpPr txBox="1"/>
          <p:nvPr/>
        </p:nvSpPr>
        <p:spPr>
          <a:xfrm>
            <a:off x="8257032" y="3520440"/>
            <a:ext cx="3200400" cy="365760"/>
          </a:xfrm>
          <a:prstGeom prst="rect">
            <a:avLst/>
          </a:prstGeom>
          <a:noFill/>
        </p:spPr>
        <p:txBody>
          <a:bodyPr wrap="square" anchor="t" lIns="0" rIns="0" tIns="0" bIns="0">
            <a:spAutoFit/>
          </a:bodyPr>
          <a:lstStyle/>
          <a:p>
            <a:pPr algn="l">
              <a:lnSpc>
                <a:spcPct val="110000"/>
              </a:lnSpc>
            </a:pPr>
            <a:r>
              <a:rPr sz="1700" b="1" i="0">
                <a:solidFill>
                  <a:srgbClr val="7A0E1E"/>
                </a:solidFill>
                <a:latin typeface="Cambria"/>
              </a:rPr>
              <a:t>Sociedad Latera</a:t>
            </a:r>
          </a:p>
        </p:txBody>
      </p:sp>
      <p:sp>
        <p:nvSpPr>
          <p:cNvPr id="25" name="TextBox 24"/>
          <p:cNvSpPr txBox="1"/>
          <p:nvPr/>
        </p:nvSpPr>
        <p:spPr>
          <a:xfrm>
            <a:off x="8257032" y="3886200"/>
            <a:ext cx="3200400" cy="274320"/>
          </a:xfrm>
          <a:prstGeom prst="rect">
            <a:avLst/>
          </a:prstGeom>
          <a:noFill/>
        </p:spPr>
        <p:txBody>
          <a:bodyPr wrap="square" anchor="t" lIns="0" rIns="0" tIns="0" bIns="0">
            <a:spAutoFit/>
          </a:bodyPr>
          <a:lstStyle/>
          <a:p>
            <a:pPr algn="l">
              <a:lnSpc>
                <a:spcPct val="110000"/>
              </a:lnSpc>
            </a:pPr>
            <a:r>
              <a:rPr sz="1050" b="1" i="0">
                <a:solidFill>
                  <a:srgbClr val="C8102E"/>
                </a:solidFill>
                <a:latin typeface="Calibri"/>
              </a:rPr>
              <a:t>Campaña de verano · Ogilvy</a:t>
            </a:r>
          </a:p>
        </p:txBody>
      </p:sp>
      <p:sp>
        <p:nvSpPr>
          <p:cNvPr id="26" name="TextBox 25"/>
          <p:cNvSpPr txBox="1"/>
          <p:nvPr/>
        </p:nvSpPr>
        <p:spPr>
          <a:xfrm>
            <a:off x="8257032" y="4206240"/>
            <a:ext cx="2011680" cy="1828800"/>
          </a:xfrm>
          <a:prstGeom prst="rect">
            <a:avLst/>
          </a:prstGeom>
          <a:noFill/>
        </p:spPr>
        <p:txBody>
          <a:bodyPr wrap="square" anchor="t" lIns="0" rIns="0" tIns="0" bIns="0">
            <a:spAutoFit/>
          </a:bodyPr>
          <a:lstStyle/>
          <a:p>
            <a:pPr algn="l">
              <a:lnSpc>
                <a:spcPct val="110000"/>
              </a:lnSpc>
            </a:pPr>
            <a:r>
              <a:rPr sz="1050" b="0" i="0">
                <a:solidFill>
                  <a:srgbClr val="2B1B16"/>
                </a:solidFill>
                <a:latin typeface="Calibri"/>
              </a:rPr>
              <a:t>Homenaje a los lateros reales de las playas andaluzas con ropa y carro diseñados por la marca.</a:t>
            </a:r>
          </a:p>
        </p:txBody>
      </p:sp>
      <p:pic>
        <p:nvPicPr>
          <p:cNvPr id="27" name="Picture 26" descr="q_lateros.png"/>
          <p:cNvPicPr>
            <a:picLocks noChangeAspect="1"/>
          </p:cNvPicPr>
          <p:nvPr/>
        </p:nvPicPr>
        <p:blipFill>
          <a:blip r:embed="rId4"/>
          <a:stretch>
            <a:fillRect/>
          </a:stretch>
        </p:blipFill>
        <p:spPr>
          <a:xfrm>
            <a:off x="10405872" y="4343400"/>
            <a:ext cx="960120" cy="960120"/>
          </a:xfrm>
          <a:prstGeom prst="rect">
            <a:avLst/>
          </a:prstGeom>
        </p:spPr>
      </p:pic>
      <p:sp>
        <p:nvSpPr>
          <p:cNvPr id="28" name="TextBox 27"/>
          <p:cNvSpPr txBox="1"/>
          <p:nvPr/>
        </p:nvSpPr>
        <p:spPr>
          <a:xfrm>
            <a:off x="10222992" y="5349240"/>
            <a:ext cx="1325880" cy="365760"/>
          </a:xfrm>
          <a:prstGeom prst="rect">
            <a:avLst/>
          </a:prstGeom>
          <a:noFill/>
        </p:spPr>
        <p:txBody>
          <a:bodyPr wrap="square" anchor="t" lIns="0" rIns="0" tIns="0" bIns="0">
            <a:spAutoFit/>
          </a:bodyPr>
          <a:lstStyle/>
          <a:p>
            <a:pPr algn="ctr">
              <a:lnSpc>
                <a:spcPct val="110000"/>
              </a:lnSpc>
            </a:pPr>
            <a:r>
              <a:rPr sz="900" b="0" i="0">
                <a:solidFill>
                  <a:srgbClr val="6E5A4E"/>
                </a:solidFill>
                <a:latin typeface="Calibri"/>
              </a:rPr>
              <a:t>Reason Why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03 · FASE 2 · INVESTIGACIÓN</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Lo que no hemos podido verificar y nuestra elección</a:t>
            </a:r>
          </a:p>
        </p:txBody>
      </p:sp>
      <p:sp>
        <p:nvSpPr>
          <p:cNvPr id="5" name="Rectangle 4"/>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7" name="TextBox 6"/>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11</a:t>
            </a:r>
          </a:p>
        </p:txBody>
      </p:sp>
      <p:sp>
        <p:nvSpPr>
          <p:cNvPr id="8" name="Rectangle 7"/>
          <p:cNvSpPr/>
          <p:nvPr/>
        </p:nvSpPr>
        <p:spPr>
          <a:xfrm>
            <a:off x="548640" y="1600200"/>
            <a:ext cx="5394960" cy="461772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00200"/>
            <a:ext cx="64008" cy="4617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37360"/>
            <a:ext cx="5029200" cy="36576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Cómo hemos buscado</a:t>
            </a:r>
          </a:p>
        </p:txBody>
      </p:sp>
      <p:sp>
        <p:nvSpPr>
          <p:cNvPr id="11" name="TextBox 10"/>
          <p:cNvSpPr txBox="1"/>
          <p:nvPr/>
        </p:nvSpPr>
        <p:spPr>
          <a:xfrm>
            <a:off x="777240" y="2148840"/>
            <a:ext cx="5029200" cy="3977640"/>
          </a:xfrm>
          <a:prstGeom prst="rect">
            <a:avLst/>
          </a:prstGeom>
          <a:noFill/>
        </p:spPr>
        <p:txBody>
          <a:bodyPr wrap="square" lIns="0" rIns="0" tIns="0" bIns="0">
            <a:spAutoFit/>
          </a:bodyPr>
          <a:lstStyle/>
          <a:p>
            <a:pPr>
              <a:lnSpc>
                <a:spcPct val="108000"/>
              </a:lnSpc>
              <a:spcAft>
                <a:spcPts val="300"/>
              </a:spcAft>
            </a:pPr>
            <a:r>
              <a:rPr sz="800">
                <a:solidFill>
                  <a:srgbClr val="C8102E"/>
                </a:solidFill>
                <a:latin typeface="Calibri"/>
              </a:rPr>
              <a:t>•  </a:t>
            </a:r>
            <a:r>
              <a:rPr sz="1200" b="0" i="0">
                <a:solidFill>
                  <a:srgbClr val="2B1B16"/>
                </a:solidFill>
                <a:latin typeface="Calibri"/>
              </a:rPr>
              <a:t>Web y notas de prensa de Heineken, fichas de las agencias (Ogilvy, dentsu), prensa especializada (Reason Why) y prensa andaluza.</a:t>
            </a:r>
          </a:p>
          <a:p>
            <a:pPr>
              <a:lnSpc>
                <a:spcPct val="108000"/>
              </a:lnSpc>
              <a:spcAft>
                <a:spcPts val="300"/>
              </a:spcAft>
            </a:pPr>
            <a:r>
              <a:rPr sz="800">
                <a:solidFill>
                  <a:srgbClr val="C8102E"/>
                </a:solidFill>
                <a:latin typeface="Calibri"/>
              </a:rPr>
              <a:t>•  </a:t>
            </a:r>
            <a:r>
              <a:rPr sz="1200" b="1" i="0">
                <a:solidFill>
                  <a:srgbClr val="2B1B16"/>
                </a:solidFill>
                <a:latin typeface="Calibri"/>
              </a:rPr>
              <a:t>Prensa y radio: </a:t>
            </a:r>
            <a:r>
              <a:rPr sz="1200" b="0" i="0">
                <a:solidFill>
                  <a:srgbClr val="2B1B16"/>
                </a:solidFill>
                <a:latin typeface="Calibri"/>
              </a:rPr>
              <a:t>varias fuentes dicen que «Libera lo que sientes» (2018) y el Carnaval 2015 usaron prensa y radio, pero no hemos encontrado ninguna página ni cuña concreta con fecha.</a:t>
            </a:r>
          </a:p>
          <a:p>
            <a:pPr>
              <a:lnSpc>
                <a:spcPct val="108000"/>
              </a:lnSpc>
              <a:spcAft>
                <a:spcPts val="300"/>
              </a:spcAft>
            </a:pPr>
            <a:r>
              <a:rPr sz="800">
                <a:solidFill>
                  <a:srgbClr val="C8102E"/>
                </a:solidFill>
                <a:latin typeface="Calibri"/>
              </a:rPr>
              <a:t>•  </a:t>
            </a:r>
            <a:r>
              <a:rPr sz="1200" b="1" i="0">
                <a:solidFill>
                  <a:srgbClr val="2B1B16"/>
                </a:solidFill>
                <a:latin typeface="Calibri"/>
              </a:rPr>
              <a:t>Revistas: </a:t>
            </a:r>
            <a:r>
              <a:rPr sz="1200" b="0" i="0">
                <a:solidFill>
                  <a:srgbClr val="2B1B16"/>
                </a:solidFill>
                <a:latin typeface="Calibri"/>
              </a:rPr>
              <a:t>sin resultados recientes.</a:t>
            </a:r>
          </a:p>
          <a:p>
            <a:pPr>
              <a:lnSpc>
                <a:spcPct val="108000"/>
              </a:lnSpc>
              <a:spcAft>
                <a:spcPts val="300"/>
              </a:spcAft>
            </a:pPr>
            <a:r>
              <a:rPr sz="800">
                <a:solidFill>
                  <a:srgbClr val="C8102E"/>
                </a:solidFill>
                <a:latin typeface="Calibri"/>
              </a:rPr>
              <a:t>•  </a:t>
            </a:r>
            <a:r>
              <a:rPr sz="1200" b="0" i="0">
                <a:solidFill>
                  <a:srgbClr val="2B1B16"/>
                </a:solidFill>
                <a:latin typeface="Calibri"/>
              </a:rPr>
              <a:t>Por eso no presentamos como reales anuncios de prensa o radio que no podemos enseñar.</a:t>
            </a:r>
          </a:p>
        </p:txBody>
      </p:sp>
      <p:sp>
        <p:nvSpPr>
          <p:cNvPr id="12" name="Rectangle 11"/>
          <p:cNvSpPr/>
          <p:nvPr/>
        </p:nvSpPr>
        <p:spPr>
          <a:xfrm>
            <a:off x="6245352" y="1600200"/>
            <a:ext cx="5394960" cy="4617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1783080"/>
            <a:ext cx="4846320" cy="365760"/>
          </a:xfrm>
          <a:prstGeom prst="rect">
            <a:avLst/>
          </a:prstGeom>
          <a:noFill/>
        </p:spPr>
        <p:txBody>
          <a:bodyPr wrap="square" anchor="t" lIns="0" rIns="0" tIns="0" bIns="0">
            <a:spAutoFit/>
          </a:bodyPr>
          <a:lstStyle/>
          <a:p>
            <a:pPr algn="l">
              <a:lnSpc>
                <a:spcPct val="110000"/>
              </a:lnSpc>
            </a:pPr>
            <a:r>
              <a:rPr sz="1200" b="1" i="0">
                <a:solidFill>
                  <a:srgbClr val="ECDFC6"/>
                </a:solidFill>
                <a:latin typeface="Calibri"/>
              </a:rPr>
              <a:t>LOS DOS ANUNCIOS ELEGIDOS</a:t>
            </a:r>
          </a:p>
        </p:txBody>
      </p:sp>
      <p:sp>
        <p:nvSpPr>
          <p:cNvPr id="14" name="TextBox 13"/>
          <p:cNvSpPr txBox="1"/>
          <p:nvPr/>
        </p:nvSpPr>
        <p:spPr>
          <a:xfrm>
            <a:off x="6519672" y="2194560"/>
            <a:ext cx="4846320" cy="457200"/>
          </a:xfrm>
          <a:prstGeom prst="rect">
            <a:avLst/>
          </a:prstGeom>
          <a:noFill/>
        </p:spPr>
        <p:txBody>
          <a:bodyPr wrap="square" anchor="t" lIns="0" rIns="0" tIns="0" bIns="0">
            <a:spAutoFit/>
          </a:bodyPr>
          <a:lstStyle/>
          <a:p>
            <a:pPr algn="l">
              <a:lnSpc>
                <a:spcPct val="110000"/>
              </a:lnSpc>
            </a:pPr>
            <a:r>
              <a:rPr sz="2200" b="1" i="0">
                <a:solidFill>
                  <a:srgbClr val="F7F0E3"/>
                </a:solidFill>
                <a:latin typeface="Cambria"/>
              </a:rPr>
              <a:t>1 · Spot «Lola»</a:t>
            </a:r>
          </a:p>
        </p:txBody>
      </p:sp>
      <p:sp>
        <p:nvSpPr>
          <p:cNvPr id="15" name="TextBox 14"/>
          <p:cNvSpPr txBox="1"/>
          <p:nvPr/>
        </p:nvSpPr>
        <p:spPr>
          <a:xfrm>
            <a:off x="6519672" y="2651760"/>
            <a:ext cx="4846320" cy="365760"/>
          </a:xfrm>
          <a:prstGeom prst="rect">
            <a:avLst/>
          </a:prstGeom>
          <a:noFill/>
        </p:spPr>
        <p:txBody>
          <a:bodyPr wrap="square" anchor="t" lIns="0" rIns="0" tIns="0" bIns="0">
            <a:spAutoFit/>
          </a:bodyPr>
          <a:lstStyle/>
          <a:p>
            <a:pPr algn="l">
              <a:lnSpc>
                <a:spcPct val="110000"/>
              </a:lnSpc>
            </a:pPr>
            <a:r>
              <a:rPr sz="1200" b="0" i="0">
                <a:solidFill>
                  <a:srgbClr val="ECDFC6"/>
                </a:solidFill>
                <a:latin typeface="Calibri"/>
              </a:rPr>
              <a:t>Televisión · enero 2021 · medio de masas</a:t>
            </a:r>
          </a:p>
        </p:txBody>
      </p:sp>
      <p:sp>
        <p:nvSpPr>
          <p:cNvPr id="16" name="TextBox 15"/>
          <p:cNvSpPr txBox="1"/>
          <p:nvPr/>
        </p:nvSpPr>
        <p:spPr>
          <a:xfrm>
            <a:off x="6519672" y="3200400"/>
            <a:ext cx="4846320" cy="457200"/>
          </a:xfrm>
          <a:prstGeom prst="rect">
            <a:avLst/>
          </a:prstGeom>
          <a:noFill/>
        </p:spPr>
        <p:txBody>
          <a:bodyPr wrap="square" anchor="t" lIns="0" rIns="0" tIns="0" bIns="0">
            <a:spAutoFit/>
          </a:bodyPr>
          <a:lstStyle/>
          <a:p>
            <a:pPr algn="l">
              <a:lnSpc>
                <a:spcPct val="110000"/>
              </a:lnSpc>
            </a:pPr>
            <a:r>
              <a:rPr sz="2200" b="1" i="0">
                <a:solidFill>
                  <a:srgbClr val="F7F0E3"/>
                </a:solidFill>
                <a:latin typeface="Cambria"/>
              </a:rPr>
              <a:t>2 · Lonas «Tú tan de Berlín»</a:t>
            </a:r>
          </a:p>
        </p:txBody>
      </p:sp>
      <p:sp>
        <p:nvSpPr>
          <p:cNvPr id="17" name="TextBox 16"/>
          <p:cNvSpPr txBox="1"/>
          <p:nvPr/>
        </p:nvSpPr>
        <p:spPr>
          <a:xfrm>
            <a:off x="6519672" y="3657600"/>
            <a:ext cx="4846320" cy="365760"/>
          </a:xfrm>
          <a:prstGeom prst="rect">
            <a:avLst/>
          </a:prstGeom>
          <a:noFill/>
        </p:spPr>
        <p:txBody>
          <a:bodyPr wrap="square" anchor="t" lIns="0" rIns="0" tIns="0" bIns="0">
            <a:spAutoFit/>
          </a:bodyPr>
          <a:lstStyle/>
          <a:p>
            <a:pPr algn="l">
              <a:lnSpc>
                <a:spcPct val="110000"/>
              </a:lnSpc>
            </a:pPr>
            <a:r>
              <a:rPr sz="1200" b="0" i="0">
                <a:solidFill>
                  <a:srgbClr val="ECDFC6"/>
                </a:solidFill>
                <a:latin typeface="Calibri"/>
              </a:rPr>
              <a:t>Exterior / guerrilla · mayo 2026 · Sevilla</a:t>
            </a:r>
          </a:p>
        </p:txBody>
      </p:sp>
      <p:sp>
        <p:nvSpPr>
          <p:cNvPr id="18" name="Rectangle 17"/>
          <p:cNvSpPr/>
          <p:nvPr/>
        </p:nvSpPr>
        <p:spPr>
          <a:xfrm>
            <a:off x="6519672" y="4206240"/>
            <a:ext cx="914400" cy="36576"/>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4389120"/>
            <a:ext cx="4846320" cy="1737360"/>
          </a:xfrm>
          <a:prstGeom prst="rect">
            <a:avLst/>
          </a:prstGeom>
          <a:noFill/>
        </p:spPr>
        <p:txBody>
          <a:bodyPr wrap="square" anchor="t" lIns="0" rIns="0" tIns="0" bIns="0">
            <a:spAutoFit/>
          </a:bodyPr>
          <a:lstStyle/>
          <a:p>
            <a:pPr algn="l">
              <a:lnSpc>
                <a:spcPct val="115000"/>
              </a:lnSpc>
            </a:pPr>
            <a:r>
              <a:rPr sz="1350" b="1" i="0">
                <a:solidFill>
                  <a:srgbClr val="ECDFC6"/>
                </a:solidFill>
                <a:latin typeface="Calibri"/>
              </a:rPr>
              <a:t>Por qué compararlos: </a:t>
            </a:r>
            <a:r>
              <a:rPr sz="1350" b="0" i="0">
                <a:solidFill>
                  <a:srgbClr val="F7F0E3"/>
                </a:solidFill>
                <a:latin typeface="Calibri"/>
              </a:rPr>
              <a:t>transmiten la misma idea («Con mucho acento») con dos formatos opuestos: una gran producción para toda España frente a una acción barata, rápida y local que se hizo viral.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04 · FASE 3 · ANUNCIO 1</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Spot «Lola» · Con mucho acento (2021)</a:t>
            </a:r>
          </a:p>
        </p:txBody>
      </p:sp>
      <p:sp>
        <p:nvSpPr>
          <p:cNvPr id="5" name="TextBox 4"/>
          <p:cNvSpPr txBox="1"/>
          <p:nvPr/>
        </p:nvSpPr>
        <p:spPr>
          <a:xfrm>
            <a:off x="548640" y="1261872"/>
            <a:ext cx="11064240" cy="365760"/>
          </a:xfrm>
          <a:prstGeom prst="rect">
            <a:avLst/>
          </a:prstGeom>
          <a:noFill/>
        </p:spPr>
        <p:txBody>
          <a:bodyPr wrap="square" anchor="t" lIns="0" rIns="0" tIns="0" bIns="0">
            <a:spAutoFit/>
          </a:bodyPr>
          <a:lstStyle/>
          <a:p>
            <a:pPr algn="l">
              <a:lnSpc>
                <a:spcPct val="110000"/>
              </a:lnSpc>
            </a:pPr>
            <a:r>
              <a:rPr sz="1400" b="0" i="1">
                <a:solidFill>
                  <a:srgbClr val="6E5A4E"/>
                </a:solidFill>
                <a:latin typeface="Calibri"/>
              </a:rPr>
              <a:t>Ficha analítica</a:t>
            </a:r>
          </a:p>
        </p:txBody>
      </p:sp>
      <p:sp>
        <p:nvSpPr>
          <p:cNvPr id="6" name="Rectangle 5"/>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8" name="TextBox 7"/>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12</a:t>
            </a:r>
          </a:p>
        </p:txBody>
      </p:sp>
      <p:sp>
        <p:nvSpPr>
          <p:cNvPr id="9" name="Rectangle 8"/>
          <p:cNvSpPr/>
          <p:nvPr/>
        </p:nvSpPr>
        <p:spPr>
          <a:xfrm>
            <a:off x="548640" y="1783080"/>
            <a:ext cx="4937760" cy="2788920"/>
          </a:xfrm>
          <a:prstGeom prst="rect">
            <a:avLst/>
          </a:prstGeom>
          <a:solidFill>
            <a:srgbClr val="ECDFC6"/>
          </a:solidFill>
          <a:ln w="15875">
            <a:solidFill>
              <a:srgbClr val="B88A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E5A4E"/>
                </a:solidFill>
                <a:latin typeface="Calibri"/>
              </a:rPr>
              <a:t>INSERTAR</a:t>
            </a:r>
          </a:p>
          <a:p>
            <a:pPr algn="ctr"/>
            <a:r>
              <a:rPr sz="1100" b="0">
                <a:solidFill>
                  <a:srgbClr val="6E5A4E"/>
                </a:solidFill>
                <a:latin typeface="Calibri"/>
              </a:rPr>
              <a:t>Fotograma del spot «Lola» (Lola Flores sobre fondo negro)</a:t>
            </a:r>
          </a:p>
          <a:p>
            <a:pPr algn="ctr"/>
            <a:r>
              <a:rPr sz="1100" b="0">
                <a:solidFill>
                  <a:srgbClr val="6E5A4E"/>
                </a:solidFill>
                <a:latin typeface="Calibri"/>
              </a:rPr>
              <a:t>Fuente: canal de YouTube de Cruzcampo</a:t>
            </a:r>
          </a:p>
          <a:p>
            <a:pPr algn="ctr"/>
            <a:r>
              <a:rPr sz="1100" b="0">
                <a:solidFill>
                  <a:srgbClr val="6E5A4E"/>
                </a:solidFill>
                <a:latin typeface="Calibri"/>
              </a:rPr>
              <a:t>o Spain Audiovisual Hub (gob.es)</a:t>
            </a:r>
          </a:p>
        </p:txBody>
      </p:sp>
      <p:pic>
        <p:nvPicPr>
          <p:cNvPr id="10" name="Picture 9" descr="q_lola_hub.png"/>
          <p:cNvPicPr>
            <a:picLocks noChangeAspect="1"/>
          </p:cNvPicPr>
          <p:nvPr/>
        </p:nvPicPr>
        <p:blipFill>
          <a:blip r:embed="rId2"/>
          <a:stretch>
            <a:fillRect/>
          </a:stretch>
        </p:blipFill>
        <p:spPr>
          <a:xfrm>
            <a:off x="548640" y="4800600"/>
            <a:ext cx="1051560" cy="1051560"/>
          </a:xfrm>
          <a:prstGeom prst="rect">
            <a:avLst/>
          </a:prstGeom>
        </p:spPr>
      </p:pic>
      <p:sp>
        <p:nvSpPr>
          <p:cNvPr id="11" name="TextBox 10"/>
          <p:cNvSpPr txBox="1"/>
          <p:nvPr/>
        </p:nvSpPr>
        <p:spPr>
          <a:xfrm>
            <a:off x="365760" y="5897880"/>
            <a:ext cx="1417320" cy="365760"/>
          </a:xfrm>
          <a:prstGeom prst="rect">
            <a:avLst/>
          </a:prstGeom>
          <a:noFill/>
        </p:spPr>
        <p:txBody>
          <a:bodyPr wrap="square" anchor="t" lIns="0" rIns="0" tIns="0" bIns="0">
            <a:spAutoFit/>
          </a:bodyPr>
          <a:lstStyle/>
          <a:p>
            <a:pPr algn="ctr">
              <a:lnSpc>
                <a:spcPct val="110000"/>
              </a:lnSpc>
            </a:pPr>
            <a:r>
              <a:rPr sz="900" b="0" i="0">
                <a:solidFill>
                  <a:srgbClr val="6E5A4E"/>
                </a:solidFill>
                <a:latin typeface="Calibri"/>
              </a:rPr>
              <a:t>Ficha del anuncio</a:t>
            </a:r>
          </a:p>
        </p:txBody>
      </p:sp>
      <p:pic>
        <p:nvPicPr>
          <p:cNvPr id="12" name="Picture 11" descr="q_lola_ogilvy.png"/>
          <p:cNvPicPr>
            <a:picLocks noChangeAspect="1"/>
          </p:cNvPicPr>
          <p:nvPr/>
        </p:nvPicPr>
        <p:blipFill>
          <a:blip r:embed="rId3"/>
          <a:stretch>
            <a:fillRect/>
          </a:stretch>
        </p:blipFill>
        <p:spPr>
          <a:xfrm>
            <a:off x="2057400" y="4800600"/>
            <a:ext cx="1051560" cy="1051560"/>
          </a:xfrm>
          <a:prstGeom prst="rect">
            <a:avLst/>
          </a:prstGeom>
        </p:spPr>
      </p:pic>
      <p:sp>
        <p:nvSpPr>
          <p:cNvPr id="13" name="TextBox 12"/>
          <p:cNvSpPr txBox="1"/>
          <p:nvPr/>
        </p:nvSpPr>
        <p:spPr>
          <a:xfrm>
            <a:off x="1874520" y="5897880"/>
            <a:ext cx="1417320" cy="365760"/>
          </a:xfrm>
          <a:prstGeom prst="rect">
            <a:avLst/>
          </a:prstGeom>
          <a:noFill/>
        </p:spPr>
        <p:txBody>
          <a:bodyPr wrap="square" anchor="t" lIns="0" rIns="0" tIns="0" bIns="0">
            <a:spAutoFit/>
          </a:bodyPr>
          <a:lstStyle/>
          <a:p>
            <a:pPr algn="ctr">
              <a:lnSpc>
                <a:spcPct val="110000"/>
              </a:lnSpc>
            </a:pPr>
            <a:r>
              <a:rPr sz="900" b="0" i="0">
                <a:solidFill>
                  <a:srgbClr val="6E5A4E"/>
                </a:solidFill>
                <a:latin typeface="Calibri"/>
              </a:rPr>
              <a:t>Caso de Ogilvy</a:t>
            </a:r>
          </a:p>
        </p:txBody>
      </p:sp>
      <p:sp>
        <p:nvSpPr>
          <p:cNvPr id="14" name="TextBox 13"/>
          <p:cNvSpPr txBox="1"/>
          <p:nvPr/>
        </p:nvSpPr>
        <p:spPr>
          <a:xfrm>
            <a:off x="3429000" y="4846320"/>
            <a:ext cx="2103120" cy="1280160"/>
          </a:xfrm>
          <a:prstGeom prst="rect">
            <a:avLst/>
          </a:prstGeom>
          <a:noFill/>
        </p:spPr>
        <p:txBody>
          <a:bodyPr wrap="square" anchor="t" lIns="0" rIns="0" tIns="0" bIns="0">
            <a:spAutoFit/>
          </a:bodyPr>
          <a:lstStyle/>
          <a:p>
            <a:pPr algn="l">
              <a:lnSpc>
                <a:spcPct val="120000"/>
              </a:lnSpc>
            </a:pPr>
            <a:r>
              <a:rPr sz="1100" b="1" i="0">
                <a:solidFill>
                  <a:srgbClr val="2B1B16"/>
                </a:solidFill>
                <a:latin typeface="Calibri"/>
              </a:rPr>
              <a:t>Fecha: </a:t>
            </a:r>
            <a:r>
              <a:rPr sz="1100" b="0" i="0">
                <a:solidFill>
                  <a:srgbClr val="2B1B16"/>
                </a:solidFill>
                <a:latin typeface="Calibri"/>
              </a:rPr>
              <a:t>21-01-2021</a:t>
            </a:r>
          </a:p>
          <a:p>
            <a:pPr algn="l">
              <a:lnSpc>
                <a:spcPct val="120000"/>
              </a:lnSpc>
            </a:pPr>
            <a:r>
              <a:rPr sz="1100" b="1" i="0">
                <a:solidFill>
                  <a:srgbClr val="2B1B16"/>
                </a:solidFill>
                <a:latin typeface="Calibri"/>
              </a:rPr>
              <a:t>Agencia: </a:t>
            </a:r>
            <a:r>
              <a:rPr sz="1100" b="0" i="0">
                <a:solidFill>
                  <a:srgbClr val="2B1B16"/>
                </a:solidFill>
                <a:latin typeface="Calibri"/>
              </a:rPr>
              <a:t>Ogilvy</a:t>
            </a:r>
          </a:p>
          <a:p>
            <a:pPr algn="l">
              <a:lnSpc>
                <a:spcPct val="120000"/>
              </a:lnSpc>
            </a:pPr>
            <a:r>
              <a:rPr sz="1100" b="1" i="0">
                <a:solidFill>
                  <a:srgbClr val="2B1B16"/>
                </a:solidFill>
                <a:latin typeface="Calibri"/>
              </a:rPr>
              <a:t>Medios: </a:t>
            </a:r>
            <a:r>
              <a:rPr sz="1100" b="0" i="0">
                <a:solidFill>
                  <a:srgbClr val="2B1B16"/>
                </a:solidFill>
                <a:latin typeface="Calibri"/>
              </a:rPr>
              <a:t>dentsu X</a:t>
            </a:r>
          </a:p>
          <a:p>
            <a:pPr algn="l">
              <a:lnSpc>
                <a:spcPct val="120000"/>
              </a:lnSpc>
            </a:pPr>
            <a:r>
              <a:rPr sz="1100" b="1" i="0">
                <a:solidFill>
                  <a:srgbClr val="2B1B16"/>
                </a:solidFill>
                <a:latin typeface="Calibri"/>
              </a:rPr>
              <a:t>Productora: </a:t>
            </a:r>
            <a:r>
              <a:rPr sz="1100" b="0" i="0">
                <a:solidFill>
                  <a:srgbClr val="2B1B16"/>
                </a:solidFill>
                <a:latin typeface="Calibri"/>
              </a:rPr>
              <a:t>Primo</a:t>
            </a:r>
          </a:p>
        </p:txBody>
      </p:sp>
      <p:graphicFrame>
        <p:nvGraphicFramePr>
          <p:cNvPr id="15" name="Table 14"/>
          <p:cNvGraphicFramePr>
            <a:graphicFrameLocks noGrp="1"/>
          </p:cNvGraphicFramePr>
          <p:nvPr/>
        </p:nvGraphicFramePr>
        <p:xfrm>
          <a:off x="5760720" y="1783080"/>
          <a:ext cx="5879592" cy="4343400"/>
        </p:xfrm>
        <a:graphic>
          <a:graphicData uri="http://schemas.openxmlformats.org/drawingml/2006/table">
            <a:tbl>
              <a:tblPr firstRow="1" bandRow="1">
                <a:tableStyleId>{5C22544A-7EE6-4342-B048-85BDC9FD1C3A}</a:tableStyleId>
              </a:tblPr>
              <a:tblGrid>
                <a:gridCol w="1508760"/>
                <a:gridCol w="4370832"/>
              </a:tblGrid>
              <a:tr h="868680">
                <a:tc>
                  <a:txBody>
                    <a:bodyPr wrap="square"/>
                    <a:lstStyle/>
                    <a:p>
                      <a:r>
                        <a:rPr sz="1100" b="1">
                          <a:solidFill>
                            <a:srgbClr val="FFFFFF"/>
                          </a:solidFill>
                          <a:latin typeface="Calibri"/>
                        </a:rPr>
                        <a:t>Campo</a:t>
                      </a:r>
                    </a:p>
                  </a:txBody>
                  <a:tcPr marL="73152" marR="73152" marT="36576" marB="36576" anchor="ctr">
                    <a:solidFill>
                      <a:srgbClr val="7A0E1E"/>
                    </a:solidFill>
                  </a:tcPr>
                </a:tc>
                <a:tc>
                  <a:txBody>
                    <a:bodyPr wrap="square"/>
                    <a:lstStyle/>
                    <a:p>
                      <a:r>
                        <a:rPr sz="1100" b="1">
                          <a:solidFill>
                            <a:srgbClr val="FFFFFF"/>
                          </a:solidFill>
                          <a:latin typeface="Calibri"/>
                        </a:rPr>
                        <a:t>Análisis</a:t>
                      </a:r>
                    </a:p>
                  </a:txBody>
                  <a:tcPr marL="73152" marR="73152" marT="36576" marB="36576" anchor="ctr">
                    <a:solidFill>
                      <a:srgbClr val="7A0E1E"/>
                    </a:solidFill>
                  </a:tcPr>
                </a:tc>
              </a:tr>
              <a:tr h="868680">
                <a:tc>
                  <a:txBody>
                    <a:bodyPr wrap="square"/>
                    <a:lstStyle/>
                    <a:p>
                      <a:r>
                        <a:rPr sz="1100" b="1">
                          <a:solidFill>
                            <a:srgbClr val="7A0E1E"/>
                          </a:solidFill>
                          <a:latin typeface="Calibri"/>
                        </a:rPr>
                        <a:t>Medio y soporte</a:t>
                      </a:r>
                    </a:p>
                  </a:txBody>
                  <a:tcPr marL="73152" marR="73152" marT="36576" marB="36576" anchor="ctr">
                    <a:solidFill>
                      <a:srgbClr val="ECDFC6"/>
                    </a:solidFill>
                  </a:tcPr>
                </a:tc>
                <a:tc>
                  <a:txBody>
                    <a:bodyPr wrap="square"/>
                    <a:lstStyle/>
                    <a:p>
                      <a:r>
                        <a:rPr sz="1100">
                          <a:solidFill>
                            <a:srgbClr val="2B1B16"/>
                          </a:solidFill>
                          <a:latin typeface="Calibri"/>
                        </a:rPr>
                        <a:t>Televisión: emisión en cadenas nacionales en el bloque publicitario, más difusión en YouTube y redes de la marca.</a:t>
                      </a:r>
                    </a:p>
                  </a:txBody>
                  <a:tcPr marL="73152" marR="73152" marT="36576" marB="36576" anchor="ctr">
                    <a:solidFill>
                      <a:srgbClr val="ECDFC6"/>
                    </a:solidFill>
                  </a:tcPr>
                </a:tc>
              </a:tr>
              <a:tr h="868680">
                <a:tc>
                  <a:txBody>
                    <a:bodyPr wrap="square"/>
                    <a:lstStyle/>
                    <a:p>
                      <a:r>
                        <a:rPr sz="1100" b="1">
                          <a:solidFill>
                            <a:srgbClr val="7A0E1E"/>
                          </a:solidFill>
                          <a:latin typeface="Calibri"/>
                        </a:rPr>
                        <a:t>Marca y producto</a:t>
                      </a:r>
                    </a:p>
                  </a:txBody>
                  <a:tcPr marL="73152" marR="73152" marT="36576" marB="36576" anchor="ctr">
                    <a:solidFill>
                      <a:srgbClr val="F7F0E3"/>
                    </a:solidFill>
                  </a:tcPr>
                </a:tc>
                <a:tc>
                  <a:txBody>
                    <a:bodyPr wrap="square"/>
                    <a:lstStyle/>
                    <a:p>
                      <a:r>
                        <a:rPr sz="1100">
                          <a:solidFill>
                            <a:srgbClr val="2B1B16"/>
                          </a:solidFill>
                          <a:latin typeface="Calibri"/>
                        </a:rPr>
                        <a:t>Cruzcampo (Heineken España). Anuncia la marca en general, no un producto concreto: es una campaña de imagen.</a:t>
                      </a:r>
                    </a:p>
                  </a:txBody>
                  <a:tcPr marL="73152" marR="73152" marT="36576" marB="36576" anchor="ctr">
                    <a:solidFill>
                      <a:srgbClr val="F7F0E3"/>
                    </a:solidFill>
                  </a:tcPr>
                </a:tc>
              </a:tr>
              <a:tr h="868680">
                <a:tc>
                  <a:txBody>
                    <a:bodyPr wrap="square"/>
                    <a:lstStyle/>
                    <a:p>
                      <a:r>
                        <a:rPr sz="1100" b="1">
                          <a:solidFill>
                            <a:srgbClr val="7A0E1E"/>
                          </a:solidFill>
                          <a:latin typeface="Calibri"/>
                        </a:rPr>
                        <a:t>Forma publicitaria</a:t>
                      </a:r>
                    </a:p>
                  </a:txBody>
                  <a:tcPr marL="73152" marR="73152" marT="36576" marB="36576" anchor="ctr">
                    <a:solidFill>
                      <a:srgbClr val="ECDFC6"/>
                    </a:solidFill>
                  </a:tcPr>
                </a:tc>
                <a:tc>
                  <a:txBody>
                    <a:bodyPr wrap="square"/>
                    <a:lstStyle/>
                    <a:p>
                      <a:r>
                        <a:rPr sz="1100">
                          <a:solidFill>
                            <a:srgbClr val="2B1B16"/>
                          </a:solidFill>
                          <a:latin typeface="Calibri"/>
                        </a:rPr>
                        <a:t>Spot. Lo reconocemos porque es una pieza audiovisual cerrada, con historia propia, que se emite en el corte publicitario y termina con el logo y el claim.</a:t>
                      </a:r>
                    </a:p>
                  </a:txBody>
                  <a:tcPr marL="73152" marR="73152" marT="36576" marB="36576" anchor="ctr">
                    <a:solidFill>
                      <a:srgbClr val="ECDFC6"/>
                    </a:solidFill>
                  </a:tcPr>
                </a:tc>
              </a:tr>
              <a:tr h="868680">
                <a:tc>
                  <a:txBody>
                    <a:bodyPr wrap="square"/>
                    <a:lstStyle/>
                    <a:p>
                      <a:r>
                        <a:rPr sz="1100" b="1">
                          <a:solidFill>
                            <a:srgbClr val="7A0E1E"/>
                          </a:solidFill>
                          <a:latin typeface="Calibri"/>
                        </a:rPr>
                        <a:t>Público objetivo</a:t>
                      </a:r>
                    </a:p>
                  </a:txBody>
                  <a:tcPr marL="73152" marR="73152" marT="36576" marB="36576" anchor="ctr">
                    <a:solidFill>
                      <a:srgbClr val="F7F0E3"/>
                    </a:solidFill>
                  </a:tcPr>
                </a:tc>
                <a:tc>
                  <a:txBody>
                    <a:bodyPr wrap="square"/>
                    <a:lstStyle/>
                    <a:p>
                      <a:r>
                        <a:rPr sz="1100">
                          <a:solidFill>
                            <a:srgbClr val="2B1B16"/>
                          </a:solidFill>
                          <a:latin typeface="Calibri"/>
                        </a:rPr>
                        <a:t>Adultos de 25 a 55 años, sobre todo andaluces y del resto de España con raíces o cariño por el sur. Lola Flores atrae a quien la vio en vida (40+) y la tecnología deepfake atrae a jóvenes activos en redes.</a:t>
                      </a:r>
                    </a:p>
                  </a:txBody>
                  <a:tcPr marL="73152" marR="73152" marT="36576" marB="36576" anchor="ctr">
                    <a:solidFill>
                      <a:srgbClr val="F7F0E3"/>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04 · FASE 3 · ANUNCIO 1</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Spot «Lola»: mensaje, recursos y elección del medio</a:t>
            </a:r>
          </a:p>
        </p:txBody>
      </p:sp>
      <p:sp>
        <p:nvSpPr>
          <p:cNvPr id="5" name="Rectangle 4"/>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7" name="TextBox 6"/>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13</a:t>
            </a:r>
          </a:p>
        </p:txBody>
      </p:sp>
      <p:sp>
        <p:nvSpPr>
          <p:cNvPr id="8" name="Rectangle 7"/>
          <p:cNvSpPr/>
          <p:nvPr/>
        </p:nvSpPr>
        <p:spPr>
          <a:xfrm>
            <a:off x="548640" y="1600200"/>
            <a:ext cx="5394960" cy="224028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00200"/>
            <a:ext cx="64008" cy="22402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37360"/>
            <a:ext cx="5029200" cy="36576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Qué comunica</a:t>
            </a:r>
          </a:p>
        </p:txBody>
      </p:sp>
      <p:sp>
        <p:nvSpPr>
          <p:cNvPr id="11" name="TextBox 10"/>
          <p:cNvSpPr txBox="1"/>
          <p:nvPr/>
        </p:nvSpPr>
        <p:spPr>
          <a:xfrm>
            <a:off x="777240" y="2148840"/>
            <a:ext cx="5029200" cy="1600200"/>
          </a:xfrm>
          <a:prstGeom prst="rect">
            <a:avLst/>
          </a:prstGeom>
          <a:noFill/>
        </p:spPr>
        <p:txBody>
          <a:bodyPr wrap="square" lIns="0" rIns="0" tIns="0" bIns="0">
            <a:spAutoFit/>
          </a:bodyPr>
          <a:lstStyle/>
          <a:p>
            <a:pPr>
              <a:lnSpc>
                <a:spcPct val="108000"/>
              </a:lnSpc>
              <a:spcAft>
                <a:spcPts val="300"/>
              </a:spcAft>
            </a:pPr>
            <a:r>
              <a:rPr sz="800">
                <a:solidFill>
                  <a:srgbClr val="C8102E"/>
                </a:solidFill>
                <a:latin typeface="Calibri"/>
              </a:rPr>
              <a:t>•  </a:t>
            </a:r>
            <a:r>
              <a:rPr sz="1200" b="1" i="0">
                <a:solidFill>
                  <a:srgbClr val="2B1B16"/>
                </a:solidFill>
                <a:latin typeface="Calibri"/>
              </a:rPr>
              <a:t>Mensaje: </a:t>
            </a:r>
            <a:r>
              <a:rPr sz="1200" b="0" i="0">
                <a:solidFill>
                  <a:srgbClr val="2B1B16"/>
                </a:solidFill>
                <a:latin typeface="Calibri"/>
              </a:rPr>
              <a:t>«el acento es tu tesoro»: hay que sentirse orgulloso de las raíces y no esconder el acento.</a:t>
            </a:r>
          </a:p>
          <a:p>
            <a:pPr>
              <a:lnSpc>
                <a:spcPct val="108000"/>
              </a:lnSpc>
              <a:spcAft>
                <a:spcPts val="300"/>
              </a:spcAft>
            </a:pPr>
            <a:r>
              <a:rPr sz="800">
                <a:solidFill>
                  <a:srgbClr val="C8102E"/>
                </a:solidFill>
                <a:latin typeface="Calibri"/>
              </a:rPr>
              <a:t>•  </a:t>
            </a:r>
            <a:r>
              <a:rPr sz="1200" b="1" i="0">
                <a:solidFill>
                  <a:srgbClr val="2B1B16"/>
                </a:solidFill>
                <a:latin typeface="Calibri"/>
              </a:rPr>
              <a:t>Tono: </a:t>
            </a:r>
            <a:r>
              <a:rPr sz="1200" b="0" i="0">
                <a:solidFill>
                  <a:srgbClr val="2B1B16"/>
                </a:solidFill>
                <a:latin typeface="Calibri"/>
              </a:rPr>
              <a:t>emocional, nostálgico y reivindicativo.</a:t>
            </a:r>
          </a:p>
          <a:p>
            <a:pPr>
              <a:lnSpc>
                <a:spcPct val="108000"/>
              </a:lnSpc>
              <a:spcAft>
                <a:spcPts val="300"/>
              </a:spcAft>
            </a:pPr>
            <a:r>
              <a:rPr sz="800">
                <a:solidFill>
                  <a:srgbClr val="C8102E"/>
                </a:solidFill>
                <a:latin typeface="Calibri"/>
              </a:rPr>
              <a:t>•  </a:t>
            </a:r>
            <a:r>
              <a:rPr sz="1200" b="1" i="0">
                <a:solidFill>
                  <a:srgbClr val="2B1B16"/>
                </a:solidFill>
                <a:latin typeface="Calibri"/>
              </a:rPr>
              <a:t>Llamada a la acción: </a:t>
            </a:r>
            <a:r>
              <a:rPr sz="1200" b="0" i="0">
                <a:solidFill>
                  <a:srgbClr val="2B1B16"/>
                </a:solidFill>
                <a:latin typeface="Calibri"/>
              </a:rPr>
              <a:t>implícita: identificarse con la marca y compartir el orgullo (#ConMuchoAcento).</a:t>
            </a:r>
          </a:p>
        </p:txBody>
      </p:sp>
      <p:sp>
        <p:nvSpPr>
          <p:cNvPr id="12" name="Rectangle 11"/>
          <p:cNvSpPr/>
          <p:nvPr/>
        </p:nvSpPr>
        <p:spPr>
          <a:xfrm>
            <a:off x="548640" y="3977639"/>
            <a:ext cx="5394960" cy="224028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977639"/>
            <a:ext cx="64008" cy="22402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114799"/>
            <a:ext cx="5029200" cy="36576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Recursos que destacan</a:t>
            </a:r>
          </a:p>
        </p:txBody>
      </p:sp>
      <p:sp>
        <p:nvSpPr>
          <p:cNvPr id="15" name="TextBox 14"/>
          <p:cNvSpPr txBox="1"/>
          <p:nvPr/>
        </p:nvSpPr>
        <p:spPr>
          <a:xfrm>
            <a:off x="777240" y="4526279"/>
            <a:ext cx="5029200" cy="1600200"/>
          </a:xfrm>
          <a:prstGeom prst="rect">
            <a:avLst/>
          </a:prstGeom>
          <a:noFill/>
        </p:spPr>
        <p:txBody>
          <a:bodyPr wrap="square" lIns="0" rIns="0" tIns="0" bIns="0">
            <a:spAutoFit/>
          </a:bodyPr>
          <a:lstStyle/>
          <a:p>
            <a:pPr>
              <a:lnSpc>
                <a:spcPct val="108000"/>
              </a:lnSpc>
              <a:spcAft>
                <a:spcPts val="300"/>
              </a:spcAft>
            </a:pPr>
            <a:r>
              <a:rPr sz="800">
                <a:solidFill>
                  <a:srgbClr val="C8102E"/>
                </a:solidFill>
                <a:latin typeface="Calibri"/>
              </a:rPr>
              <a:t>•  </a:t>
            </a:r>
            <a:r>
              <a:rPr sz="1200" b="0" i="0">
                <a:solidFill>
                  <a:srgbClr val="2B1B16"/>
                </a:solidFill>
                <a:latin typeface="Calibri"/>
              </a:rPr>
              <a:t>Lola Flores recreada con deepfake: más de 5.000 imágenes y 3 días de rodaje en Málaga.</a:t>
            </a:r>
          </a:p>
          <a:p>
            <a:pPr>
              <a:lnSpc>
                <a:spcPct val="108000"/>
              </a:lnSpc>
              <a:spcAft>
                <a:spcPts val="300"/>
              </a:spcAft>
            </a:pPr>
            <a:r>
              <a:rPr sz="800">
                <a:solidFill>
                  <a:srgbClr val="C8102E"/>
                </a:solidFill>
                <a:latin typeface="Calibri"/>
              </a:rPr>
              <a:t>•  </a:t>
            </a:r>
            <a:r>
              <a:rPr sz="1200" b="0" i="0">
                <a:solidFill>
                  <a:srgbClr val="2B1B16"/>
                </a:solidFill>
                <a:latin typeface="Calibri"/>
              </a:rPr>
              <a:t>Su voz, sus gestos y el fondo negro convierten el spot en un acontecimiento.</a:t>
            </a:r>
          </a:p>
          <a:p>
            <a:pPr>
              <a:lnSpc>
                <a:spcPct val="108000"/>
              </a:lnSpc>
              <a:spcAft>
                <a:spcPts val="300"/>
              </a:spcAft>
            </a:pPr>
            <a:r>
              <a:rPr sz="800">
                <a:solidFill>
                  <a:srgbClr val="C8102E"/>
                </a:solidFill>
                <a:latin typeface="Calibri"/>
              </a:rPr>
              <a:t>•  </a:t>
            </a:r>
            <a:r>
              <a:rPr sz="1200" b="0" i="0">
                <a:solidFill>
                  <a:srgbClr val="2B1B16"/>
                </a:solidFill>
                <a:latin typeface="Calibri"/>
              </a:rPr>
              <a:t>La familia (Lolita y Rosario) participó, lo que le da autenticidad.</a:t>
            </a:r>
          </a:p>
        </p:txBody>
      </p:sp>
      <p:sp>
        <p:nvSpPr>
          <p:cNvPr id="16" name="Rectangle 15"/>
          <p:cNvSpPr/>
          <p:nvPr/>
        </p:nvSpPr>
        <p:spPr>
          <a:xfrm>
            <a:off x="6245352" y="1600200"/>
            <a:ext cx="5394960" cy="4617720"/>
          </a:xfrm>
          <a:prstGeom prst="rect">
            <a:avLst/>
          </a:prstGeom>
          <a:solidFill>
            <a:srgbClr val="7A0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9672" y="1783080"/>
            <a:ext cx="4846320" cy="365760"/>
          </a:xfrm>
          <a:prstGeom prst="rect">
            <a:avLst/>
          </a:prstGeom>
          <a:noFill/>
        </p:spPr>
        <p:txBody>
          <a:bodyPr wrap="square" anchor="t" lIns="0" rIns="0" tIns="0" bIns="0">
            <a:spAutoFit/>
          </a:bodyPr>
          <a:lstStyle/>
          <a:p>
            <a:pPr algn="l">
              <a:lnSpc>
                <a:spcPct val="110000"/>
              </a:lnSpc>
            </a:pPr>
            <a:r>
              <a:rPr sz="1200" b="1" i="0">
                <a:solidFill>
                  <a:srgbClr val="ECDFC6"/>
                </a:solidFill>
                <a:latin typeface="Calibri"/>
              </a:rPr>
              <a:t>¿POR QUÉ TELEVISIÓN Y SPOT?</a:t>
            </a:r>
          </a:p>
        </p:txBody>
      </p:sp>
      <p:sp>
        <p:nvSpPr>
          <p:cNvPr id="18" name="TextBox 17"/>
          <p:cNvSpPr txBox="1"/>
          <p:nvPr/>
        </p:nvSpPr>
        <p:spPr>
          <a:xfrm>
            <a:off x="6519672" y="2194560"/>
            <a:ext cx="4846320" cy="2743200"/>
          </a:xfrm>
          <a:prstGeom prst="rect">
            <a:avLst/>
          </a:prstGeom>
          <a:noFill/>
        </p:spPr>
        <p:txBody>
          <a:bodyPr wrap="square" lIns="0" rIns="0" tIns="0" bIns="0">
            <a:spAutoFit/>
          </a:bodyPr>
          <a:lstStyle/>
          <a:p>
            <a:pPr>
              <a:lnSpc>
                <a:spcPct val="108000"/>
              </a:lnSpc>
              <a:spcAft>
                <a:spcPts val="500"/>
              </a:spcAft>
            </a:pPr>
            <a:r>
              <a:rPr sz="850">
                <a:solidFill>
                  <a:srgbClr val="C8102E"/>
                </a:solidFill>
                <a:latin typeface="Calibri"/>
              </a:rPr>
              <a:t>■  </a:t>
            </a:r>
            <a:r>
              <a:rPr sz="1250" b="1" i="0">
                <a:solidFill>
                  <a:srgbClr val="ECDFC6"/>
                </a:solidFill>
                <a:latin typeface="Calibri"/>
              </a:rPr>
              <a:t>Objetivo: </a:t>
            </a:r>
            <a:r>
              <a:rPr sz="1250" b="0" i="0">
                <a:solidFill>
                  <a:srgbClr val="F7F0E3"/>
                </a:solidFill>
                <a:latin typeface="Calibri"/>
              </a:rPr>
              <a:t>lanzar una plataforma nueva y llegar a toda España, no solo a Andalucía. La TV da cobertura masiva.</a:t>
            </a:r>
          </a:p>
          <a:p>
            <a:pPr>
              <a:lnSpc>
                <a:spcPct val="108000"/>
              </a:lnSpc>
              <a:spcAft>
                <a:spcPts val="500"/>
              </a:spcAft>
            </a:pPr>
            <a:r>
              <a:rPr sz="850">
                <a:solidFill>
                  <a:srgbClr val="C8102E"/>
                </a:solidFill>
                <a:latin typeface="Calibri"/>
              </a:rPr>
              <a:t>■  </a:t>
            </a:r>
            <a:r>
              <a:rPr sz="1250" b="1" i="0">
                <a:solidFill>
                  <a:srgbClr val="ECDFC6"/>
                </a:solidFill>
                <a:latin typeface="Calibri"/>
              </a:rPr>
              <a:t>Formato: </a:t>
            </a:r>
            <a:r>
              <a:rPr sz="1250" b="0" i="0">
                <a:solidFill>
                  <a:srgbClr val="F7F0E3"/>
                </a:solidFill>
                <a:latin typeface="Calibri"/>
              </a:rPr>
              <a:t>el mensaje depende de ver y oír a Lola Flores. Solo el audiovisual permite ese impacto (la radio o la prensa no podrían).</a:t>
            </a:r>
          </a:p>
          <a:p>
            <a:pPr>
              <a:lnSpc>
                <a:spcPct val="108000"/>
              </a:lnSpc>
              <a:spcAft>
                <a:spcPts val="500"/>
              </a:spcAft>
            </a:pPr>
            <a:r>
              <a:rPr sz="850">
                <a:solidFill>
                  <a:srgbClr val="C8102E"/>
                </a:solidFill>
                <a:latin typeface="Calibri"/>
              </a:rPr>
              <a:t>■  </a:t>
            </a:r>
            <a:r>
              <a:rPr sz="1250" b="1" i="0">
                <a:solidFill>
                  <a:srgbClr val="ECDFC6"/>
                </a:solidFill>
                <a:latin typeface="Calibri"/>
              </a:rPr>
              <a:t>Público: </a:t>
            </a:r>
            <a:r>
              <a:rPr sz="1250" b="0" i="0">
                <a:solidFill>
                  <a:srgbClr val="F7F0E3"/>
                </a:solidFill>
                <a:latin typeface="Calibri"/>
              </a:rPr>
              <a:t>los adultos de 25 a 55 años siguen viendo TV, y el spot se pensó para saltar a redes.</a:t>
            </a:r>
          </a:p>
        </p:txBody>
      </p:sp>
      <p:sp>
        <p:nvSpPr>
          <p:cNvPr id="19" name="Rectangle 18"/>
          <p:cNvSpPr/>
          <p:nvPr/>
        </p:nvSpPr>
        <p:spPr>
          <a:xfrm>
            <a:off x="6519672" y="4983480"/>
            <a:ext cx="4846320" cy="10515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02552" y="5056632"/>
            <a:ext cx="4572000" cy="914400"/>
          </a:xfrm>
          <a:prstGeom prst="rect">
            <a:avLst/>
          </a:prstGeom>
          <a:noFill/>
        </p:spPr>
        <p:txBody>
          <a:bodyPr wrap="square" anchor="t" lIns="0" rIns="0" tIns="0" bIns="0">
            <a:spAutoFit/>
          </a:bodyPr>
          <a:lstStyle/>
          <a:p>
            <a:pPr algn="l">
              <a:lnSpc>
                <a:spcPct val="105000"/>
              </a:lnSpc>
            </a:pPr>
            <a:r>
              <a:rPr sz="2200" b="1" i="0">
                <a:solidFill>
                  <a:srgbClr val="F7F0E3"/>
                </a:solidFill>
                <a:latin typeface="Cambria"/>
              </a:rPr>
              <a:t>614 millones</a:t>
            </a:r>
          </a:p>
          <a:p>
            <a:pPr algn="l">
              <a:lnSpc>
                <a:spcPct val="105000"/>
              </a:lnSpc>
            </a:pPr>
            <a:r>
              <a:rPr sz="1100" b="0" i="0">
                <a:solidFill>
                  <a:srgbClr val="ECDFC6"/>
                </a:solidFill>
                <a:latin typeface="Calibri"/>
              </a:rPr>
              <a:t>de visualizaciones y Gran Premio a la Eficacia 2021 (Noticias de Navarra / Reason Why).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04 · FASE 3 · ANUNCIO 2</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Lonas «Tú tan de Berlín» (2026)</a:t>
            </a:r>
          </a:p>
        </p:txBody>
      </p:sp>
      <p:sp>
        <p:nvSpPr>
          <p:cNvPr id="5" name="TextBox 4"/>
          <p:cNvSpPr txBox="1"/>
          <p:nvPr/>
        </p:nvSpPr>
        <p:spPr>
          <a:xfrm>
            <a:off x="548640" y="1261872"/>
            <a:ext cx="11064240" cy="365760"/>
          </a:xfrm>
          <a:prstGeom prst="rect">
            <a:avLst/>
          </a:prstGeom>
          <a:noFill/>
        </p:spPr>
        <p:txBody>
          <a:bodyPr wrap="square" anchor="t" lIns="0" rIns="0" tIns="0" bIns="0">
            <a:spAutoFit/>
          </a:bodyPr>
          <a:lstStyle/>
          <a:p>
            <a:pPr algn="l">
              <a:lnSpc>
                <a:spcPct val="110000"/>
              </a:lnSpc>
            </a:pPr>
            <a:r>
              <a:rPr sz="1400" b="0" i="1">
                <a:solidFill>
                  <a:srgbClr val="6E5A4E"/>
                </a:solidFill>
                <a:latin typeface="Calibri"/>
              </a:rPr>
              <a:t>Ficha analítica</a:t>
            </a:r>
          </a:p>
        </p:txBody>
      </p:sp>
      <p:sp>
        <p:nvSpPr>
          <p:cNvPr id="6" name="Rectangle 5"/>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8" name="TextBox 7"/>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14</a:t>
            </a:r>
          </a:p>
        </p:txBody>
      </p:sp>
      <p:sp>
        <p:nvSpPr>
          <p:cNvPr id="9" name="Rectangle 8"/>
          <p:cNvSpPr/>
          <p:nvPr/>
        </p:nvSpPr>
        <p:spPr>
          <a:xfrm>
            <a:off x="548640" y="1783080"/>
            <a:ext cx="4937760" cy="2788920"/>
          </a:xfrm>
          <a:prstGeom prst="rect">
            <a:avLst/>
          </a:prstGeom>
          <a:solidFill>
            <a:srgbClr val="ECDFC6"/>
          </a:solidFill>
          <a:ln w="15875">
            <a:solidFill>
              <a:srgbClr val="B88A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6E5A4E"/>
                </a:solidFill>
                <a:latin typeface="Calibri"/>
              </a:rPr>
              <a:t>INSERTAR</a:t>
            </a:r>
          </a:p>
          <a:p>
            <a:pPr algn="ctr"/>
            <a:r>
              <a:rPr sz="1100" b="0">
                <a:solidFill>
                  <a:srgbClr val="6E5A4E"/>
                </a:solidFill>
                <a:latin typeface="Calibri"/>
              </a:rPr>
              <a:t>Foto de los balcones de Los Remedios con las lonas</a:t>
            </a:r>
          </a:p>
          <a:p>
            <a:pPr algn="ctr"/>
            <a:r>
              <a:rPr sz="1100" b="0">
                <a:solidFill>
                  <a:srgbClr val="6E5A4E"/>
                </a:solidFill>
                <a:latin typeface="Calibri"/>
              </a:rPr>
              <a:t>de Cruzcampo junto a la lona de Estrella Galicia</a:t>
            </a:r>
          </a:p>
          <a:p>
            <a:pPr algn="ctr"/>
            <a:r>
              <a:rPr sz="1100" b="0">
                <a:solidFill>
                  <a:srgbClr val="6E5A4E"/>
                </a:solidFill>
                <a:latin typeface="Calibri"/>
              </a:rPr>
              <a:t>Fuente: Reason Why / elEconomista (mayo 2026)</a:t>
            </a:r>
          </a:p>
        </p:txBody>
      </p:sp>
      <p:pic>
        <p:nvPicPr>
          <p:cNvPr id="10" name="Picture 9" descr="q_berlin_rw.png"/>
          <p:cNvPicPr>
            <a:picLocks noChangeAspect="1"/>
          </p:cNvPicPr>
          <p:nvPr/>
        </p:nvPicPr>
        <p:blipFill>
          <a:blip r:embed="rId2"/>
          <a:stretch>
            <a:fillRect/>
          </a:stretch>
        </p:blipFill>
        <p:spPr>
          <a:xfrm>
            <a:off x="548640" y="4800600"/>
            <a:ext cx="1051560" cy="1051560"/>
          </a:xfrm>
          <a:prstGeom prst="rect">
            <a:avLst/>
          </a:prstGeom>
        </p:spPr>
      </p:pic>
      <p:sp>
        <p:nvSpPr>
          <p:cNvPr id="11" name="TextBox 10"/>
          <p:cNvSpPr txBox="1"/>
          <p:nvPr/>
        </p:nvSpPr>
        <p:spPr>
          <a:xfrm>
            <a:off x="365760" y="5897880"/>
            <a:ext cx="1417320" cy="365760"/>
          </a:xfrm>
          <a:prstGeom prst="rect">
            <a:avLst/>
          </a:prstGeom>
          <a:noFill/>
        </p:spPr>
        <p:txBody>
          <a:bodyPr wrap="square" anchor="t" lIns="0" rIns="0" tIns="0" bIns="0">
            <a:spAutoFit/>
          </a:bodyPr>
          <a:lstStyle/>
          <a:p>
            <a:pPr algn="ctr">
              <a:lnSpc>
                <a:spcPct val="110000"/>
              </a:lnSpc>
            </a:pPr>
            <a:r>
              <a:rPr sz="900" b="0" i="0">
                <a:solidFill>
                  <a:srgbClr val="6E5A4E"/>
                </a:solidFill>
                <a:latin typeface="Calibri"/>
              </a:rPr>
              <a:t>Reason Why</a:t>
            </a:r>
          </a:p>
        </p:txBody>
      </p:sp>
      <p:pic>
        <p:nvPicPr>
          <p:cNvPr id="12" name="Picture 11" descr="q_berlin_yt.png"/>
          <p:cNvPicPr>
            <a:picLocks noChangeAspect="1"/>
          </p:cNvPicPr>
          <p:nvPr/>
        </p:nvPicPr>
        <p:blipFill>
          <a:blip r:embed="rId3"/>
          <a:stretch>
            <a:fillRect/>
          </a:stretch>
        </p:blipFill>
        <p:spPr>
          <a:xfrm>
            <a:off x="2057400" y="4800600"/>
            <a:ext cx="1051560" cy="1051560"/>
          </a:xfrm>
          <a:prstGeom prst="rect">
            <a:avLst/>
          </a:prstGeom>
        </p:spPr>
      </p:pic>
      <p:sp>
        <p:nvSpPr>
          <p:cNvPr id="13" name="TextBox 12"/>
          <p:cNvSpPr txBox="1"/>
          <p:nvPr/>
        </p:nvSpPr>
        <p:spPr>
          <a:xfrm>
            <a:off x="1874520" y="5897880"/>
            <a:ext cx="1417320" cy="365760"/>
          </a:xfrm>
          <a:prstGeom prst="rect">
            <a:avLst/>
          </a:prstGeom>
          <a:noFill/>
        </p:spPr>
        <p:txBody>
          <a:bodyPr wrap="square" anchor="t" lIns="0" rIns="0" tIns="0" bIns="0">
            <a:spAutoFit/>
          </a:bodyPr>
          <a:lstStyle/>
          <a:p>
            <a:pPr algn="ctr">
              <a:lnSpc>
                <a:spcPct val="110000"/>
              </a:lnSpc>
            </a:pPr>
            <a:r>
              <a:rPr sz="900" b="0" i="0">
                <a:solidFill>
                  <a:srgbClr val="6E5A4E"/>
                </a:solidFill>
                <a:latin typeface="Calibri"/>
              </a:rPr>
              <a:t>Vídeo (YouTube)</a:t>
            </a:r>
          </a:p>
        </p:txBody>
      </p:sp>
      <p:sp>
        <p:nvSpPr>
          <p:cNvPr id="14" name="TextBox 13"/>
          <p:cNvSpPr txBox="1"/>
          <p:nvPr/>
        </p:nvSpPr>
        <p:spPr>
          <a:xfrm>
            <a:off x="3429000" y="4846320"/>
            <a:ext cx="2103120" cy="1280160"/>
          </a:xfrm>
          <a:prstGeom prst="rect">
            <a:avLst/>
          </a:prstGeom>
          <a:noFill/>
        </p:spPr>
        <p:txBody>
          <a:bodyPr wrap="square" anchor="t" lIns="0" rIns="0" tIns="0" bIns="0">
            <a:spAutoFit/>
          </a:bodyPr>
          <a:lstStyle/>
          <a:p>
            <a:pPr algn="l">
              <a:lnSpc>
                <a:spcPct val="120000"/>
              </a:lnSpc>
            </a:pPr>
            <a:r>
              <a:rPr sz="1100" b="1" i="0">
                <a:solidFill>
                  <a:srgbClr val="2B1B16"/>
                </a:solidFill>
                <a:latin typeface="Calibri"/>
              </a:rPr>
              <a:t>Fecha: </a:t>
            </a:r>
            <a:r>
              <a:rPr sz="1100" b="0" i="0">
                <a:solidFill>
                  <a:srgbClr val="2B1B16"/>
                </a:solidFill>
                <a:latin typeface="Calibri"/>
              </a:rPr>
              <a:t>4–6 mayo 2026</a:t>
            </a:r>
          </a:p>
          <a:p>
            <a:pPr algn="l">
              <a:lnSpc>
                <a:spcPct val="120000"/>
              </a:lnSpc>
            </a:pPr>
            <a:r>
              <a:rPr sz="1100" b="1" i="0">
                <a:solidFill>
                  <a:srgbClr val="2B1B16"/>
                </a:solidFill>
                <a:latin typeface="Calibri"/>
              </a:rPr>
              <a:t>Lugar: </a:t>
            </a:r>
            <a:r>
              <a:rPr sz="1100" b="0" i="0">
                <a:solidFill>
                  <a:srgbClr val="2B1B16"/>
                </a:solidFill>
                <a:latin typeface="Calibri"/>
              </a:rPr>
              <a:t>Plaza de Cuba y Los Remedios, Sevilla</a:t>
            </a:r>
          </a:p>
        </p:txBody>
      </p:sp>
      <p:graphicFrame>
        <p:nvGraphicFramePr>
          <p:cNvPr id="15" name="Table 14"/>
          <p:cNvGraphicFramePr>
            <a:graphicFrameLocks noGrp="1"/>
          </p:cNvGraphicFramePr>
          <p:nvPr/>
        </p:nvGraphicFramePr>
        <p:xfrm>
          <a:off x="5760720" y="1783080"/>
          <a:ext cx="5879592" cy="4343400"/>
        </p:xfrm>
        <a:graphic>
          <a:graphicData uri="http://schemas.openxmlformats.org/drawingml/2006/table">
            <a:tbl>
              <a:tblPr firstRow="1" bandRow="1">
                <a:tableStyleId>{5C22544A-7EE6-4342-B048-85BDC9FD1C3A}</a:tableStyleId>
              </a:tblPr>
              <a:tblGrid>
                <a:gridCol w="1508760"/>
                <a:gridCol w="4370832"/>
              </a:tblGrid>
              <a:tr h="868680">
                <a:tc>
                  <a:txBody>
                    <a:bodyPr wrap="square"/>
                    <a:lstStyle/>
                    <a:p>
                      <a:r>
                        <a:rPr sz="1100" b="1">
                          <a:solidFill>
                            <a:srgbClr val="FFFFFF"/>
                          </a:solidFill>
                          <a:latin typeface="Calibri"/>
                        </a:rPr>
                        <a:t>Campo</a:t>
                      </a:r>
                    </a:p>
                  </a:txBody>
                  <a:tcPr marL="73152" marR="73152" marT="36576" marB="36576" anchor="ctr">
                    <a:solidFill>
                      <a:srgbClr val="7A0E1E"/>
                    </a:solidFill>
                  </a:tcPr>
                </a:tc>
                <a:tc>
                  <a:txBody>
                    <a:bodyPr wrap="square"/>
                    <a:lstStyle/>
                    <a:p>
                      <a:r>
                        <a:rPr sz="1100" b="1">
                          <a:solidFill>
                            <a:srgbClr val="FFFFFF"/>
                          </a:solidFill>
                          <a:latin typeface="Calibri"/>
                        </a:rPr>
                        <a:t>Análisis</a:t>
                      </a:r>
                    </a:p>
                  </a:txBody>
                  <a:tcPr marL="73152" marR="73152" marT="36576" marB="36576" anchor="ctr">
                    <a:solidFill>
                      <a:srgbClr val="7A0E1E"/>
                    </a:solidFill>
                  </a:tcPr>
                </a:tc>
              </a:tr>
              <a:tr h="868680">
                <a:tc>
                  <a:txBody>
                    <a:bodyPr wrap="square"/>
                    <a:lstStyle/>
                    <a:p>
                      <a:r>
                        <a:rPr sz="1100" b="1">
                          <a:solidFill>
                            <a:srgbClr val="7A0E1E"/>
                          </a:solidFill>
                          <a:latin typeface="Calibri"/>
                        </a:rPr>
                        <a:t>Medio y soporte</a:t>
                      </a:r>
                    </a:p>
                  </a:txBody>
                  <a:tcPr marL="73152" marR="73152" marT="36576" marB="36576" anchor="ctr">
                    <a:solidFill>
                      <a:srgbClr val="ECDFC6"/>
                    </a:solidFill>
                  </a:tcPr>
                </a:tc>
                <a:tc>
                  <a:txBody>
                    <a:bodyPr wrap="square"/>
                    <a:lstStyle/>
                    <a:p>
                      <a:r>
                        <a:rPr sz="1100">
                          <a:solidFill>
                            <a:srgbClr val="2B1B16"/>
                          </a:solidFill>
                          <a:latin typeface="Calibri"/>
                        </a:rPr>
                        <a:t>Exterior: lonas y banderolas colgadas en balcones de viviendas de Los Remedios, junto a la lona de Estrella Galicia en Plaza de Cuba. Se amplificó en redes y en prensa.</a:t>
                      </a:r>
                    </a:p>
                  </a:txBody>
                  <a:tcPr marL="73152" marR="73152" marT="36576" marB="36576" anchor="ctr">
                    <a:solidFill>
                      <a:srgbClr val="ECDFC6"/>
                    </a:solidFill>
                  </a:tcPr>
                </a:tc>
              </a:tr>
              <a:tr h="868680">
                <a:tc>
                  <a:txBody>
                    <a:bodyPr wrap="square"/>
                    <a:lstStyle/>
                    <a:p>
                      <a:r>
                        <a:rPr sz="1100" b="1">
                          <a:solidFill>
                            <a:srgbClr val="7A0E1E"/>
                          </a:solidFill>
                          <a:latin typeface="Calibri"/>
                        </a:rPr>
                        <a:t>Marca y producto</a:t>
                      </a:r>
                    </a:p>
                  </a:txBody>
                  <a:tcPr marL="73152" marR="73152" marT="36576" marB="36576" anchor="ctr">
                    <a:solidFill>
                      <a:srgbClr val="F7F0E3"/>
                    </a:solidFill>
                  </a:tcPr>
                </a:tc>
                <a:tc>
                  <a:txBody>
                    <a:bodyPr wrap="square"/>
                    <a:lstStyle/>
                    <a:p>
                      <a:r>
                        <a:rPr sz="1100">
                          <a:solidFill>
                            <a:srgbClr val="2B1B16"/>
                          </a:solidFill>
                          <a:latin typeface="Calibri"/>
                        </a:rPr>
                        <a:t>Cruzcampo, de nuevo como marca («Con mucho acento»), no un producto concreto.</a:t>
                      </a:r>
                    </a:p>
                  </a:txBody>
                  <a:tcPr marL="73152" marR="73152" marT="36576" marB="36576" anchor="ctr">
                    <a:solidFill>
                      <a:srgbClr val="F7F0E3"/>
                    </a:solidFill>
                  </a:tcPr>
                </a:tc>
              </a:tr>
              <a:tr h="868680">
                <a:tc>
                  <a:txBody>
                    <a:bodyPr wrap="square"/>
                    <a:lstStyle/>
                    <a:p>
                      <a:r>
                        <a:rPr sz="1100" b="1">
                          <a:solidFill>
                            <a:srgbClr val="7A0E1E"/>
                          </a:solidFill>
                          <a:latin typeface="Calibri"/>
                        </a:rPr>
                        <a:t>Forma publicitaria</a:t>
                      </a:r>
                    </a:p>
                  </a:txBody>
                  <a:tcPr marL="73152" marR="73152" marT="36576" marB="36576" anchor="ctr">
                    <a:solidFill>
                      <a:srgbClr val="ECDFC6"/>
                    </a:solidFill>
                  </a:tcPr>
                </a:tc>
                <a:tc>
                  <a:txBody>
                    <a:bodyPr wrap="square"/>
                    <a:lstStyle/>
                    <a:p>
                      <a:r>
                        <a:rPr sz="1100">
                          <a:solidFill>
                            <a:srgbClr val="2B1B16"/>
                          </a:solidFill>
                          <a:latin typeface="Calibri"/>
                        </a:rPr>
                        <a:t>Publicidad exterior con lona, usada como guerrilla marketing: responde en el mismo lugar a un competidor, con humor, poco coste y participación de los vecinos.</a:t>
                      </a:r>
                    </a:p>
                  </a:txBody>
                  <a:tcPr marL="73152" marR="73152" marT="36576" marB="36576" anchor="ctr">
                    <a:solidFill>
                      <a:srgbClr val="ECDFC6"/>
                    </a:solidFill>
                  </a:tcPr>
                </a:tc>
              </a:tr>
              <a:tr h="868680">
                <a:tc>
                  <a:txBody>
                    <a:bodyPr wrap="square"/>
                    <a:lstStyle/>
                    <a:p>
                      <a:r>
                        <a:rPr sz="1100" b="1">
                          <a:solidFill>
                            <a:srgbClr val="7A0E1E"/>
                          </a:solidFill>
                          <a:latin typeface="Calibri"/>
                        </a:rPr>
                        <a:t>Público objetivo</a:t>
                      </a:r>
                    </a:p>
                  </a:txBody>
                  <a:tcPr marL="73152" marR="73152" marT="36576" marB="36576" anchor="ctr">
                    <a:solidFill>
                      <a:srgbClr val="F7F0E3"/>
                    </a:solidFill>
                  </a:tcPr>
                </a:tc>
                <a:tc>
                  <a:txBody>
                    <a:bodyPr wrap="square"/>
                    <a:lstStyle/>
                    <a:p>
                      <a:r>
                        <a:rPr sz="1100">
                          <a:solidFill>
                            <a:srgbClr val="2B1B16"/>
                          </a:solidFill>
                          <a:latin typeface="Calibri"/>
                        </a:rPr>
                        <a:t>Sevillanos y andaluces de 20 a 45 años, activos en redes y con sentimiento de barrio. Lo deducimos del humor local y de que la acción buscaba ser fotografiada y compartida.</a:t>
                      </a:r>
                    </a:p>
                  </a:txBody>
                  <a:tcPr marL="73152" marR="73152" marT="36576" marB="36576" anchor="ctr">
                    <a:solidFill>
                      <a:srgbClr val="F7F0E3"/>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04 · FASE 3 · ANUNCIO 2</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Lonas «Tú tan de Berlín»: mensaje, recursos y elección del medio</a:t>
            </a:r>
          </a:p>
        </p:txBody>
      </p:sp>
      <p:sp>
        <p:nvSpPr>
          <p:cNvPr id="5" name="Rectangle 4"/>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7" name="TextBox 6"/>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15</a:t>
            </a:r>
          </a:p>
        </p:txBody>
      </p:sp>
      <p:sp>
        <p:nvSpPr>
          <p:cNvPr id="8" name="Rectangle 7"/>
          <p:cNvSpPr/>
          <p:nvPr/>
        </p:nvSpPr>
        <p:spPr>
          <a:xfrm>
            <a:off x="548640" y="1600200"/>
            <a:ext cx="5394960" cy="224028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00200"/>
            <a:ext cx="64008" cy="22402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37360"/>
            <a:ext cx="5029200" cy="36576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Qué comunica</a:t>
            </a:r>
          </a:p>
        </p:txBody>
      </p:sp>
      <p:sp>
        <p:nvSpPr>
          <p:cNvPr id="11" name="TextBox 10"/>
          <p:cNvSpPr txBox="1"/>
          <p:nvPr/>
        </p:nvSpPr>
        <p:spPr>
          <a:xfrm>
            <a:off x="777240" y="2148840"/>
            <a:ext cx="5029200" cy="1600200"/>
          </a:xfrm>
          <a:prstGeom prst="rect">
            <a:avLst/>
          </a:prstGeom>
          <a:noFill/>
        </p:spPr>
        <p:txBody>
          <a:bodyPr wrap="square" lIns="0" rIns="0" tIns="0" bIns="0">
            <a:spAutoFit/>
          </a:bodyPr>
          <a:lstStyle/>
          <a:p>
            <a:pPr>
              <a:lnSpc>
                <a:spcPct val="108000"/>
              </a:lnSpc>
              <a:spcAft>
                <a:spcPts val="300"/>
              </a:spcAft>
            </a:pPr>
            <a:r>
              <a:rPr sz="800">
                <a:solidFill>
                  <a:srgbClr val="C8102E"/>
                </a:solidFill>
                <a:latin typeface="Calibri"/>
              </a:rPr>
              <a:t>•  </a:t>
            </a:r>
            <a:r>
              <a:rPr sz="1200" b="1" i="0">
                <a:solidFill>
                  <a:srgbClr val="2B1B16"/>
                </a:solidFill>
                <a:latin typeface="Calibri"/>
              </a:rPr>
              <a:t>Mensaje: </a:t>
            </a:r>
            <a:r>
              <a:rPr sz="1200" b="0" i="0">
                <a:solidFill>
                  <a:srgbClr val="2B1B16"/>
                </a:solidFill>
                <a:latin typeface="Calibri"/>
              </a:rPr>
              <a:t>«Tú tan de Berlín. Yo tan de Sevilla»: Sevilla es de Cruzcampo, y la marca no deja que otra «ocupe» su casa.</a:t>
            </a:r>
          </a:p>
          <a:p>
            <a:pPr>
              <a:lnSpc>
                <a:spcPct val="108000"/>
              </a:lnSpc>
              <a:spcAft>
                <a:spcPts val="300"/>
              </a:spcAft>
            </a:pPr>
            <a:r>
              <a:rPr sz="800">
                <a:solidFill>
                  <a:srgbClr val="C8102E"/>
                </a:solidFill>
                <a:latin typeface="Calibri"/>
              </a:rPr>
              <a:t>•  </a:t>
            </a:r>
            <a:r>
              <a:rPr sz="1200" b="1" i="0">
                <a:solidFill>
                  <a:srgbClr val="2B1B16"/>
                </a:solidFill>
                <a:latin typeface="Calibri"/>
              </a:rPr>
              <a:t>Tono: </a:t>
            </a:r>
            <a:r>
              <a:rPr sz="1200" b="0" i="0">
                <a:solidFill>
                  <a:srgbClr val="2B1B16"/>
                </a:solidFill>
                <a:latin typeface="Calibri"/>
              </a:rPr>
              <a:t>humor, pique sano y orgullo de barrio.</a:t>
            </a:r>
          </a:p>
          <a:p>
            <a:pPr>
              <a:lnSpc>
                <a:spcPct val="108000"/>
              </a:lnSpc>
              <a:spcAft>
                <a:spcPts val="300"/>
              </a:spcAft>
            </a:pPr>
            <a:r>
              <a:rPr sz="800">
                <a:solidFill>
                  <a:srgbClr val="C8102E"/>
                </a:solidFill>
                <a:latin typeface="Calibri"/>
              </a:rPr>
              <a:t>•  </a:t>
            </a:r>
            <a:r>
              <a:rPr sz="1200" b="1" i="0">
                <a:solidFill>
                  <a:srgbClr val="2B1B16"/>
                </a:solidFill>
                <a:latin typeface="Calibri"/>
              </a:rPr>
              <a:t>Llamada a la acción: </a:t>
            </a:r>
            <a:r>
              <a:rPr sz="1200" b="0" i="0">
                <a:solidFill>
                  <a:srgbClr val="2B1B16"/>
                </a:solidFill>
                <a:latin typeface="Calibri"/>
              </a:rPr>
              <a:t>fotografiar, compartir y ponerse del lado de «la de aquí».</a:t>
            </a:r>
          </a:p>
        </p:txBody>
      </p:sp>
      <p:sp>
        <p:nvSpPr>
          <p:cNvPr id="12" name="Rectangle 11"/>
          <p:cNvSpPr/>
          <p:nvPr/>
        </p:nvSpPr>
        <p:spPr>
          <a:xfrm>
            <a:off x="548640" y="3977639"/>
            <a:ext cx="5394960" cy="224028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977639"/>
            <a:ext cx="64008" cy="22402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114799"/>
            <a:ext cx="5029200" cy="36576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Recursos que destacan</a:t>
            </a:r>
          </a:p>
        </p:txBody>
      </p:sp>
      <p:sp>
        <p:nvSpPr>
          <p:cNvPr id="15" name="TextBox 14"/>
          <p:cNvSpPr txBox="1"/>
          <p:nvPr/>
        </p:nvSpPr>
        <p:spPr>
          <a:xfrm>
            <a:off x="777240" y="4526279"/>
            <a:ext cx="5029200" cy="1600200"/>
          </a:xfrm>
          <a:prstGeom prst="rect">
            <a:avLst/>
          </a:prstGeom>
          <a:noFill/>
        </p:spPr>
        <p:txBody>
          <a:bodyPr wrap="square" lIns="0" rIns="0" tIns="0" bIns="0">
            <a:spAutoFit/>
          </a:bodyPr>
          <a:lstStyle/>
          <a:p>
            <a:pPr>
              <a:lnSpc>
                <a:spcPct val="108000"/>
              </a:lnSpc>
              <a:spcAft>
                <a:spcPts val="300"/>
              </a:spcAft>
            </a:pPr>
            <a:r>
              <a:rPr sz="800">
                <a:solidFill>
                  <a:srgbClr val="C8102E"/>
                </a:solidFill>
                <a:latin typeface="Calibri"/>
              </a:rPr>
              <a:t>•  </a:t>
            </a:r>
            <a:r>
              <a:rPr sz="1200" b="0" i="0">
                <a:solidFill>
                  <a:srgbClr val="2B1B16"/>
                </a:solidFill>
                <a:latin typeface="Calibri"/>
              </a:rPr>
              <a:t>Imita el juego de palabras del rival y le da la vuelta («Tú tan de Berlín, yo tan de los Remedios»).</a:t>
            </a:r>
          </a:p>
          <a:p>
            <a:pPr>
              <a:lnSpc>
                <a:spcPct val="108000"/>
              </a:lnSpc>
              <a:spcAft>
                <a:spcPts val="300"/>
              </a:spcAft>
            </a:pPr>
            <a:r>
              <a:rPr sz="800">
                <a:solidFill>
                  <a:srgbClr val="C8102E"/>
                </a:solidFill>
                <a:latin typeface="Calibri"/>
              </a:rPr>
              <a:t>•  </a:t>
            </a:r>
            <a:r>
              <a:rPr sz="1200" b="0" i="0">
                <a:solidFill>
                  <a:srgbClr val="2B1B16"/>
                </a:solidFill>
                <a:latin typeface="Calibri"/>
              </a:rPr>
              <a:t>Los vecinos actúan como soporte: la marca les da las lonas y ellos las cuelgan.</a:t>
            </a:r>
          </a:p>
          <a:p>
            <a:pPr>
              <a:lnSpc>
                <a:spcPct val="108000"/>
              </a:lnSpc>
              <a:spcAft>
                <a:spcPts val="300"/>
              </a:spcAft>
            </a:pPr>
            <a:r>
              <a:rPr sz="800">
                <a:solidFill>
                  <a:srgbClr val="C8102E"/>
                </a:solidFill>
                <a:latin typeface="Calibri"/>
              </a:rPr>
              <a:t>•  </a:t>
            </a:r>
            <a:r>
              <a:rPr sz="1200" b="0" i="0">
                <a:solidFill>
                  <a:srgbClr val="2B1B16"/>
                </a:solidFill>
                <a:latin typeface="Calibri"/>
              </a:rPr>
              <a:t>Reacción en menos de 48 h: la rapidez forma parte del mensaje.</a:t>
            </a:r>
          </a:p>
        </p:txBody>
      </p:sp>
      <p:sp>
        <p:nvSpPr>
          <p:cNvPr id="16" name="Rectangle 15"/>
          <p:cNvSpPr/>
          <p:nvPr/>
        </p:nvSpPr>
        <p:spPr>
          <a:xfrm>
            <a:off x="6245352" y="1600200"/>
            <a:ext cx="5394960" cy="4617720"/>
          </a:xfrm>
          <a:prstGeom prst="rect">
            <a:avLst/>
          </a:prstGeom>
          <a:solidFill>
            <a:srgbClr val="7A0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9672" y="1783080"/>
            <a:ext cx="4846320" cy="365760"/>
          </a:xfrm>
          <a:prstGeom prst="rect">
            <a:avLst/>
          </a:prstGeom>
          <a:noFill/>
        </p:spPr>
        <p:txBody>
          <a:bodyPr wrap="square" anchor="t" lIns="0" rIns="0" tIns="0" bIns="0">
            <a:spAutoFit/>
          </a:bodyPr>
          <a:lstStyle/>
          <a:p>
            <a:pPr algn="l">
              <a:lnSpc>
                <a:spcPct val="110000"/>
              </a:lnSpc>
            </a:pPr>
            <a:r>
              <a:rPr sz="1200" b="1" i="0">
                <a:solidFill>
                  <a:srgbClr val="ECDFC6"/>
                </a:solidFill>
                <a:latin typeface="Calibri"/>
              </a:rPr>
              <a:t>¿POR QUÉ EXTERIOR Y GUERRILLA?</a:t>
            </a:r>
          </a:p>
        </p:txBody>
      </p:sp>
      <p:sp>
        <p:nvSpPr>
          <p:cNvPr id="18" name="TextBox 17"/>
          <p:cNvSpPr txBox="1"/>
          <p:nvPr/>
        </p:nvSpPr>
        <p:spPr>
          <a:xfrm>
            <a:off x="6519672" y="2194560"/>
            <a:ext cx="4846320" cy="2743200"/>
          </a:xfrm>
          <a:prstGeom prst="rect">
            <a:avLst/>
          </a:prstGeom>
          <a:noFill/>
        </p:spPr>
        <p:txBody>
          <a:bodyPr wrap="square" lIns="0" rIns="0" tIns="0" bIns="0">
            <a:spAutoFit/>
          </a:bodyPr>
          <a:lstStyle/>
          <a:p>
            <a:pPr>
              <a:lnSpc>
                <a:spcPct val="108000"/>
              </a:lnSpc>
              <a:spcAft>
                <a:spcPts val="500"/>
              </a:spcAft>
            </a:pPr>
            <a:r>
              <a:rPr sz="850">
                <a:solidFill>
                  <a:srgbClr val="C8102E"/>
                </a:solidFill>
                <a:latin typeface="Calibri"/>
              </a:rPr>
              <a:t>■  </a:t>
            </a:r>
            <a:r>
              <a:rPr sz="1250" b="1" i="0">
                <a:solidFill>
                  <a:srgbClr val="ECDFC6"/>
                </a:solidFill>
                <a:latin typeface="Calibri"/>
              </a:rPr>
              <a:t>Objetivo: </a:t>
            </a:r>
            <a:r>
              <a:rPr sz="1250" b="0" i="0">
                <a:solidFill>
                  <a:srgbClr val="F7F0E3"/>
                </a:solidFill>
                <a:latin typeface="Calibri"/>
              </a:rPr>
              <a:t>defender su territorio frente a Estrella Galicia justo donde atacó, sin dar tiempo a que se olvide.</a:t>
            </a:r>
          </a:p>
          <a:p>
            <a:pPr>
              <a:lnSpc>
                <a:spcPct val="108000"/>
              </a:lnSpc>
              <a:spcAft>
                <a:spcPts val="500"/>
              </a:spcAft>
            </a:pPr>
            <a:r>
              <a:rPr sz="850">
                <a:solidFill>
                  <a:srgbClr val="C8102E"/>
                </a:solidFill>
                <a:latin typeface="Calibri"/>
              </a:rPr>
              <a:t>■  </a:t>
            </a:r>
            <a:r>
              <a:rPr sz="1250" b="1" i="0">
                <a:solidFill>
                  <a:srgbClr val="ECDFC6"/>
                </a:solidFill>
                <a:latin typeface="Calibri"/>
              </a:rPr>
              <a:t>Formato: </a:t>
            </a:r>
            <a:r>
              <a:rPr sz="1250" b="0" i="0">
                <a:solidFill>
                  <a:srgbClr val="F7F0E3"/>
                </a:solidFill>
                <a:latin typeface="Calibri"/>
              </a:rPr>
              <a:t>una lona se monta en horas y cuesta muy poco; un spot de TV tarda semanas.</a:t>
            </a:r>
          </a:p>
          <a:p>
            <a:pPr>
              <a:lnSpc>
                <a:spcPct val="108000"/>
              </a:lnSpc>
              <a:spcAft>
                <a:spcPts val="500"/>
              </a:spcAft>
            </a:pPr>
            <a:r>
              <a:rPr sz="850">
                <a:solidFill>
                  <a:srgbClr val="C8102E"/>
                </a:solidFill>
                <a:latin typeface="Calibri"/>
              </a:rPr>
              <a:t>■  </a:t>
            </a:r>
            <a:r>
              <a:rPr sz="1250" b="1" i="0">
                <a:solidFill>
                  <a:srgbClr val="ECDFC6"/>
                </a:solidFill>
                <a:latin typeface="Calibri"/>
              </a:rPr>
              <a:t>Público: </a:t>
            </a:r>
            <a:r>
              <a:rPr sz="1250" b="0" i="0">
                <a:solidFill>
                  <a:srgbClr val="F7F0E3"/>
                </a:solidFill>
                <a:latin typeface="Calibri"/>
              </a:rPr>
              <a:t>el público joven y local lo fotografía y lo sube a redes, y así la acción llega a toda España gratis (earned media).</a:t>
            </a:r>
          </a:p>
        </p:txBody>
      </p:sp>
      <p:sp>
        <p:nvSpPr>
          <p:cNvPr id="19" name="Rectangle 18"/>
          <p:cNvSpPr/>
          <p:nvPr/>
        </p:nvSpPr>
        <p:spPr>
          <a:xfrm>
            <a:off x="6519672" y="4983480"/>
            <a:ext cx="4846320" cy="10515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02552" y="5056632"/>
            <a:ext cx="4572000" cy="914400"/>
          </a:xfrm>
          <a:prstGeom prst="rect">
            <a:avLst/>
          </a:prstGeom>
          <a:noFill/>
        </p:spPr>
        <p:txBody>
          <a:bodyPr wrap="square" anchor="t" lIns="0" rIns="0" tIns="0" bIns="0">
            <a:spAutoFit/>
          </a:bodyPr>
          <a:lstStyle/>
          <a:p>
            <a:pPr algn="l">
              <a:lnSpc>
                <a:spcPct val="105000"/>
              </a:lnSpc>
            </a:pPr>
            <a:r>
              <a:rPr sz="2200" b="1" i="0">
                <a:solidFill>
                  <a:srgbClr val="F7F0E3"/>
                </a:solidFill>
                <a:latin typeface="Cambria"/>
              </a:rPr>
              <a:t>Viral en 48 h</a:t>
            </a:r>
          </a:p>
          <a:p>
            <a:pPr algn="l">
              <a:lnSpc>
                <a:spcPct val="105000"/>
              </a:lnSpc>
            </a:pPr>
            <a:r>
              <a:rPr sz="1100" b="0" i="0">
                <a:solidFill>
                  <a:srgbClr val="ECDFC6"/>
                </a:solidFill>
                <a:latin typeface="Calibri"/>
              </a:rPr>
              <a:t>Recogido por elEconomista, Reason Why, La Voz del Sur o Retail Actual. No hay cifras oficiales de alcance.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05 · CONCLUSIONES</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Comparación de los dos anuncios</a:t>
            </a:r>
          </a:p>
        </p:txBody>
      </p:sp>
      <p:sp>
        <p:nvSpPr>
          <p:cNvPr id="5" name="Rectangle 4"/>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7" name="TextBox 6"/>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16</a:t>
            </a:r>
          </a:p>
        </p:txBody>
      </p:sp>
      <p:graphicFrame>
        <p:nvGraphicFramePr>
          <p:cNvPr id="8" name="Table 7"/>
          <p:cNvGraphicFramePr>
            <a:graphicFrameLocks noGrp="1"/>
          </p:cNvGraphicFramePr>
          <p:nvPr/>
        </p:nvGraphicFramePr>
        <p:xfrm>
          <a:off x="548640" y="1600200"/>
          <a:ext cx="11091672" cy="4480560"/>
        </p:xfrm>
        <a:graphic>
          <a:graphicData uri="http://schemas.openxmlformats.org/drawingml/2006/table">
            <a:tbl>
              <a:tblPr firstRow="1" bandRow="1">
                <a:tableStyleId>{5C22544A-7EE6-4342-B048-85BDC9FD1C3A}</a:tableStyleId>
              </a:tblPr>
              <a:tblGrid>
                <a:gridCol w="1737360"/>
                <a:gridCol w="4677156"/>
                <a:gridCol w="4677156"/>
              </a:tblGrid>
              <a:tr h="640080">
                <a:tc>
                  <a:txBody>
                    <a:bodyPr wrap="square"/>
                    <a:lstStyle/>
                    <a:p>
                      <a:r>
                        <a:rPr sz="1150" b="1">
                          <a:solidFill>
                            <a:srgbClr val="FFFFFF"/>
                          </a:solidFill>
                          <a:latin typeface="Calibri"/>
                        </a:rPr>
                        <a:t>Criterio</a:t>
                      </a:r>
                    </a:p>
                  </a:txBody>
                  <a:tcPr marL="73152" marR="73152" marT="36576" marB="36576" anchor="ctr">
                    <a:solidFill>
                      <a:srgbClr val="7A0E1E"/>
                    </a:solidFill>
                  </a:tcPr>
                </a:tc>
                <a:tc>
                  <a:txBody>
                    <a:bodyPr wrap="square"/>
                    <a:lstStyle/>
                    <a:p>
                      <a:r>
                        <a:rPr sz="1150" b="1">
                          <a:solidFill>
                            <a:srgbClr val="FFFFFF"/>
                          </a:solidFill>
                          <a:latin typeface="Calibri"/>
                        </a:rPr>
                        <a:t>Spot «Lola» · Televisión</a:t>
                      </a:r>
                    </a:p>
                  </a:txBody>
                  <a:tcPr marL="73152" marR="73152" marT="36576" marB="36576" anchor="ctr">
                    <a:solidFill>
                      <a:srgbClr val="7A0E1E"/>
                    </a:solidFill>
                  </a:tcPr>
                </a:tc>
                <a:tc>
                  <a:txBody>
                    <a:bodyPr wrap="square"/>
                    <a:lstStyle/>
                    <a:p>
                      <a:r>
                        <a:rPr sz="1150" b="1">
                          <a:solidFill>
                            <a:srgbClr val="FFFFFF"/>
                          </a:solidFill>
                          <a:latin typeface="Calibri"/>
                        </a:rPr>
                        <a:t>Lonas «Berlín» · Exterior / guerrilla</a:t>
                      </a:r>
                    </a:p>
                  </a:txBody>
                  <a:tcPr marL="73152" marR="73152" marT="36576" marB="36576" anchor="ctr">
                    <a:solidFill>
                      <a:srgbClr val="7A0E1E"/>
                    </a:solidFill>
                  </a:tcPr>
                </a:tc>
              </a:tr>
              <a:tr h="640080">
                <a:tc>
                  <a:txBody>
                    <a:bodyPr wrap="square"/>
                    <a:lstStyle/>
                    <a:p>
                      <a:r>
                        <a:rPr sz="1150" b="1">
                          <a:solidFill>
                            <a:srgbClr val="7A0E1E"/>
                          </a:solidFill>
                          <a:latin typeface="Calibri"/>
                        </a:rPr>
                        <a:t>Eficacia</a:t>
                      </a:r>
                    </a:p>
                  </a:txBody>
                  <a:tcPr marL="73152" marR="73152" marT="36576" marB="36576" anchor="ctr">
                    <a:solidFill>
                      <a:srgbClr val="ECDFC6"/>
                    </a:solidFill>
                  </a:tcPr>
                </a:tc>
                <a:tc>
                  <a:txBody>
                    <a:bodyPr wrap="square"/>
                    <a:lstStyle/>
                    <a:p>
                      <a:r>
                        <a:rPr sz="1150">
                          <a:solidFill>
                            <a:srgbClr val="2B1B16"/>
                          </a:solidFill>
                          <a:latin typeface="Calibri"/>
                        </a:rPr>
                        <a:t>Muy alta y medida: Gran Premio a la Eficacia 2021 y Gran Premio Film en El Sol.</a:t>
                      </a:r>
                    </a:p>
                  </a:txBody>
                  <a:tcPr marL="73152" marR="73152" marT="36576" marB="36576" anchor="ctr">
                    <a:solidFill>
                      <a:srgbClr val="ECDFC6"/>
                    </a:solidFill>
                  </a:tcPr>
                </a:tc>
                <a:tc>
                  <a:txBody>
                    <a:bodyPr wrap="square"/>
                    <a:lstStyle/>
                    <a:p>
                      <a:r>
                        <a:rPr sz="1150">
                          <a:solidFill>
                            <a:srgbClr val="2B1B16"/>
                          </a:solidFill>
                          <a:latin typeface="Calibri"/>
                        </a:rPr>
                        <a:t>Alta en conversación, pero sin datos oficiales. Su éxito se mide por la cobertura en prensa y redes.</a:t>
                      </a:r>
                    </a:p>
                  </a:txBody>
                  <a:tcPr marL="73152" marR="73152" marT="36576" marB="36576" anchor="ctr">
                    <a:solidFill>
                      <a:srgbClr val="ECDFC6"/>
                    </a:solidFill>
                  </a:tcPr>
                </a:tc>
              </a:tr>
              <a:tr h="640080">
                <a:tc>
                  <a:txBody>
                    <a:bodyPr wrap="square"/>
                    <a:lstStyle/>
                    <a:p>
                      <a:r>
                        <a:rPr sz="1150" b="1">
                          <a:solidFill>
                            <a:srgbClr val="7A0E1E"/>
                          </a:solidFill>
                          <a:latin typeface="Calibri"/>
                        </a:rPr>
                        <a:t>Coste</a:t>
                      </a:r>
                    </a:p>
                  </a:txBody>
                  <a:tcPr marL="73152" marR="73152" marT="36576" marB="36576" anchor="ctr">
                    <a:solidFill>
                      <a:srgbClr val="F7F0E3"/>
                    </a:solidFill>
                  </a:tcPr>
                </a:tc>
                <a:tc>
                  <a:txBody>
                    <a:bodyPr wrap="square"/>
                    <a:lstStyle/>
                    <a:p>
                      <a:r>
                        <a:rPr sz="1150">
                          <a:solidFill>
                            <a:srgbClr val="2B1B16"/>
                          </a:solidFill>
                          <a:latin typeface="Calibri"/>
                        </a:rPr>
                        <a:t>Muy alto: producción con deepfake, tres días de rodaje, más la compra de espacios en TV.</a:t>
                      </a:r>
                    </a:p>
                  </a:txBody>
                  <a:tcPr marL="73152" marR="73152" marT="36576" marB="36576" anchor="ctr">
                    <a:solidFill>
                      <a:srgbClr val="F7F0E3"/>
                    </a:solidFill>
                  </a:tcPr>
                </a:tc>
                <a:tc>
                  <a:txBody>
                    <a:bodyPr wrap="square"/>
                    <a:lstStyle/>
                    <a:p>
                      <a:r>
                        <a:rPr sz="1150">
                          <a:solidFill>
                            <a:srgbClr val="2B1B16"/>
                          </a:solidFill>
                          <a:latin typeface="Calibri"/>
                        </a:rPr>
                        <a:t>Muy bajo: unas lonas impresas y la colaboración de los vecinos.</a:t>
                      </a:r>
                    </a:p>
                  </a:txBody>
                  <a:tcPr marL="73152" marR="73152" marT="36576" marB="36576" anchor="ctr">
                    <a:solidFill>
                      <a:srgbClr val="F7F0E3"/>
                    </a:solidFill>
                  </a:tcPr>
                </a:tc>
              </a:tr>
              <a:tr h="640080">
                <a:tc>
                  <a:txBody>
                    <a:bodyPr wrap="square"/>
                    <a:lstStyle/>
                    <a:p>
                      <a:r>
                        <a:rPr sz="1150" b="1">
                          <a:solidFill>
                            <a:srgbClr val="7A0E1E"/>
                          </a:solidFill>
                          <a:latin typeface="Calibri"/>
                        </a:rPr>
                        <a:t>Alcance</a:t>
                      </a:r>
                    </a:p>
                  </a:txBody>
                  <a:tcPr marL="73152" marR="73152" marT="36576" marB="36576" anchor="ctr">
                    <a:solidFill>
                      <a:srgbClr val="ECDFC6"/>
                    </a:solidFill>
                  </a:tcPr>
                </a:tc>
                <a:tc>
                  <a:txBody>
                    <a:bodyPr wrap="square"/>
                    <a:lstStyle/>
                    <a:p>
                      <a:r>
                        <a:rPr sz="1150">
                          <a:solidFill>
                            <a:srgbClr val="2B1B16"/>
                          </a:solidFill>
                          <a:latin typeface="Calibri"/>
                        </a:rPr>
                        <a:t>Nacional y masivo: 614 millones de visualizaciones (TV + digital + medios).</a:t>
                      </a:r>
                    </a:p>
                  </a:txBody>
                  <a:tcPr marL="73152" marR="73152" marT="36576" marB="36576" anchor="ctr">
                    <a:solidFill>
                      <a:srgbClr val="ECDFC6"/>
                    </a:solidFill>
                  </a:tcPr>
                </a:tc>
                <a:tc>
                  <a:txBody>
                    <a:bodyPr wrap="square"/>
                    <a:lstStyle/>
                    <a:p>
                      <a:r>
                        <a:rPr sz="1150">
                          <a:solidFill>
                            <a:srgbClr val="2B1B16"/>
                          </a:solidFill>
                          <a:latin typeface="Calibri"/>
                        </a:rPr>
                        <a:t>Físicamente local (un barrio), pero las redes y la prensa lo llevaron a toda España.</a:t>
                      </a:r>
                    </a:p>
                  </a:txBody>
                  <a:tcPr marL="73152" marR="73152" marT="36576" marB="36576" anchor="ctr">
                    <a:solidFill>
                      <a:srgbClr val="ECDFC6"/>
                    </a:solidFill>
                  </a:tcPr>
                </a:tc>
              </a:tr>
              <a:tr h="640080">
                <a:tc>
                  <a:txBody>
                    <a:bodyPr wrap="square"/>
                    <a:lstStyle/>
                    <a:p>
                      <a:r>
                        <a:rPr sz="1150" b="1">
                          <a:solidFill>
                            <a:srgbClr val="7A0E1E"/>
                          </a:solidFill>
                          <a:latin typeface="Calibri"/>
                        </a:rPr>
                        <a:t>Interactividad</a:t>
                      </a:r>
                    </a:p>
                  </a:txBody>
                  <a:tcPr marL="73152" marR="73152" marT="36576" marB="36576" anchor="ctr">
                    <a:solidFill>
                      <a:srgbClr val="F7F0E3"/>
                    </a:solidFill>
                  </a:tcPr>
                </a:tc>
                <a:tc>
                  <a:txBody>
                    <a:bodyPr wrap="square"/>
                    <a:lstStyle/>
                    <a:p>
                      <a:r>
                        <a:rPr sz="1150">
                          <a:solidFill>
                            <a:srgbClr val="2B1B16"/>
                          </a:solidFill>
                          <a:latin typeface="Calibri"/>
                        </a:rPr>
                        <a:t>Baja: el público mira; la conversación llega después en redes.</a:t>
                      </a:r>
                    </a:p>
                  </a:txBody>
                  <a:tcPr marL="73152" marR="73152" marT="36576" marB="36576" anchor="ctr">
                    <a:solidFill>
                      <a:srgbClr val="F7F0E3"/>
                    </a:solidFill>
                  </a:tcPr>
                </a:tc>
                <a:tc>
                  <a:txBody>
                    <a:bodyPr wrap="square"/>
                    <a:lstStyle/>
                    <a:p>
                      <a:r>
                        <a:rPr sz="1150">
                          <a:solidFill>
                            <a:srgbClr val="2B1B16"/>
                          </a:solidFill>
                          <a:latin typeface="Calibri"/>
                        </a:rPr>
                        <a:t>Alta: los vecinos participan y la gente fotografía y comparte.</a:t>
                      </a:r>
                    </a:p>
                  </a:txBody>
                  <a:tcPr marL="73152" marR="73152" marT="36576" marB="36576" anchor="ctr">
                    <a:solidFill>
                      <a:srgbClr val="F7F0E3"/>
                    </a:solidFill>
                  </a:tcPr>
                </a:tc>
              </a:tr>
              <a:tr h="640080">
                <a:tc>
                  <a:txBody>
                    <a:bodyPr wrap="square"/>
                    <a:lstStyle/>
                    <a:p>
                      <a:r>
                        <a:rPr sz="1150" b="1">
                          <a:solidFill>
                            <a:srgbClr val="7A0E1E"/>
                          </a:solidFill>
                          <a:latin typeface="Calibri"/>
                        </a:rPr>
                        <a:t>Público</a:t>
                      </a:r>
                    </a:p>
                  </a:txBody>
                  <a:tcPr marL="73152" marR="73152" marT="36576" marB="36576" anchor="ctr">
                    <a:solidFill>
                      <a:srgbClr val="ECDFC6"/>
                    </a:solidFill>
                  </a:tcPr>
                </a:tc>
                <a:tc>
                  <a:txBody>
                    <a:bodyPr wrap="square"/>
                    <a:lstStyle/>
                    <a:p>
                      <a:r>
                        <a:rPr sz="1150">
                          <a:solidFill>
                            <a:srgbClr val="2B1B16"/>
                          </a:solidFill>
                          <a:latin typeface="Calibri"/>
                        </a:rPr>
                        <a:t>Amplio, de 25 a 55 años, en toda España.</a:t>
                      </a:r>
                    </a:p>
                  </a:txBody>
                  <a:tcPr marL="73152" marR="73152" marT="36576" marB="36576" anchor="ctr">
                    <a:solidFill>
                      <a:srgbClr val="ECDFC6"/>
                    </a:solidFill>
                  </a:tcPr>
                </a:tc>
                <a:tc>
                  <a:txBody>
                    <a:bodyPr wrap="square"/>
                    <a:lstStyle/>
                    <a:p>
                      <a:r>
                        <a:rPr sz="1150">
                          <a:solidFill>
                            <a:srgbClr val="2B1B16"/>
                          </a:solidFill>
                          <a:latin typeface="Calibri"/>
                        </a:rPr>
                        <a:t>Más joven (20–45) y local, muy activo en redes.</a:t>
                      </a:r>
                    </a:p>
                  </a:txBody>
                  <a:tcPr marL="73152" marR="73152" marT="36576" marB="36576" anchor="ctr">
                    <a:solidFill>
                      <a:srgbClr val="ECDFC6"/>
                    </a:solidFill>
                  </a:tcPr>
                </a:tc>
              </a:tr>
              <a:tr h="640080">
                <a:tc>
                  <a:txBody>
                    <a:bodyPr wrap="square"/>
                    <a:lstStyle/>
                    <a:p>
                      <a:r>
                        <a:rPr sz="1150" b="1">
                          <a:solidFill>
                            <a:srgbClr val="7A0E1E"/>
                          </a:solidFill>
                          <a:latin typeface="Calibri"/>
                        </a:rPr>
                        <a:t>Rapidez</a:t>
                      </a:r>
                    </a:p>
                  </a:txBody>
                  <a:tcPr marL="73152" marR="73152" marT="36576" marB="36576" anchor="ctr">
                    <a:solidFill>
                      <a:srgbClr val="F7F0E3"/>
                    </a:solidFill>
                  </a:tcPr>
                </a:tc>
                <a:tc>
                  <a:txBody>
                    <a:bodyPr wrap="square"/>
                    <a:lstStyle/>
                    <a:p>
                      <a:r>
                        <a:rPr sz="1150">
                          <a:solidFill>
                            <a:srgbClr val="2B1B16"/>
                          </a:solidFill>
                          <a:latin typeface="Calibri"/>
                        </a:rPr>
                        <a:t>Meses de preparación.</a:t>
                      </a:r>
                    </a:p>
                  </a:txBody>
                  <a:tcPr marL="73152" marR="73152" marT="36576" marB="36576" anchor="ctr">
                    <a:solidFill>
                      <a:srgbClr val="F7F0E3"/>
                    </a:solidFill>
                  </a:tcPr>
                </a:tc>
                <a:tc>
                  <a:txBody>
                    <a:bodyPr wrap="square"/>
                    <a:lstStyle/>
                    <a:p>
                      <a:r>
                        <a:rPr sz="1150">
                          <a:solidFill>
                            <a:srgbClr val="2B1B16"/>
                          </a:solidFill>
                          <a:latin typeface="Calibri"/>
                        </a:rPr>
                        <a:t>Respuesta en menos de 48 horas.</a:t>
                      </a:r>
                    </a:p>
                  </a:txBody>
                  <a:tcPr marL="73152" marR="73152" marT="36576" marB="36576" anchor="ctr">
                    <a:solidFill>
                      <a:srgbClr val="F7F0E3"/>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05 · CONCLUSIONES</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Nuestra recomendación para Cruzcampo</a:t>
            </a:r>
          </a:p>
        </p:txBody>
      </p:sp>
      <p:sp>
        <p:nvSpPr>
          <p:cNvPr id="5" name="Rectangle 4"/>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7" name="TextBox 6"/>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17</a:t>
            </a:r>
          </a:p>
        </p:txBody>
      </p:sp>
      <p:sp>
        <p:nvSpPr>
          <p:cNvPr id="8" name="Rectangle 7"/>
          <p:cNvSpPr/>
          <p:nvPr/>
        </p:nvSpPr>
        <p:spPr>
          <a:xfrm>
            <a:off x="548640" y="1600200"/>
            <a:ext cx="11091672"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37360"/>
            <a:ext cx="10515600" cy="320040"/>
          </a:xfrm>
          <a:prstGeom prst="rect">
            <a:avLst/>
          </a:prstGeom>
          <a:noFill/>
        </p:spPr>
        <p:txBody>
          <a:bodyPr wrap="square" anchor="t" lIns="0" rIns="0" tIns="0" bIns="0">
            <a:spAutoFit/>
          </a:bodyPr>
          <a:lstStyle/>
          <a:p>
            <a:pPr algn="l">
              <a:lnSpc>
                <a:spcPct val="110000"/>
              </a:lnSpc>
            </a:pPr>
            <a:r>
              <a:rPr sz="1200" b="1" i="0">
                <a:solidFill>
                  <a:srgbClr val="ECDFC6"/>
                </a:solidFill>
                <a:latin typeface="Calibri"/>
              </a:rPr>
              <a:t>MEDIO PRIORITARIO</a:t>
            </a:r>
          </a:p>
        </p:txBody>
      </p:sp>
      <p:sp>
        <p:nvSpPr>
          <p:cNvPr id="10" name="TextBox 9"/>
          <p:cNvSpPr txBox="1"/>
          <p:nvPr/>
        </p:nvSpPr>
        <p:spPr>
          <a:xfrm>
            <a:off x="868680" y="2057400"/>
            <a:ext cx="10515600" cy="868680"/>
          </a:xfrm>
          <a:prstGeom prst="rect">
            <a:avLst/>
          </a:prstGeom>
          <a:noFill/>
        </p:spPr>
        <p:txBody>
          <a:bodyPr wrap="square" anchor="t" lIns="0" rIns="0" tIns="0" bIns="0">
            <a:spAutoFit/>
          </a:bodyPr>
          <a:lstStyle/>
          <a:p>
            <a:pPr algn="l">
              <a:lnSpc>
                <a:spcPct val="110000"/>
              </a:lnSpc>
            </a:pPr>
            <a:r>
              <a:rPr sz="1900" b="1" i="0">
                <a:solidFill>
                  <a:srgbClr val="F7F0E3"/>
                </a:solidFill>
                <a:latin typeface="Cambria"/>
              </a:rPr>
              <a:t>Televisión (spot) como eje de cada gran campaña, amplificada en vídeo online y redes, y apoyada con acciones de exterior y guerrilla en Andalucía.</a:t>
            </a:r>
          </a:p>
        </p:txBody>
      </p:sp>
      <p:sp>
        <p:nvSpPr>
          <p:cNvPr id="11" name="Rectangle 10"/>
          <p:cNvSpPr/>
          <p:nvPr/>
        </p:nvSpPr>
        <p:spPr>
          <a:xfrm>
            <a:off x="548640" y="3200400"/>
            <a:ext cx="3566160" cy="301752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0400"/>
            <a:ext cx="64008" cy="30175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337560"/>
            <a:ext cx="3200400" cy="36576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1 · Por qué TV</a:t>
            </a:r>
          </a:p>
        </p:txBody>
      </p:sp>
      <p:sp>
        <p:nvSpPr>
          <p:cNvPr id="14" name="TextBox 13"/>
          <p:cNvSpPr txBox="1"/>
          <p:nvPr/>
        </p:nvSpPr>
        <p:spPr>
          <a:xfrm>
            <a:off x="777240" y="3749040"/>
            <a:ext cx="3200400" cy="2377440"/>
          </a:xfrm>
          <a:prstGeom prst="rect">
            <a:avLst/>
          </a:prstGeom>
          <a:noFill/>
        </p:spPr>
        <p:txBody>
          <a:bodyPr wrap="square" lIns="0" rIns="0" tIns="0" bIns="0">
            <a:spAutoFit/>
          </a:bodyPr>
          <a:lstStyle/>
          <a:p>
            <a:pPr>
              <a:lnSpc>
                <a:spcPct val="108000"/>
              </a:lnSpc>
              <a:spcAft>
                <a:spcPts val="300"/>
              </a:spcAft>
            </a:pPr>
            <a:r>
              <a:rPr sz="750">
                <a:solidFill>
                  <a:srgbClr val="C8102E"/>
                </a:solidFill>
                <a:latin typeface="Calibri"/>
              </a:rPr>
              <a:t>•  </a:t>
            </a:r>
            <a:r>
              <a:rPr sz="1150" b="0" i="0">
                <a:solidFill>
                  <a:srgbClr val="2B1B16"/>
                </a:solidFill>
                <a:latin typeface="Calibri"/>
              </a:rPr>
              <a:t>Es el único caso con eficacia demostrada con premios y cifras.</a:t>
            </a:r>
          </a:p>
          <a:p>
            <a:pPr>
              <a:lnSpc>
                <a:spcPct val="108000"/>
              </a:lnSpc>
              <a:spcAft>
                <a:spcPts val="300"/>
              </a:spcAft>
            </a:pPr>
            <a:r>
              <a:rPr sz="750">
                <a:solidFill>
                  <a:srgbClr val="C8102E"/>
                </a:solidFill>
                <a:latin typeface="Calibri"/>
              </a:rPr>
              <a:t>•  </a:t>
            </a:r>
            <a:r>
              <a:rPr sz="1150" b="0" i="0">
                <a:solidFill>
                  <a:srgbClr val="2B1B16"/>
                </a:solidFill>
                <a:latin typeface="Calibri"/>
              </a:rPr>
              <a:t>La marca necesita llegar a toda España y al Reino Unido, no solo a Andalucía.</a:t>
            </a:r>
          </a:p>
          <a:p>
            <a:pPr>
              <a:lnSpc>
                <a:spcPct val="108000"/>
              </a:lnSpc>
              <a:spcAft>
                <a:spcPts val="300"/>
              </a:spcAft>
            </a:pPr>
            <a:r>
              <a:rPr sz="750">
                <a:solidFill>
                  <a:srgbClr val="C8102E"/>
                </a:solidFill>
                <a:latin typeface="Calibri"/>
              </a:rPr>
              <a:t>•  </a:t>
            </a:r>
            <a:r>
              <a:rPr sz="1150" b="0" i="0">
                <a:solidFill>
                  <a:srgbClr val="2B1B16"/>
                </a:solidFill>
                <a:latin typeface="Calibri"/>
              </a:rPr>
              <a:t>Su plataforma se basa en emoción, música y voz, que piden imagen y sonido.</a:t>
            </a:r>
          </a:p>
        </p:txBody>
      </p:sp>
      <p:sp>
        <p:nvSpPr>
          <p:cNvPr id="15" name="Rectangle 14"/>
          <p:cNvSpPr/>
          <p:nvPr/>
        </p:nvSpPr>
        <p:spPr>
          <a:xfrm>
            <a:off x="4315968" y="3200400"/>
            <a:ext cx="3566160" cy="301752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5968" y="3200400"/>
            <a:ext cx="64008" cy="30175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44568" y="3337560"/>
            <a:ext cx="3200400" cy="36576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2 · Por qué no solo TV</a:t>
            </a:r>
          </a:p>
        </p:txBody>
      </p:sp>
      <p:sp>
        <p:nvSpPr>
          <p:cNvPr id="18" name="TextBox 17"/>
          <p:cNvSpPr txBox="1"/>
          <p:nvPr/>
        </p:nvSpPr>
        <p:spPr>
          <a:xfrm>
            <a:off x="4544568" y="3749040"/>
            <a:ext cx="3200400" cy="2377440"/>
          </a:xfrm>
          <a:prstGeom prst="rect">
            <a:avLst/>
          </a:prstGeom>
          <a:noFill/>
        </p:spPr>
        <p:txBody>
          <a:bodyPr wrap="square" lIns="0" rIns="0" tIns="0" bIns="0">
            <a:spAutoFit/>
          </a:bodyPr>
          <a:lstStyle/>
          <a:p>
            <a:pPr>
              <a:lnSpc>
                <a:spcPct val="108000"/>
              </a:lnSpc>
              <a:spcAft>
                <a:spcPts val="300"/>
              </a:spcAft>
            </a:pPr>
            <a:r>
              <a:rPr sz="750">
                <a:solidFill>
                  <a:srgbClr val="C8102E"/>
                </a:solidFill>
                <a:latin typeface="Calibri"/>
              </a:rPr>
              <a:t>•  </a:t>
            </a:r>
            <a:r>
              <a:rPr sz="1150" b="0" i="0">
                <a:solidFill>
                  <a:srgbClr val="2B1B16"/>
                </a:solidFill>
                <a:latin typeface="Calibri"/>
              </a:rPr>
              <a:t>Es muy cara y el público joven ve menos televisión.</a:t>
            </a:r>
          </a:p>
          <a:p>
            <a:pPr>
              <a:lnSpc>
                <a:spcPct val="108000"/>
              </a:lnSpc>
              <a:spcAft>
                <a:spcPts val="300"/>
              </a:spcAft>
            </a:pPr>
            <a:r>
              <a:rPr sz="750">
                <a:solidFill>
                  <a:srgbClr val="C8102E"/>
                </a:solidFill>
                <a:latin typeface="Calibri"/>
              </a:rPr>
              <a:t>•  </a:t>
            </a:r>
            <a:r>
              <a:rPr sz="1150" b="0" i="0">
                <a:solidFill>
                  <a:srgbClr val="2B1B16"/>
                </a:solidFill>
                <a:latin typeface="Calibri"/>
              </a:rPr>
              <a:t>Las acciones de guerrilla dan cercanía y conversación a muy bajo coste.</a:t>
            </a:r>
          </a:p>
          <a:p>
            <a:pPr>
              <a:lnSpc>
                <a:spcPct val="108000"/>
              </a:lnSpc>
              <a:spcAft>
                <a:spcPts val="300"/>
              </a:spcAft>
            </a:pPr>
            <a:r>
              <a:rPr sz="750">
                <a:solidFill>
                  <a:srgbClr val="C8102E"/>
                </a:solidFill>
                <a:latin typeface="Calibri"/>
              </a:rPr>
              <a:t>•  </a:t>
            </a:r>
            <a:r>
              <a:rPr sz="1150" b="0" i="0">
                <a:solidFill>
                  <a:srgbClr val="2B1B16"/>
                </a:solidFill>
                <a:latin typeface="Calibri"/>
              </a:rPr>
              <a:t>Funcionan mejor en su territorio: Sevilla, Cádiz, Carnaval, Feria…</a:t>
            </a:r>
          </a:p>
        </p:txBody>
      </p:sp>
      <p:sp>
        <p:nvSpPr>
          <p:cNvPr id="19" name="Rectangle 18"/>
          <p:cNvSpPr/>
          <p:nvPr/>
        </p:nvSpPr>
        <p:spPr>
          <a:xfrm>
            <a:off x="8083296" y="3200400"/>
            <a:ext cx="3557016" cy="3017520"/>
          </a:xfrm>
          <a:prstGeom prst="rect">
            <a:avLst/>
          </a:prstGeom>
          <a:solidFill>
            <a:srgbClr val="ECD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3296" y="3200400"/>
            <a:ext cx="64008" cy="30175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11896" y="3337560"/>
            <a:ext cx="3191256" cy="365760"/>
          </a:xfrm>
          <a:prstGeom prst="rect">
            <a:avLst/>
          </a:prstGeom>
          <a:noFill/>
        </p:spPr>
        <p:txBody>
          <a:bodyPr wrap="square" anchor="t" lIns="0" rIns="0" tIns="0" bIns="0">
            <a:spAutoFit/>
          </a:bodyPr>
          <a:lstStyle/>
          <a:p>
            <a:pPr algn="l">
              <a:lnSpc>
                <a:spcPct val="110000"/>
              </a:lnSpc>
            </a:pPr>
            <a:r>
              <a:rPr sz="1400" b="1" i="0">
                <a:solidFill>
                  <a:srgbClr val="C8102E"/>
                </a:solidFill>
                <a:latin typeface="Cambria"/>
              </a:rPr>
              <a:t>3 · Cómo combinarlo</a:t>
            </a:r>
          </a:p>
        </p:txBody>
      </p:sp>
      <p:sp>
        <p:nvSpPr>
          <p:cNvPr id="22" name="TextBox 21"/>
          <p:cNvSpPr txBox="1"/>
          <p:nvPr/>
        </p:nvSpPr>
        <p:spPr>
          <a:xfrm>
            <a:off x="8311896" y="3749040"/>
            <a:ext cx="3191256" cy="2377440"/>
          </a:xfrm>
          <a:prstGeom prst="rect">
            <a:avLst/>
          </a:prstGeom>
          <a:noFill/>
        </p:spPr>
        <p:txBody>
          <a:bodyPr wrap="square" lIns="0" rIns="0" tIns="0" bIns="0">
            <a:spAutoFit/>
          </a:bodyPr>
          <a:lstStyle/>
          <a:p>
            <a:pPr>
              <a:lnSpc>
                <a:spcPct val="108000"/>
              </a:lnSpc>
              <a:spcAft>
                <a:spcPts val="300"/>
              </a:spcAft>
            </a:pPr>
            <a:r>
              <a:rPr sz="750">
                <a:solidFill>
                  <a:srgbClr val="C8102E"/>
                </a:solidFill>
                <a:latin typeface="Calibri"/>
              </a:rPr>
              <a:t>•  </a:t>
            </a:r>
            <a:r>
              <a:rPr sz="1150" b="0" i="0">
                <a:solidFill>
                  <a:srgbClr val="2B1B16"/>
                </a:solidFill>
                <a:latin typeface="Calibri"/>
              </a:rPr>
              <a:t>Un gran spot al año (como «Lola» o «Gitana»).</a:t>
            </a:r>
          </a:p>
          <a:p>
            <a:pPr>
              <a:lnSpc>
                <a:spcPct val="108000"/>
              </a:lnSpc>
              <a:spcAft>
                <a:spcPts val="300"/>
              </a:spcAft>
            </a:pPr>
            <a:r>
              <a:rPr sz="750">
                <a:solidFill>
                  <a:srgbClr val="C8102E"/>
                </a:solidFill>
                <a:latin typeface="Calibri"/>
              </a:rPr>
              <a:t>•  </a:t>
            </a:r>
            <a:r>
              <a:rPr sz="1150" b="0" i="0">
                <a:solidFill>
                  <a:srgbClr val="2B1B16"/>
                </a:solidFill>
                <a:latin typeface="Calibri"/>
              </a:rPr>
              <a:t>Acciones exteriores rápidas para responder a la competencia y a la actualidad.</a:t>
            </a:r>
          </a:p>
          <a:p>
            <a:pPr>
              <a:lnSpc>
                <a:spcPct val="108000"/>
              </a:lnSpc>
              <a:spcAft>
                <a:spcPts val="300"/>
              </a:spcAft>
            </a:pPr>
            <a:r>
              <a:rPr sz="750">
                <a:solidFill>
                  <a:srgbClr val="C8102E"/>
                </a:solidFill>
                <a:latin typeface="Calibri"/>
              </a:rPr>
              <a:t>•  </a:t>
            </a:r>
            <a:r>
              <a:rPr sz="1150" b="0" i="0">
                <a:solidFill>
                  <a:srgbClr val="2B1B16"/>
                </a:solidFill>
                <a:latin typeface="Calibri"/>
              </a:rPr>
              <a:t>Todo bajo «Con mucho acento», respetando las normas de publicidad del alcohol.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06 · FUENTES</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Fuentes · Bibliografía y webgrafía (1/2)</a:t>
            </a:r>
          </a:p>
        </p:txBody>
      </p:sp>
      <p:sp>
        <p:nvSpPr>
          <p:cNvPr id="5" name="Rectangle 4"/>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7" name="TextBox 6"/>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18</a:t>
            </a:r>
          </a:p>
        </p:txBody>
      </p:sp>
      <p:sp>
        <p:nvSpPr>
          <p:cNvPr id="8" name="TextBox 7"/>
          <p:cNvSpPr txBox="1"/>
          <p:nvPr/>
        </p:nvSpPr>
        <p:spPr>
          <a:xfrm>
            <a:off x="548640" y="1508760"/>
            <a:ext cx="10972800" cy="274320"/>
          </a:xfrm>
          <a:prstGeom prst="rect">
            <a:avLst/>
          </a:prstGeom>
          <a:noFill/>
        </p:spPr>
        <p:txBody>
          <a:bodyPr wrap="square" anchor="t" lIns="0" rIns="0" tIns="0" bIns="0">
            <a:spAutoFit/>
          </a:bodyPr>
          <a:lstStyle/>
          <a:p>
            <a:pPr algn="l">
              <a:lnSpc>
                <a:spcPct val="110000"/>
              </a:lnSpc>
            </a:pPr>
            <a:r>
              <a:rPr sz="1300" b="1" i="0">
                <a:solidFill>
                  <a:srgbClr val="C8102E"/>
                </a:solidFill>
                <a:latin typeface="Cambria"/>
              </a:rPr>
              <a:t>Libro / material curricular</a:t>
            </a:r>
          </a:p>
        </p:txBody>
      </p:sp>
      <p:sp>
        <p:nvSpPr>
          <p:cNvPr id="9" name="TextBox 8"/>
          <p:cNvSpPr txBox="1"/>
          <p:nvPr/>
        </p:nvSpPr>
        <p:spPr>
          <a:xfrm>
            <a:off x="548640" y="1819656"/>
            <a:ext cx="11091672" cy="192024"/>
          </a:xfrm>
          <a:prstGeom prst="rect">
            <a:avLst/>
          </a:prstGeom>
          <a:noFill/>
        </p:spPr>
        <p:txBody>
          <a:bodyPr wrap="square" lIns="0" rIns="0" tIns="0" bIns="0">
            <a:spAutoFit/>
          </a:bodyPr>
          <a:lstStyle/>
          <a:p>
            <a:pPr>
              <a:lnSpc>
                <a:spcPct val="108000"/>
              </a:lnSpc>
              <a:spcAft>
                <a:spcPts val="100"/>
              </a:spcAft>
            </a:pPr>
            <a:r>
              <a:rPr sz="650">
                <a:solidFill>
                  <a:srgbClr val="C8102E"/>
                </a:solidFill>
                <a:latin typeface="Calibri"/>
              </a:rPr>
              <a:t>•  </a:t>
            </a:r>
            <a:r>
              <a:rPr sz="1050" b="0" i="0">
                <a:solidFill>
                  <a:srgbClr val="2B1B16"/>
                </a:solidFill>
                <a:latin typeface="Calibri"/>
              </a:rPr>
              <a:t>[Título del libro], [Editorial], [año]. Apartado 1.12, págs. [__]–[__].</a:t>
            </a:r>
          </a:p>
        </p:txBody>
      </p:sp>
      <p:sp>
        <p:nvSpPr>
          <p:cNvPr id="10" name="TextBox 9"/>
          <p:cNvSpPr txBox="1"/>
          <p:nvPr/>
        </p:nvSpPr>
        <p:spPr>
          <a:xfrm>
            <a:off x="548640" y="2199132"/>
            <a:ext cx="10972800" cy="274320"/>
          </a:xfrm>
          <a:prstGeom prst="rect">
            <a:avLst/>
          </a:prstGeom>
          <a:noFill/>
        </p:spPr>
        <p:txBody>
          <a:bodyPr wrap="square" anchor="t" lIns="0" rIns="0" tIns="0" bIns="0">
            <a:spAutoFit/>
          </a:bodyPr>
          <a:lstStyle/>
          <a:p>
            <a:pPr algn="l">
              <a:lnSpc>
                <a:spcPct val="110000"/>
              </a:lnSpc>
            </a:pPr>
            <a:r>
              <a:rPr sz="1300" b="1" i="0">
                <a:solidFill>
                  <a:srgbClr val="C8102E"/>
                </a:solidFill>
                <a:latin typeface="Cambria"/>
              </a:rPr>
              <a:t>Identidad y empresa</a:t>
            </a:r>
          </a:p>
        </p:txBody>
      </p:sp>
      <p:sp>
        <p:nvSpPr>
          <p:cNvPr id="11" name="TextBox 10"/>
          <p:cNvSpPr txBox="1"/>
          <p:nvPr/>
        </p:nvSpPr>
        <p:spPr>
          <a:xfrm>
            <a:off x="548640" y="2510028"/>
            <a:ext cx="11091672" cy="1152144"/>
          </a:xfrm>
          <a:prstGeom prst="rect">
            <a:avLst/>
          </a:prstGeom>
          <a:noFill/>
        </p:spPr>
        <p:txBody>
          <a:bodyPr wrap="square" lIns="0" rIns="0" tIns="0" bIns="0">
            <a:spAutoFit/>
          </a:bodyPr>
          <a:lstStyle/>
          <a:p>
            <a:pPr>
              <a:lnSpc>
                <a:spcPct val="108000"/>
              </a:lnSpc>
              <a:spcAft>
                <a:spcPts val="100"/>
              </a:spcAft>
            </a:pPr>
            <a:r>
              <a:rPr sz="650">
                <a:solidFill>
                  <a:srgbClr val="C8102E"/>
                </a:solidFill>
                <a:latin typeface="Calibri"/>
              </a:rPr>
              <a:t>•  </a:t>
            </a:r>
            <a:r>
              <a:rPr sz="1050" b="0" i="0">
                <a:solidFill>
                  <a:srgbClr val="2B1B16"/>
                </a:solidFill>
                <a:latin typeface="Calibri"/>
              </a:rPr>
              <a:t>Alimarket. «Cruzcampo recupera su imagen original». alimarket.es/alimentacion/noticia/251785</a:t>
            </a:r>
          </a:p>
          <a:p>
            <a:pPr>
              <a:lnSpc>
                <a:spcPct val="108000"/>
              </a:lnSpc>
              <a:spcAft>
                <a:spcPts val="100"/>
              </a:spcAft>
            </a:pPr>
            <a:r>
              <a:rPr sz="650">
                <a:solidFill>
                  <a:srgbClr val="C8102E"/>
                </a:solidFill>
                <a:latin typeface="Calibri"/>
              </a:rPr>
              <a:t>•  </a:t>
            </a:r>
            <a:r>
              <a:rPr sz="1050" b="0" i="0">
                <a:solidFill>
                  <a:srgbClr val="2B1B16"/>
                </a:solidFill>
                <a:latin typeface="Calibri"/>
              </a:rPr>
              <a:t>Forbes España. «De Andalucía al mundo entero». forbes.es/empresas/53420/de-andalucia-al-mundo-entero</a:t>
            </a:r>
          </a:p>
          <a:p>
            <a:pPr>
              <a:lnSpc>
                <a:spcPct val="108000"/>
              </a:lnSpc>
              <a:spcAft>
                <a:spcPts val="100"/>
              </a:spcAft>
            </a:pPr>
            <a:r>
              <a:rPr sz="650">
                <a:solidFill>
                  <a:srgbClr val="C8102E"/>
                </a:solidFill>
                <a:latin typeface="Calibri"/>
              </a:rPr>
              <a:t>•  </a:t>
            </a:r>
            <a:r>
              <a:rPr sz="1050" b="0" i="0">
                <a:solidFill>
                  <a:srgbClr val="2B1B16"/>
                </a:solidFill>
                <a:latin typeface="Calibri"/>
              </a:rPr>
              <a:t>Universidad Pablo de Olavide, Patio Colorado. «Somos de Cruzcampo». upo.es/patio-colorado/?p=990</a:t>
            </a:r>
          </a:p>
          <a:p>
            <a:pPr>
              <a:lnSpc>
                <a:spcPct val="108000"/>
              </a:lnSpc>
              <a:spcAft>
                <a:spcPts val="100"/>
              </a:spcAft>
            </a:pPr>
            <a:r>
              <a:rPr sz="650">
                <a:solidFill>
                  <a:srgbClr val="C8102E"/>
                </a:solidFill>
                <a:latin typeface="Calibri"/>
              </a:rPr>
              <a:t>•  </a:t>
            </a:r>
            <a:r>
              <a:rPr sz="1050" b="0" i="0">
                <a:solidFill>
                  <a:srgbClr val="2B1B16"/>
                </a:solidFill>
                <a:latin typeface="Calibri"/>
              </a:rPr>
              <a:t>World Brand Design. Rediseño de Cruzcampo por Bulletproof. worldbranddesign.com/?p=51681</a:t>
            </a:r>
          </a:p>
          <a:p>
            <a:pPr>
              <a:lnSpc>
                <a:spcPct val="108000"/>
              </a:lnSpc>
              <a:spcAft>
                <a:spcPts val="100"/>
              </a:spcAft>
            </a:pPr>
            <a:r>
              <a:rPr sz="650">
                <a:solidFill>
                  <a:srgbClr val="C8102E"/>
                </a:solidFill>
                <a:latin typeface="Calibri"/>
              </a:rPr>
              <a:t>•  </a:t>
            </a:r>
            <a:r>
              <a:rPr sz="1050" b="0" i="0">
                <a:solidFill>
                  <a:srgbClr val="2B1B16"/>
                </a:solidFill>
                <a:latin typeface="Calibri"/>
              </a:rPr>
              <a:t>Bolsamanía (2024). Cruzcampo alcanza casi 10.000 bares y pubs en Reino Unido. bolsamania.com</a:t>
            </a:r>
          </a:p>
          <a:p>
            <a:pPr>
              <a:lnSpc>
                <a:spcPct val="108000"/>
              </a:lnSpc>
              <a:spcAft>
                <a:spcPts val="100"/>
              </a:spcAft>
            </a:pPr>
            <a:r>
              <a:rPr sz="650">
                <a:solidFill>
                  <a:srgbClr val="C8102E"/>
                </a:solidFill>
                <a:latin typeface="Calibri"/>
              </a:rPr>
              <a:t>•  </a:t>
            </a:r>
            <a:r>
              <a:rPr sz="1050" b="0" i="0">
                <a:solidFill>
                  <a:srgbClr val="2B1B16"/>
                </a:solidFill>
                <a:latin typeface="Calibri"/>
              </a:rPr>
              <a:t>Que.es (28-05-2021). La vieja planta de Cruzcampo renace como centro de cultura cervecera. que.es</a:t>
            </a:r>
          </a:p>
        </p:txBody>
      </p:sp>
      <p:sp>
        <p:nvSpPr>
          <p:cNvPr id="12" name="TextBox 11"/>
          <p:cNvSpPr txBox="1"/>
          <p:nvPr/>
        </p:nvSpPr>
        <p:spPr>
          <a:xfrm>
            <a:off x="548640" y="3872484"/>
            <a:ext cx="10972800" cy="274320"/>
          </a:xfrm>
          <a:prstGeom prst="rect">
            <a:avLst/>
          </a:prstGeom>
          <a:noFill/>
        </p:spPr>
        <p:txBody>
          <a:bodyPr wrap="square" anchor="t" lIns="0" rIns="0" tIns="0" bIns="0">
            <a:spAutoFit/>
          </a:bodyPr>
          <a:lstStyle/>
          <a:p>
            <a:pPr algn="l">
              <a:lnSpc>
                <a:spcPct val="110000"/>
              </a:lnSpc>
            </a:pPr>
            <a:r>
              <a:rPr sz="1300" b="1" i="0">
                <a:solidFill>
                  <a:srgbClr val="C8102E"/>
                </a:solidFill>
                <a:latin typeface="Cambria"/>
              </a:rPr>
              <a:t>Anuncio 1 · «Lola» (TV, 2021)</a:t>
            </a:r>
          </a:p>
        </p:txBody>
      </p:sp>
      <p:sp>
        <p:nvSpPr>
          <p:cNvPr id="13" name="TextBox 12"/>
          <p:cNvSpPr txBox="1"/>
          <p:nvPr/>
        </p:nvSpPr>
        <p:spPr>
          <a:xfrm>
            <a:off x="548640" y="4183380"/>
            <a:ext cx="11091672" cy="1152144"/>
          </a:xfrm>
          <a:prstGeom prst="rect">
            <a:avLst/>
          </a:prstGeom>
          <a:noFill/>
        </p:spPr>
        <p:txBody>
          <a:bodyPr wrap="square" lIns="0" rIns="0" tIns="0" bIns="0">
            <a:spAutoFit/>
          </a:bodyPr>
          <a:lstStyle/>
          <a:p>
            <a:pPr>
              <a:lnSpc>
                <a:spcPct val="108000"/>
              </a:lnSpc>
              <a:spcAft>
                <a:spcPts val="100"/>
              </a:spcAft>
            </a:pPr>
            <a:r>
              <a:rPr sz="650">
                <a:solidFill>
                  <a:srgbClr val="C8102E"/>
                </a:solidFill>
                <a:latin typeface="Calibri"/>
              </a:rPr>
              <a:t>•  </a:t>
            </a:r>
            <a:r>
              <a:rPr sz="1050" b="0" i="0">
                <a:solidFill>
                  <a:srgbClr val="2B1B16"/>
                </a:solidFill>
                <a:latin typeface="Calibri"/>
              </a:rPr>
              <a:t>Ogilvy. «Con mucho acento». ogilvy.com/es/work/con-mucho-acento</a:t>
            </a:r>
          </a:p>
          <a:p>
            <a:pPr>
              <a:lnSpc>
                <a:spcPct val="108000"/>
              </a:lnSpc>
              <a:spcAft>
                <a:spcPts val="100"/>
              </a:spcAft>
            </a:pPr>
            <a:r>
              <a:rPr sz="650">
                <a:solidFill>
                  <a:srgbClr val="C8102E"/>
                </a:solidFill>
                <a:latin typeface="Calibri"/>
              </a:rPr>
              <a:t>•  </a:t>
            </a:r>
            <a:r>
              <a:rPr sz="1050" b="0" i="0">
                <a:solidFill>
                  <a:srgbClr val="2B1B16"/>
                </a:solidFill>
                <a:latin typeface="Calibri"/>
              </a:rPr>
              <a:t>Spain Audiovisual Hub (Gobierno de España). spainaudiovisualhub.digital.gob.es/en/panorama/publicidad/con-mucho-acento</a:t>
            </a:r>
          </a:p>
          <a:p>
            <a:pPr>
              <a:lnSpc>
                <a:spcPct val="108000"/>
              </a:lnSpc>
              <a:spcAft>
                <a:spcPts val="100"/>
              </a:spcAft>
            </a:pPr>
            <a:r>
              <a:rPr sz="650">
                <a:solidFill>
                  <a:srgbClr val="C8102E"/>
                </a:solidFill>
                <a:latin typeface="Calibri"/>
              </a:rPr>
              <a:t>•  </a:t>
            </a:r>
            <a:r>
              <a:rPr sz="1050" b="0" i="0">
                <a:solidFill>
                  <a:srgbClr val="2B1B16"/>
                </a:solidFill>
                <a:latin typeface="Calibri"/>
              </a:rPr>
              <a:t>Reason Why. «Cruzcampo trae de vuelta a Lola Flores…». reasonwhy.es/actualidad/cruzcampo-campana-lola-flores-reivindicar-diversidad</a:t>
            </a:r>
          </a:p>
          <a:p>
            <a:pPr>
              <a:lnSpc>
                <a:spcPct val="108000"/>
              </a:lnSpc>
              <a:spcAft>
                <a:spcPts val="100"/>
              </a:spcAft>
            </a:pPr>
            <a:r>
              <a:rPr sz="650">
                <a:solidFill>
                  <a:srgbClr val="C8102E"/>
                </a:solidFill>
                <a:latin typeface="Calibri"/>
              </a:rPr>
              <a:t>•  </a:t>
            </a:r>
            <a:r>
              <a:rPr sz="1050" b="0" i="0">
                <a:solidFill>
                  <a:srgbClr val="2B1B16"/>
                </a:solidFill>
                <a:latin typeface="Calibri"/>
              </a:rPr>
              <a:t>Reason Why. Gran Premio Film El Sol 2021. reasonwhy.es/actualidad/lola-flores-cruzcampo-gran-premio-film-el-sol-2021</a:t>
            </a:r>
          </a:p>
          <a:p>
            <a:pPr>
              <a:lnSpc>
                <a:spcPct val="108000"/>
              </a:lnSpc>
              <a:spcAft>
                <a:spcPts val="100"/>
              </a:spcAft>
            </a:pPr>
            <a:r>
              <a:rPr sz="650">
                <a:solidFill>
                  <a:srgbClr val="C8102E"/>
                </a:solidFill>
                <a:latin typeface="Calibri"/>
              </a:rPr>
              <a:t>•  </a:t>
            </a:r>
            <a:r>
              <a:rPr sz="1050" b="0" i="0">
                <a:solidFill>
                  <a:srgbClr val="2B1B16"/>
                </a:solidFill>
                <a:latin typeface="Calibri"/>
              </a:rPr>
              <a:t>Noticias de Navarra (04-11-2021). Anuncio premiado, visto 614 millones de veces. noticiasdenavarra.com</a:t>
            </a:r>
          </a:p>
          <a:p>
            <a:pPr>
              <a:lnSpc>
                <a:spcPct val="108000"/>
              </a:lnSpc>
              <a:spcAft>
                <a:spcPts val="100"/>
              </a:spcAft>
            </a:pPr>
            <a:r>
              <a:rPr sz="650">
                <a:solidFill>
                  <a:srgbClr val="C8102E"/>
                </a:solidFill>
                <a:latin typeface="Calibri"/>
              </a:rPr>
              <a:t>•  </a:t>
            </a:r>
            <a:r>
              <a:rPr sz="1050" b="0" i="0">
                <a:solidFill>
                  <a:srgbClr val="2B1B16"/>
                </a:solidFill>
                <a:latin typeface="Calibri"/>
              </a:rPr>
              <a:t>¡Hola! (22-01-2021). Lolita Flores habla tras el «regreso» de su madre. hola.com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0E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274320"/>
          </a:xfrm>
          <a:prstGeom prst="rect">
            <a:avLst/>
          </a:prstGeom>
          <a:noFill/>
        </p:spPr>
        <p:txBody>
          <a:bodyPr wrap="square" anchor="t" lIns="0" rIns="0" tIns="0" bIns="0">
            <a:spAutoFit/>
          </a:bodyPr>
          <a:lstStyle/>
          <a:p>
            <a:pPr algn="l">
              <a:lnSpc>
                <a:spcPct val="110000"/>
              </a:lnSpc>
            </a:pPr>
            <a:r>
              <a:rPr sz="1100" b="1" i="0">
                <a:solidFill>
                  <a:srgbClr val="C8102E"/>
                </a:solidFill>
                <a:latin typeface="Calibri"/>
              </a:rPr>
              <a:t>06 · FUENTES</a:t>
            </a:r>
          </a:p>
        </p:txBody>
      </p:sp>
      <p:sp>
        <p:nvSpPr>
          <p:cNvPr id="4" name="TextBox 3"/>
          <p:cNvSpPr txBox="1"/>
          <p:nvPr/>
        </p:nvSpPr>
        <p:spPr>
          <a:xfrm>
            <a:off x="548640" y="640080"/>
            <a:ext cx="11064240" cy="731520"/>
          </a:xfrm>
          <a:prstGeom prst="rect">
            <a:avLst/>
          </a:prstGeom>
          <a:noFill/>
        </p:spPr>
        <p:txBody>
          <a:bodyPr wrap="square" anchor="t" lIns="0" rIns="0" tIns="0" bIns="0">
            <a:spAutoFit/>
          </a:bodyPr>
          <a:lstStyle/>
          <a:p>
            <a:pPr algn="l">
              <a:lnSpc>
                <a:spcPct val="110000"/>
              </a:lnSpc>
            </a:pPr>
            <a:r>
              <a:rPr sz="3000" b="1" i="0">
                <a:solidFill>
                  <a:srgbClr val="2B1B16"/>
                </a:solidFill>
                <a:latin typeface="Cambria"/>
              </a:rPr>
              <a:t>Fuentes · Bibliografía y webgrafía (2/2)</a:t>
            </a:r>
          </a:p>
        </p:txBody>
      </p:sp>
      <p:sp>
        <p:nvSpPr>
          <p:cNvPr id="5" name="Rectangle 4"/>
          <p:cNvSpPr/>
          <p:nvPr/>
        </p:nvSpPr>
        <p:spPr>
          <a:xfrm>
            <a:off x="548640" y="6400800"/>
            <a:ext cx="11091672" cy="9525"/>
          </a:xfrm>
          <a:prstGeom prst="rect">
            <a:avLst/>
          </a:prstGeom>
          <a:solidFill>
            <a:srgbClr val="B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274320"/>
          </a:xfrm>
          <a:prstGeom prst="rect">
            <a:avLst/>
          </a:prstGeom>
          <a:noFill/>
        </p:spPr>
        <p:txBody>
          <a:bodyPr wrap="square" anchor="t" lIns="0" rIns="0" tIns="0" bIns="0">
            <a:spAutoFit/>
          </a:bodyPr>
          <a:lstStyle/>
          <a:p>
            <a:pPr algn="l">
              <a:lnSpc>
                <a:spcPct val="110000"/>
              </a:lnSpc>
            </a:pPr>
            <a:r>
              <a:rPr sz="900" b="0" i="0">
                <a:solidFill>
                  <a:srgbClr val="6E5A4E"/>
                </a:solidFill>
                <a:latin typeface="Calibri"/>
              </a:rPr>
              <a:t>CRUZCAMPO · DOSSIER DE MARCA · DÍA DE LA EMPRESA ANDALUZA</a:t>
            </a:r>
          </a:p>
        </p:txBody>
      </p:sp>
      <p:sp>
        <p:nvSpPr>
          <p:cNvPr id="7" name="TextBox 6"/>
          <p:cNvSpPr txBox="1"/>
          <p:nvPr/>
        </p:nvSpPr>
        <p:spPr>
          <a:xfrm>
            <a:off x="10725912" y="6473952"/>
            <a:ext cx="914400" cy="274320"/>
          </a:xfrm>
          <a:prstGeom prst="rect">
            <a:avLst/>
          </a:prstGeom>
          <a:noFill/>
        </p:spPr>
        <p:txBody>
          <a:bodyPr wrap="square" anchor="t" lIns="0" rIns="0" tIns="0" bIns="0">
            <a:spAutoFit/>
          </a:bodyPr>
          <a:lstStyle/>
          <a:p>
            <a:pPr algn="r">
              <a:lnSpc>
                <a:spcPct val="110000"/>
              </a:lnSpc>
            </a:pPr>
            <a:r>
              <a:rPr sz="900" b="1" i="0">
                <a:solidFill>
                  <a:srgbClr val="C8102E"/>
                </a:solidFill>
                <a:latin typeface="Calibri"/>
              </a:rPr>
              <a:t>19</a:t>
            </a:r>
          </a:p>
        </p:txBody>
      </p:sp>
      <p:sp>
        <p:nvSpPr>
          <p:cNvPr id="8" name="TextBox 7"/>
          <p:cNvSpPr txBox="1"/>
          <p:nvPr/>
        </p:nvSpPr>
        <p:spPr>
          <a:xfrm>
            <a:off x="548640" y="1508760"/>
            <a:ext cx="10972800" cy="274320"/>
          </a:xfrm>
          <a:prstGeom prst="rect">
            <a:avLst/>
          </a:prstGeom>
          <a:noFill/>
        </p:spPr>
        <p:txBody>
          <a:bodyPr wrap="square" anchor="t" lIns="0" rIns="0" tIns="0" bIns="0">
            <a:spAutoFit/>
          </a:bodyPr>
          <a:lstStyle/>
          <a:p>
            <a:pPr algn="l">
              <a:lnSpc>
                <a:spcPct val="110000"/>
              </a:lnSpc>
            </a:pPr>
            <a:r>
              <a:rPr sz="1300" b="1" i="0">
                <a:solidFill>
                  <a:srgbClr val="C8102E"/>
                </a:solidFill>
                <a:latin typeface="Cambria"/>
              </a:rPr>
              <a:t>Anuncio 2 · Lonas «Tú tan de Berlín» (exterior, 2026)</a:t>
            </a:r>
          </a:p>
        </p:txBody>
      </p:sp>
      <p:sp>
        <p:nvSpPr>
          <p:cNvPr id="9" name="TextBox 8"/>
          <p:cNvSpPr txBox="1"/>
          <p:nvPr/>
        </p:nvSpPr>
        <p:spPr>
          <a:xfrm>
            <a:off x="548640" y="1819656"/>
            <a:ext cx="11091672" cy="1152144"/>
          </a:xfrm>
          <a:prstGeom prst="rect">
            <a:avLst/>
          </a:prstGeom>
          <a:noFill/>
        </p:spPr>
        <p:txBody>
          <a:bodyPr wrap="square" lIns="0" rIns="0" tIns="0" bIns="0">
            <a:spAutoFit/>
          </a:bodyPr>
          <a:lstStyle/>
          <a:p>
            <a:pPr>
              <a:lnSpc>
                <a:spcPct val="108000"/>
              </a:lnSpc>
              <a:spcAft>
                <a:spcPts val="100"/>
              </a:spcAft>
            </a:pPr>
            <a:r>
              <a:rPr sz="650">
                <a:solidFill>
                  <a:srgbClr val="C8102E"/>
                </a:solidFill>
                <a:latin typeface="Calibri"/>
              </a:rPr>
              <a:t>•  </a:t>
            </a:r>
            <a:r>
              <a:rPr sz="1050" b="0" i="0">
                <a:solidFill>
                  <a:srgbClr val="2B1B16"/>
                </a:solidFill>
                <a:latin typeface="Calibri"/>
              </a:rPr>
              <a:t>Reason Why. «Estrella Galicia lleva su arte de la distracción a Sevilla…». reasonwhy.es/actualidad/estrella-galicia-lona-berlin-cruzcampo</a:t>
            </a:r>
          </a:p>
          <a:p>
            <a:pPr>
              <a:lnSpc>
                <a:spcPct val="108000"/>
              </a:lnSpc>
              <a:spcAft>
                <a:spcPts val="100"/>
              </a:spcAft>
            </a:pPr>
            <a:r>
              <a:rPr sz="650">
                <a:solidFill>
                  <a:srgbClr val="C8102E"/>
                </a:solidFill>
                <a:latin typeface="Calibri"/>
              </a:rPr>
              <a:t>•  </a:t>
            </a:r>
            <a:r>
              <a:rPr sz="1050" b="0" i="0">
                <a:solidFill>
                  <a:srgbClr val="2B1B16"/>
                </a:solidFill>
                <a:latin typeface="Calibri"/>
              </a:rPr>
              <a:t>elEconomista (05-2026). «Berlín y Sevilla: … una batalla de ingenio entre cerveceras». eleconomista.es/actualidad/noticias/13909388</a:t>
            </a:r>
          </a:p>
          <a:p>
            <a:pPr>
              <a:lnSpc>
                <a:spcPct val="108000"/>
              </a:lnSpc>
              <a:spcAft>
                <a:spcPts val="100"/>
              </a:spcAft>
            </a:pPr>
            <a:r>
              <a:rPr sz="650">
                <a:solidFill>
                  <a:srgbClr val="C8102E"/>
                </a:solidFill>
                <a:latin typeface="Calibri"/>
              </a:rPr>
              <a:t>•  </a:t>
            </a:r>
            <a:r>
              <a:rPr sz="1050" b="0" i="0">
                <a:solidFill>
                  <a:srgbClr val="2B1B16"/>
                </a:solidFill>
                <a:latin typeface="Calibri"/>
              </a:rPr>
              <a:t>Retail Actual (04-05-2026). retailactual.com/noticias/20260504/…</a:t>
            </a:r>
          </a:p>
          <a:p>
            <a:pPr>
              <a:lnSpc>
                <a:spcPct val="108000"/>
              </a:lnSpc>
              <a:spcAft>
                <a:spcPts val="100"/>
              </a:spcAft>
            </a:pPr>
            <a:r>
              <a:rPr sz="650">
                <a:solidFill>
                  <a:srgbClr val="C8102E"/>
                </a:solidFill>
                <a:latin typeface="Calibri"/>
              </a:rPr>
              <a:t>•  </a:t>
            </a:r>
            <a:r>
              <a:rPr sz="1050" b="0" i="0">
                <a:solidFill>
                  <a:srgbClr val="2B1B16"/>
                </a:solidFill>
                <a:latin typeface="Calibri"/>
              </a:rPr>
              <a:t>La Voz del Sur. «El pique viral de Estrella Galicia y Cruzcampo en Sevilla». lavozdelsur.es</a:t>
            </a:r>
          </a:p>
          <a:p>
            <a:pPr>
              <a:lnSpc>
                <a:spcPct val="108000"/>
              </a:lnSpc>
              <a:spcAft>
                <a:spcPts val="100"/>
              </a:spcAft>
            </a:pPr>
            <a:r>
              <a:rPr sz="650">
                <a:solidFill>
                  <a:srgbClr val="C8102E"/>
                </a:solidFill>
                <a:latin typeface="Calibri"/>
              </a:rPr>
              <a:t>•  </a:t>
            </a:r>
            <a:r>
              <a:rPr sz="1050" b="0" i="0">
                <a:solidFill>
                  <a:srgbClr val="2B1B16"/>
                </a:solidFill>
                <a:latin typeface="Calibri"/>
              </a:rPr>
              <a:t>Esdiario (06-05-2026) y El Pespunte (06-05-2026). Cobertura de la acción.</a:t>
            </a:r>
          </a:p>
          <a:p>
            <a:pPr>
              <a:lnSpc>
                <a:spcPct val="108000"/>
              </a:lnSpc>
              <a:spcAft>
                <a:spcPts val="100"/>
              </a:spcAft>
            </a:pPr>
            <a:r>
              <a:rPr sz="650">
                <a:solidFill>
                  <a:srgbClr val="C8102E"/>
                </a:solidFill>
                <a:latin typeface="Calibri"/>
              </a:rPr>
              <a:t>•  </a:t>
            </a:r>
            <a:r>
              <a:rPr sz="1050" b="0" i="0">
                <a:solidFill>
                  <a:srgbClr val="2B1B16"/>
                </a:solidFill>
                <a:latin typeface="Calibri"/>
              </a:rPr>
              <a:t>Vídeo: youtube.com/shorts/7k8J6qodOzA</a:t>
            </a:r>
          </a:p>
        </p:txBody>
      </p:sp>
      <p:sp>
        <p:nvSpPr>
          <p:cNvPr id="10" name="TextBox 9"/>
          <p:cNvSpPr txBox="1"/>
          <p:nvPr/>
        </p:nvSpPr>
        <p:spPr>
          <a:xfrm>
            <a:off x="548640" y="3182112"/>
            <a:ext cx="10972800" cy="274320"/>
          </a:xfrm>
          <a:prstGeom prst="rect">
            <a:avLst/>
          </a:prstGeom>
          <a:noFill/>
        </p:spPr>
        <p:txBody>
          <a:bodyPr wrap="square" anchor="t" lIns="0" rIns="0" tIns="0" bIns="0">
            <a:spAutoFit/>
          </a:bodyPr>
          <a:lstStyle/>
          <a:p>
            <a:pPr algn="l">
              <a:lnSpc>
                <a:spcPct val="110000"/>
              </a:lnSpc>
            </a:pPr>
            <a:r>
              <a:rPr sz="1300" b="1" i="0">
                <a:solidFill>
                  <a:srgbClr val="C8102E"/>
                </a:solidFill>
                <a:latin typeface="Cambria"/>
              </a:rPr>
              <a:t>Otras evidencias (Fase 2)</a:t>
            </a:r>
          </a:p>
        </p:txBody>
      </p:sp>
      <p:sp>
        <p:nvSpPr>
          <p:cNvPr id="11" name="TextBox 10"/>
          <p:cNvSpPr txBox="1"/>
          <p:nvPr/>
        </p:nvSpPr>
        <p:spPr>
          <a:xfrm>
            <a:off x="548640" y="3493008"/>
            <a:ext cx="11091672" cy="1344168"/>
          </a:xfrm>
          <a:prstGeom prst="rect">
            <a:avLst/>
          </a:prstGeom>
          <a:noFill/>
        </p:spPr>
        <p:txBody>
          <a:bodyPr wrap="square" lIns="0" rIns="0" tIns="0" bIns="0">
            <a:spAutoFit/>
          </a:bodyPr>
          <a:lstStyle/>
          <a:p>
            <a:pPr>
              <a:lnSpc>
                <a:spcPct val="108000"/>
              </a:lnSpc>
              <a:spcAft>
                <a:spcPts val="100"/>
              </a:spcAft>
            </a:pPr>
            <a:r>
              <a:rPr sz="650">
                <a:solidFill>
                  <a:srgbClr val="C8102E"/>
                </a:solidFill>
                <a:latin typeface="Calibri"/>
              </a:rPr>
              <a:t>•  </a:t>
            </a:r>
            <a:r>
              <a:rPr sz="1050" b="0" i="0">
                <a:solidFill>
                  <a:srgbClr val="2B1B16"/>
                </a:solidFill>
                <a:latin typeface="Calibri"/>
              </a:rPr>
              <a:t>Ogilvy. «Cruzcampo lanza Gitana…» (2024). ogilvy.com/es/ideas/cruzcampo-lanza-gitana-una-fabula-conmuchoacento</a:t>
            </a:r>
          </a:p>
          <a:p>
            <a:pPr>
              <a:lnSpc>
                <a:spcPct val="108000"/>
              </a:lnSpc>
              <a:spcAft>
                <a:spcPts val="100"/>
              </a:spcAft>
            </a:pPr>
            <a:r>
              <a:rPr sz="650">
                <a:solidFill>
                  <a:srgbClr val="C8102E"/>
                </a:solidFill>
                <a:latin typeface="Calibri"/>
              </a:rPr>
              <a:t>•  </a:t>
            </a:r>
            <a:r>
              <a:rPr sz="1050" b="0" i="0">
                <a:solidFill>
                  <a:srgbClr val="2B1B16"/>
                </a:solidFill>
                <a:latin typeface="Calibri"/>
              </a:rPr>
              <a:t>Epica / AdForum. Ficha de «Gitana». epica.adforum.com/agency/10323/creative-work/34690831</a:t>
            </a:r>
          </a:p>
          <a:p>
            <a:pPr>
              <a:lnSpc>
                <a:spcPct val="108000"/>
              </a:lnSpc>
              <a:spcAft>
                <a:spcPts val="100"/>
              </a:spcAft>
            </a:pPr>
            <a:r>
              <a:rPr sz="650">
                <a:solidFill>
                  <a:srgbClr val="C8102E"/>
                </a:solidFill>
                <a:latin typeface="Calibri"/>
              </a:rPr>
              <a:t>•  </a:t>
            </a:r>
            <a:r>
              <a:rPr sz="1050" b="0" i="0">
                <a:solidFill>
                  <a:srgbClr val="2B1B16"/>
                </a:solidFill>
                <a:latin typeface="Calibri"/>
              </a:rPr>
              <a:t>Reason Why (25-04-2018). «Libera lo que sientes». reasonwhy.es/actualidad/campanas/…-2018-04-25</a:t>
            </a:r>
          </a:p>
          <a:p>
            <a:pPr>
              <a:lnSpc>
                <a:spcPct val="108000"/>
              </a:lnSpc>
              <a:spcAft>
                <a:spcPts val="100"/>
              </a:spcAft>
            </a:pPr>
            <a:r>
              <a:rPr sz="650">
                <a:solidFill>
                  <a:srgbClr val="C8102E"/>
                </a:solidFill>
                <a:latin typeface="Calibri"/>
              </a:rPr>
              <a:t>•  </a:t>
            </a:r>
            <a:r>
              <a:rPr sz="1050" b="0" i="0">
                <a:solidFill>
                  <a:srgbClr val="2B1B16"/>
                </a:solidFill>
                <a:latin typeface="Calibri"/>
              </a:rPr>
              <a:t>Reason Why. Campaña de verano de los lateros. reasonwhy.es/actualidad/cruzcampo-homenaje-lateros-andaluces-campana-verano</a:t>
            </a:r>
          </a:p>
          <a:p>
            <a:pPr>
              <a:lnSpc>
                <a:spcPct val="108000"/>
              </a:lnSpc>
              <a:spcAft>
                <a:spcPts val="100"/>
              </a:spcAft>
            </a:pPr>
            <a:r>
              <a:rPr sz="650">
                <a:solidFill>
                  <a:srgbClr val="C8102E"/>
                </a:solidFill>
                <a:latin typeface="Calibri"/>
              </a:rPr>
              <a:t>•  </a:t>
            </a:r>
            <a:r>
              <a:rPr sz="1050" b="0" i="0">
                <a:solidFill>
                  <a:srgbClr val="2B1B16"/>
                </a:solidFill>
                <a:latin typeface="Calibri"/>
              </a:rPr>
              <a:t>Reason Why. Ediciones limitadas «Con mucho acento». reasonwhy.es/actualidad/campana-cruzcampo-reivindica-cervezas-con-mucho-acento</a:t>
            </a:r>
          </a:p>
          <a:p>
            <a:pPr>
              <a:lnSpc>
                <a:spcPct val="108000"/>
              </a:lnSpc>
              <a:spcAft>
                <a:spcPts val="100"/>
              </a:spcAft>
            </a:pPr>
            <a:r>
              <a:rPr sz="650">
                <a:solidFill>
                  <a:srgbClr val="C8102E"/>
                </a:solidFill>
                <a:latin typeface="Calibri"/>
              </a:rPr>
              <a:t>•  </a:t>
            </a:r>
            <a:r>
              <a:rPr sz="1050" b="0" i="0">
                <a:solidFill>
                  <a:srgbClr val="2B1B16"/>
                </a:solidFill>
                <a:latin typeface="Calibri"/>
              </a:rPr>
              <a:t>Diario Bahía de Cádiz. Muestra «Con C de Carnaval». diariobahiadecadiz.com</a:t>
            </a:r>
          </a:p>
          <a:p>
            <a:pPr>
              <a:lnSpc>
                <a:spcPct val="108000"/>
              </a:lnSpc>
              <a:spcAft>
                <a:spcPts val="100"/>
              </a:spcAft>
            </a:pPr>
            <a:r>
              <a:rPr sz="650">
                <a:solidFill>
                  <a:srgbClr val="C8102E"/>
                </a:solidFill>
                <a:latin typeface="Calibri"/>
              </a:rPr>
              <a:t>•  </a:t>
            </a:r>
            <a:r>
              <a:rPr sz="1050" b="0" i="0">
                <a:solidFill>
                  <a:srgbClr val="2B1B16"/>
                </a:solidFill>
                <a:latin typeface="Calibri"/>
              </a:rPr>
              <a:t>Yumda. «Un kilómetro de mostradores de Cruzcampo para el Carnaval de Cádiz». yumda.com</a:t>
            </a:r>
          </a:p>
        </p:txBody>
      </p:sp>
      <p:sp>
        <p:nvSpPr>
          <p:cNvPr id="12" name="TextBox 11"/>
          <p:cNvSpPr txBox="1"/>
          <p:nvPr/>
        </p:nvSpPr>
        <p:spPr>
          <a:xfrm>
            <a:off x="548640" y="5052060"/>
            <a:ext cx="10972800" cy="274320"/>
          </a:xfrm>
          <a:prstGeom prst="rect">
            <a:avLst/>
          </a:prstGeom>
          <a:noFill/>
        </p:spPr>
        <p:txBody>
          <a:bodyPr wrap="square" anchor="t" lIns="0" rIns="0" tIns="0" bIns="0">
            <a:spAutoFit/>
          </a:bodyPr>
          <a:lstStyle/>
          <a:p>
            <a:pPr algn="l">
              <a:lnSpc>
                <a:spcPct val="110000"/>
              </a:lnSpc>
            </a:pPr>
            <a:r>
              <a:rPr sz="1300" b="1" i="0">
                <a:solidFill>
                  <a:srgbClr val="C8102E"/>
                </a:solidFill>
                <a:latin typeface="Cambria"/>
              </a:rPr>
              <a:t>Créditos visuales</a:t>
            </a:r>
          </a:p>
        </p:txBody>
      </p:sp>
      <p:sp>
        <p:nvSpPr>
          <p:cNvPr id="13" name="TextBox 12"/>
          <p:cNvSpPr txBox="1"/>
          <p:nvPr/>
        </p:nvSpPr>
        <p:spPr>
          <a:xfrm>
            <a:off x="548640" y="5362956"/>
            <a:ext cx="11091672" cy="576072"/>
          </a:xfrm>
          <a:prstGeom prst="rect">
            <a:avLst/>
          </a:prstGeom>
          <a:noFill/>
        </p:spPr>
        <p:txBody>
          <a:bodyPr wrap="square" lIns="0" rIns="0" tIns="0" bIns="0">
            <a:spAutoFit/>
          </a:bodyPr>
          <a:lstStyle/>
          <a:p>
            <a:pPr>
              <a:lnSpc>
                <a:spcPct val="108000"/>
              </a:lnSpc>
              <a:spcAft>
                <a:spcPts val="100"/>
              </a:spcAft>
            </a:pPr>
            <a:r>
              <a:rPr sz="650">
                <a:solidFill>
                  <a:srgbClr val="C8102E"/>
                </a:solidFill>
                <a:latin typeface="Calibri"/>
              </a:rPr>
              <a:t>•  </a:t>
            </a:r>
            <a:r>
              <a:rPr sz="1050" b="0" i="0">
                <a:solidFill>
                  <a:srgbClr val="2B1B16"/>
                </a:solidFill>
                <a:latin typeface="Calibri"/>
              </a:rPr>
              <a:t>Logotipo e imágenes de anuncios: © Cruzcampo / Heineken España. Uso exclusivamente educativo.</a:t>
            </a:r>
          </a:p>
          <a:p>
            <a:pPr>
              <a:lnSpc>
                <a:spcPct val="108000"/>
              </a:lnSpc>
              <a:spcAft>
                <a:spcPts val="100"/>
              </a:spcAft>
            </a:pPr>
            <a:r>
              <a:rPr sz="650">
                <a:solidFill>
                  <a:srgbClr val="C8102E"/>
                </a:solidFill>
                <a:latin typeface="Calibri"/>
              </a:rPr>
              <a:t>•  </a:t>
            </a:r>
            <a:r>
              <a:rPr sz="1050" b="0" i="0">
                <a:solidFill>
                  <a:srgbClr val="2B1B16"/>
                </a:solidFill>
                <a:latin typeface="Calibri"/>
              </a:rPr>
              <a:t>Fotografías de la acción de 2026: indicar el medio del que se toma cada imagen.</a:t>
            </a:r>
          </a:p>
          <a:p>
            <a:pPr>
              <a:lnSpc>
                <a:spcPct val="108000"/>
              </a:lnSpc>
              <a:spcAft>
                <a:spcPts val="100"/>
              </a:spcAft>
            </a:pPr>
            <a:r>
              <a:rPr sz="650">
                <a:solidFill>
                  <a:srgbClr val="C8102E"/>
                </a:solidFill>
                <a:latin typeface="Calibri"/>
              </a:rPr>
              <a:t>•  </a:t>
            </a:r>
            <a:r>
              <a:rPr sz="1050" b="0" i="0">
                <a:solidFill>
                  <a:srgbClr val="2B1B16"/>
                </a:solidFill>
                <a:latin typeface="Calibri"/>
              </a:rPr>
              <a:t>Paleta y diseño del dossier: elaboración propia inspirada en la identidad de Cruzcampo.</a:t>
            </a:r>
          </a:p>
        </p:txBody>
      </p:sp>
      <p:sp>
        <p:nvSpPr>
          <p:cNvPr id="14" name="TextBox 13"/>
          <p:cNvSpPr txBox="1"/>
          <p:nvPr/>
        </p:nvSpPr>
        <p:spPr>
          <a:xfrm>
            <a:off x="548640" y="6053328"/>
            <a:ext cx="10972800" cy="274320"/>
          </a:xfrm>
          <a:prstGeom prst="rect">
            <a:avLst/>
          </a:prstGeom>
          <a:noFill/>
        </p:spPr>
        <p:txBody>
          <a:bodyPr wrap="square" anchor="t" lIns="0" rIns="0" tIns="0" bIns="0">
            <a:spAutoFit/>
          </a:bodyPr>
          <a:lstStyle/>
          <a:p>
            <a:pPr algn="l">
              <a:lnSpc>
                <a:spcPct val="110000"/>
              </a:lnSpc>
            </a:pPr>
            <a:r>
              <a:rPr sz="1000" b="0" i="1">
                <a:solidFill>
                  <a:srgbClr val="6E5A4E"/>
                </a:solidFill>
                <a:latin typeface="Calibri"/>
              </a:rPr>
              <a:t>Todas las fuentes consultadas en octubre de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C8102E"/>
        </a:solidFill>
        <a:effectLst/>
      </p:bgPr>
    </p:bg>
    <p:spTree>
      <p:nvGrpSpPr>
        <p:cNvPr id="1" name=""/>
        <p:cNvGrpSpPr/>
        <p:nvPr/>
      </p:nvGrpSpPr>
      <p:grpSpPr/>
      <p:sp>
        <p:nvSpPr>
          <p:cNvPr id="2" name="Rectangle 1"/>
          <p:cNvSpPr/>
          <p:nvPr/>
        </p:nvSpPr>
        <p:spPr>
          <a:xfrm>
            <a:off x="4727448" y="1097280"/>
            <a:ext cx="2743200" cy="2103120"/>
          </a:xfrm>
          <a:prstGeom prst="rect">
            <a:avLst/>
          </a:prstGeom>
          <a:solidFill>
            <a:srgbClr val="7A0E1E"/>
          </a:solidFill>
          <a:ln w="15875">
            <a:solidFill>
              <a:srgbClr val="F7F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7F0E3"/>
                </a:solidFill>
                <a:latin typeface="Calibri"/>
              </a:rPr>
              <a:t>INSERTAR</a:t>
            </a:r>
          </a:p>
          <a:p>
            <a:pPr algn="ctr"/>
            <a:r>
              <a:rPr sz="1100" b="0">
                <a:solidFill>
                  <a:srgbClr val="F7F0E3"/>
                </a:solidFill>
                <a:latin typeface="Calibri"/>
              </a:rPr>
              <a:t>Logotipo de Cruzcampo</a:t>
            </a:r>
          </a:p>
        </p:txBody>
      </p:sp>
      <p:sp>
        <p:nvSpPr>
          <p:cNvPr id="3" name="TextBox 2"/>
          <p:cNvSpPr txBox="1"/>
          <p:nvPr/>
        </p:nvSpPr>
        <p:spPr>
          <a:xfrm>
            <a:off x="914400" y="3566160"/>
            <a:ext cx="10360152" cy="914400"/>
          </a:xfrm>
          <a:prstGeom prst="rect">
            <a:avLst/>
          </a:prstGeom>
          <a:noFill/>
        </p:spPr>
        <p:txBody>
          <a:bodyPr wrap="square" anchor="t" lIns="0" rIns="0" tIns="0" bIns="0">
            <a:spAutoFit/>
          </a:bodyPr>
          <a:lstStyle/>
          <a:p>
            <a:pPr algn="ctr">
              <a:lnSpc>
                <a:spcPct val="110000"/>
              </a:lnSpc>
            </a:pPr>
            <a:r>
              <a:rPr sz="6000" b="1" i="0">
                <a:solidFill>
                  <a:srgbClr val="F7F0E3"/>
                </a:solidFill>
                <a:latin typeface="Cambria"/>
              </a:rPr>
              <a:t>Gracias</a:t>
            </a:r>
          </a:p>
        </p:txBody>
      </p:sp>
      <p:sp>
        <p:nvSpPr>
          <p:cNvPr id="4" name="TextBox 3"/>
          <p:cNvSpPr txBox="1"/>
          <p:nvPr/>
        </p:nvSpPr>
        <p:spPr>
          <a:xfrm>
            <a:off x="914400" y="4572000"/>
            <a:ext cx="10360152" cy="548640"/>
          </a:xfrm>
          <a:prstGeom prst="rect">
            <a:avLst/>
          </a:prstGeom>
          <a:noFill/>
        </p:spPr>
        <p:txBody>
          <a:bodyPr wrap="square" anchor="t" lIns="0" rIns="0" tIns="0" bIns="0">
            <a:spAutoFit/>
          </a:bodyPr>
          <a:lstStyle/>
          <a:p>
            <a:pPr algn="ctr">
              <a:lnSpc>
                <a:spcPct val="110000"/>
              </a:lnSpc>
            </a:pPr>
            <a:r>
              <a:rPr sz="2200" b="0" i="1">
                <a:solidFill>
                  <a:srgbClr val="ECDFC6"/>
                </a:solidFill>
                <a:latin typeface="Cambria"/>
              </a:rPr>
              <a:t>«El acento es tu tesoro»</a:t>
            </a:r>
          </a:p>
        </p:txBody>
      </p:sp>
      <p:sp>
        <p:nvSpPr>
          <p:cNvPr id="5" name="TextBox 4"/>
          <p:cNvSpPr txBox="1"/>
          <p:nvPr/>
        </p:nvSpPr>
        <p:spPr>
          <a:xfrm>
            <a:off x="914400" y="5760720"/>
            <a:ext cx="10360152" cy="365760"/>
          </a:xfrm>
          <a:prstGeom prst="rect">
            <a:avLst/>
          </a:prstGeom>
          <a:noFill/>
        </p:spPr>
        <p:txBody>
          <a:bodyPr wrap="square" anchor="t" lIns="0" rIns="0" tIns="0" bIns="0">
            <a:spAutoFit/>
          </a:bodyPr>
          <a:lstStyle/>
          <a:p>
            <a:pPr algn="ctr">
              <a:lnSpc>
                <a:spcPct val="110000"/>
              </a:lnSpc>
            </a:pPr>
            <a:r>
              <a:rPr sz="1300" b="0" i="0">
                <a:solidFill>
                  <a:srgbClr val="ECDFC6"/>
                </a:solidFill>
                <a:latin typeface="Calibri"/>
              </a:rPr>
              <a:t>[Nombre Apellido] y [Nombre Apellido] · [Curso / grupo]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